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1C2C4B"/>
          </a:solidFill>
          <a:ln>
            <a:solidFill>
              <a:srgbClr val="1C2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464040" y="1051560"/>
            <a:ext cx="1737360" cy="1737360"/>
          </a:xfrm>
          <a:prstGeom prst="roundRect">
            <a:avLst>
              <a:gd name="adj" fmla="val 12000"/>
            </a:avLst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195560" y="2880360"/>
            <a:ext cx="1097280" cy="1097280"/>
          </a:xfrm>
          <a:prstGeom prst="roundRect">
            <a:avLst>
              <a:gd name="adj" fmla="val 12000"/>
            </a:avLst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4251960"/>
            <a:ext cx="1828800" cy="109728"/>
          </a:xfrm>
          <a:prstGeom prst="rect">
            <a:avLst/>
          </a:prstGeom>
          <a:solidFill>
            <a:srgbClr val="C0CAFF"/>
          </a:solidFill>
          <a:ln>
            <a:solidFill>
              <a:srgbClr val="C0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0CAFF"/>
                </a:solidFill>
                <a:latin typeface="Aptos"/>
              </a:rPr>
              <a:t>CODE FLAYER 2.0  •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749807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[PROJECT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697480"/>
            <a:ext cx="7132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0D7E7"/>
                </a:solidFill>
                <a:latin typeface="Aptos"/>
              </a:rPr>
              <a:t>[A short, memorable project tagline]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520440"/>
            <a:ext cx="1051560" cy="64008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6949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TEAM  [TEAM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89120"/>
            <a:ext cx="7132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0D7E7"/>
                </a:solidFill>
                <a:latin typeface="Aptos"/>
              </a:rPr>
              <a:t>Team leader: [Name]
Team members: [Name 1]  •  [Name 2]  •  [Name 3]  •  [Name 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080760"/>
            <a:ext cx="685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0AECC"/>
                </a:solidFill>
                <a:latin typeface="Aptos"/>
              </a:rPr>
              <a:t>[Domain / Track]     |     Vishnu Institute of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14476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D0D7E7"/>
                </a:solidFill>
                <a:latin typeface="Aptos"/>
              </a:rPr>
              <a:t>01  / 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369DC"/>
                </a:solidFill>
                <a:latin typeface="Aptos"/>
              </a:rPr>
              <a:t>PROJECT PITCH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239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67F90"/>
                </a:solidFill>
                <a:latin typeface="Aptos"/>
              </a:rPr>
              <a:t>Define the real-world problem, who faces it, and why existing approaches fall short.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35640" y="384048"/>
            <a:ext cx="320040" cy="73152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28832" y="384048"/>
            <a:ext cx="320040" cy="73152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22024" y="384048"/>
            <a:ext cx="0" cy="73152"/>
          </a:xfrm>
          <a:prstGeom prst="rect">
            <a:avLst/>
          </a:prstGeom>
          <a:solidFill>
            <a:srgbClr val="162239"/>
          </a:solidFill>
          <a:ln>
            <a:solidFill>
              <a:srgbClr val="16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49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64008" cy="1508760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57400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01 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96312"/>
            <a:ext cx="4937759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94252"/>
                </a:solidFill>
                <a:latin typeface="Aptos"/>
              </a:rPr>
              <a:t>[Describe the core problem in 2–3 concise sentences.]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64008" cy="1508760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0574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02  TARGET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496312"/>
            <a:ext cx="48920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94252"/>
                </a:solidFill>
                <a:latin typeface="Aptos"/>
              </a:rPr>
              <a:t>[Who experiences this problem? Be specific.]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5349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11880"/>
            <a:ext cx="64008" cy="1508760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794760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03  CURRENT CHALLENGES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233672"/>
            <a:ext cx="4937759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94252"/>
                </a:solidFill>
                <a:latin typeface="Aptos"/>
              </a:rPr>
              <a:t>[List 2–3 limitations of current solutions or methods.]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11880"/>
            <a:ext cx="53035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611880"/>
            <a:ext cx="64008" cy="1508760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379476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04  THE GAP /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4233672"/>
            <a:ext cx="48920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94252"/>
                </a:solidFill>
                <a:latin typeface="Aptos"/>
              </a:rPr>
              <a:t>[What is missing, and what happens if the problem continues?]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778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ONE-LINE PROBLEM:  [Write the problem as one clear, judge-friendly sentence.]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67F90"/>
                </a:solidFill>
                <a:latin typeface="Aptos"/>
              </a:rPr>
              <a:t>CODE FLAYER 2.0  •  EDITABLE 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67F90"/>
                </a:solidFill>
                <a:latin typeface="Aptos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369DC"/>
                </a:solidFill>
                <a:latin typeface="Aptos"/>
              </a:rPr>
              <a:t>PROJECT PITCH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239"/>
                </a:solidFill>
                <a:latin typeface="Aptos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67F90"/>
                </a:solidFill>
                <a:latin typeface="Aptos"/>
              </a:rPr>
              <a:t>Explain what you are building and how it directly addresses the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35640" y="384048"/>
            <a:ext cx="320040" cy="73152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28832" y="384048"/>
            <a:ext cx="320040" cy="73152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22024" y="384048"/>
            <a:ext cx="0" cy="73152"/>
          </a:xfrm>
          <a:prstGeom prst="rect">
            <a:avLst/>
          </a:prstGeom>
          <a:solidFill>
            <a:srgbClr val="162239"/>
          </a:solidFill>
          <a:ln>
            <a:solidFill>
              <a:srgbClr val="16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662940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64008" cy="1874519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5740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SOLUTION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96312"/>
            <a:ext cx="621792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94252"/>
                </a:solidFill>
                <a:latin typeface="Aptos"/>
              </a:rPr>
              <a:t>[Describe your solution, how it works, and the main outcome for users.]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874519"/>
            <a:ext cx="402336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874519"/>
            <a:ext cx="64008" cy="1874519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17536" y="20574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UNIQUE VALUE / USP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2496312"/>
            <a:ext cx="361188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94252"/>
                </a:solidFill>
                <a:latin typeface="Aptos"/>
              </a:rPr>
              <a:t>[What makes your approach different or better?]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39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77639"/>
            <a:ext cx="64008" cy="1417320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160520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FEATURE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599431"/>
            <a:ext cx="3063239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4252"/>
                </a:solidFill>
                <a:latin typeface="Aptos"/>
              </a:rPr>
              <a:t>[Core feature + user benefit]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977639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977639"/>
            <a:ext cx="64008" cy="1417320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2856" y="4160520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FEATURE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6" y="4599431"/>
            <a:ext cx="3063239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4252"/>
                </a:solidFill>
                <a:latin typeface="Aptos"/>
              </a:rPr>
              <a:t>[Core feature + user benefit]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77639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977639"/>
            <a:ext cx="64008" cy="1417320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6" y="4160520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FEATURE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4599431"/>
            <a:ext cx="3063239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4252"/>
                </a:solidFill>
                <a:latin typeface="Aptos"/>
              </a:rPr>
              <a:t>[Core feature + user benefit]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875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239"/>
                </a:solidFill>
                <a:latin typeface="Aptos"/>
              </a:rPr>
              <a:t>EXPECTED BENEFIT:  [State the most important improvement your solution enables.]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67F90"/>
                </a:solidFill>
                <a:latin typeface="Aptos"/>
              </a:rPr>
              <a:t>CODE FLAYER 2.0  •  EDITABLE TEMPLATE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67F90"/>
                </a:solidFill>
                <a:latin typeface="Aptos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369DC"/>
                </a:solidFill>
                <a:latin typeface="Aptos"/>
              </a:rPr>
              <a:t>PROJECT PITCH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239"/>
                </a:solidFill>
                <a:latin typeface="Aptos"/>
              </a:rPr>
              <a:t>Technical Approach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67F90"/>
                </a:solidFill>
                <a:latin typeface="Aptos"/>
              </a:rPr>
              <a:t>Show the workflow and the key components that turn input into a useful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35640" y="384048"/>
            <a:ext cx="320040" cy="73152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28832" y="384048"/>
            <a:ext cx="320040" cy="73152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22024" y="384048"/>
            <a:ext cx="0" cy="73152"/>
          </a:xfrm>
          <a:prstGeom prst="rect">
            <a:avLst/>
          </a:prstGeom>
          <a:solidFill>
            <a:srgbClr val="162239"/>
          </a:solidFill>
          <a:ln>
            <a:solidFill>
              <a:srgbClr val="16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16459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267712"/>
            <a:ext cx="14264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369DC"/>
                </a:solidFill>
                <a:latin typeface="Aptos"/>
              </a:rPr>
              <a:t>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633472"/>
            <a:ext cx="142646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94252"/>
                </a:solidFill>
                <a:latin typeface="Aptos"/>
              </a:rPr>
              <a:t>[Input]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35915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67F9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057400"/>
            <a:ext cx="16459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2267712"/>
            <a:ext cx="14264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A6A0"/>
                </a:solidFill>
                <a:latin typeface="Aptos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2633472"/>
            <a:ext cx="142646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94252"/>
                </a:solidFill>
                <a:latin typeface="Aptos"/>
              </a:rPr>
              <a:t>[UI / app]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35915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67F9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2057400"/>
            <a:ext cx="16459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8" y="2267712"/>
            <a:ext cx="14264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369DC"/>
                </a:solidFill>
                <a:latin typeface="Aptos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2633472"/>
            <a:ext cx="142646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94252"/>
                </a:solidFill>
                <a:latin typeface="Aptos"/>
              </a:rPr>
              <a:t>[API / logic]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235915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67F9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2057400"/>
            <a:ext cx="16459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3527" y="2267712"/>
            <a:ext cx="14264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A6A0"/>
                </a:solidFill>
                <a:latin typeface="Aptos"/>
              </a:rPr>
              <a:t>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7" y="2633472"/>
            <a:ext cx="142646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94252"/>
                </a:solidFill>
                <a:latin typeface="Aptos"/>
              </a:rPr>
              <a:t>[Model / rules]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35915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67F90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2057400"/>
            <a:ext cx="16459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9528" y="2267712"/>
            <a:ext cx="14264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369DC"/>
                </a:solidFill>
                <a:latin typeface="Aptos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2633472"/>
            <a:ext cx="142646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94252"/>
                </a:solidFill>
                <a:latin typeface="Aptos"/>
              </a:rPr>
              <a:t>[Result]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703320"/>
            <a:ext cx="5349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703320"/>
            <a:ext cx="64008" cy="1463040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" y="3886200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SYSTEM COMPONENTS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325112"/>
            <a:ext cx="4937759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94252"/>
                </a:solidFill>
                <a:latin typeface="Aptos"/>
              </a:rPr>
              <a:t>[Explain the role of each major module, service, model, or database.]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03320"/>
            <a:ext cx="53035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64008" cy="1463040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38862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DATA FLOW &amp;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4325112"/>
            <a:ext cx="48920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94252"/>
                </a:solidFill>
                <a:latin typeface="Aptos"/>
              </a:rPr>
              <a:t>[Describe data handling, checks, security, and how outputs are verified.]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53212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239"/>
                </a:solidFill>
                <a:latin typeface="Aptos"/>
              </a:rPr>
              <a:t>ARCHITECTURE NOTE:  [Mention any important design choice or technical advantage.]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67F90"/>
                </a:solidFill>
                <a:latin typeface="Aptos"/>
              </a:rPr>
              <a:t>CODE FLAYER 2.0  •  EDITABLE TEMPLATE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67F90"/>
                </a:solidFill>
                <a:latin typeface="Aptos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369DC"/>
                </a:solidFill>
                <a:latin typeface="Aptos"/>
              </a:rPr>
              <a:t>PROJECT PITCH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239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67F90"/>
                </a:solidFill>
                <a:latin typeface="Aptos"/>
              </a:rPr>
              <a:t>List the technologies you actually use and the purpose each one serves.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35640" y="384048"/>
            <a:ext cx="320040" cy="73152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28832" y="384048"/>
            <a:ext cx="320040" cy="73152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22024" y="384048"/>
            <a:ext cx="0" cy="73152"/>
          </a:xfrm>
          <a:prstGeom prst="rect">
            <a:avLst/>
          </a:prstGeom>
          <a:solidFill>
            <a:srgbClr val="162239"/>
          </a:solidFill>
          <a:ln>
            <a:solidFill>
              <a:srgbClr val="16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64008" cy="1371600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57400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96312"/>
            <a:ext cx="306323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4252"/>
                </a:solidFill>
                <a:latin typeface="Aptos"/>
              </a:rPr>
              <a:t>[Framework / UI tools]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74519"/>
            <a:ext cx="64008" cy="1371600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2057400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496312"/>
            <a:ext cx="306323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4252"/>
                </a:solidFill>
                <a:latin typeface="Aptos"/>
              </a:rPr>
              <a:t>[Language / framework / APIs]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74519"/>
            <a:ext cx="64008" cy="1371600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057400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496312"/>
            <a:ext cx="306323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4252"/>
                </a:solidFill>
                <a:latin typeface="Aptos"/>
              </a:rPr>
              <a:t>[Database / storage]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566160"/>
            <a:ext cx="64008" cy="1371600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749039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AI / CORE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187952"/>
            <a:ext cx="306323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4252"/>
                </a:solidFill>
                <a:latin typeface="Aptos"/>
              </a:rPr>
              <a:t>[Models / algorithms / libraries]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566160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566160"/>
            <a:ext cx="64008" cy="1371600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2856" y="3749039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INTEGRATIONS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4187952"/>
            <a:ext cx="306323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4252"/>
                </a:solidFill>
                <a:latin typeface="Aptos"/>
              </a:rPr>
              <a:t>[External APIs / services]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566160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566160"/>
            <a:ext cx="64008" cy="1371600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6" y="3749039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DEPLOYMENT &amp;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4187952"/>
            <a:ext cx="306323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4252"/>
                </a:solidFill>
                <a:latin typeface="Aptos"/>
              </a:rPr>
              <a:t>[Hosting / Git / DevOps]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321808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239"/>
                </a:solidFill>
                <a:latin typeface="Aptos"/>
              </a:rPr>
              <a:t>WHY THIS STACK?  [In one or two lines, explain why these tools fit your project requirements.]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67F90"/>
                </a:solidFill>
                <a:latin typeface="Aptos"/>
              </a:rPr>
              <a:t>CODE FLAYER 2.0  •  EDITABLE TEMPLATE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67F90"/>
                </a:solidFill>
                <a:latin typeface="Aptos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369DC"/>
                </a:solidFill>
                <a:latin typeface="Aptos"/>
              </a:rPr>
              <a:t>PROJECT PITCH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239"/>
                </a:solidFill>
                <a:latin typeface="Aptos"/>
              </a:rPr>
              <a:t>Feasibility &amp;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67F90"/>
                </a:solidFill>
                <a:latin typeface="Aptos"/>
              </a:rPr>
              <a:t>Demonstrate that the idea can be built and has a credible path to real-world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35640" y="384048"/>
            <a:ext cx="320040" cy="73152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28832" y="384048"/>
            <a:ext cx="320040" cy="73152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22024" y="384048"/>
            <a:ext cx="0" cy="73152"/>
          </a:xfrm>
          <a:prstGeom prst="rect">
            <a:avLst/>
          </a:prstGeom>
          <a:solidFill>
            <a:srgbClr val="162239"/>
          </a:solidFill>
          <a:ln>
            <a:solidFill>
              <a:srgbClr val="16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4924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30352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49240" cy="502920"/>
          </a:xfrm>
          <a:prstGeom prst="roundRect">
            <a:avLst>
              <a:gd name="adj" fmla="val 12000"/>
            </a:avLst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5303520" cy="502920"/>
          </a:xfrm>
          <a:prstGeom prst="roundRect">
            <a:avLst>
              <a:gd name="adj" fmla="val 12000"/>
            </a:avLst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75104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TECHNICAL FEASIBILITY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75104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BUSINESS / OPERATIONAL VIABILITY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33472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94252"/>
                </a:solidFill>
                <a:latin typeface="Aptos"/>
              </a:rPr>
              <a:t>• Required tools and skills: [Details]
• Data / infrastructure availability: [Details]
• Prototype timeline and constraints: [Details]
• Main technical risk + mitigation: [Details]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46634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94252"/>
                </a:solidFill>
                <a:latin typeface="Aptos"/>
              </a:rPr>
              <a:t>• Target users and value: [Details]
• Adoption / deployment plan: [Details]
• Cost and maintenance: [Details]
• Revenue / partnership model (if relevant): [Details]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532120"/>
            <a:ext cx="10424160" cy="502920"/>
          </a:xfrm>
          <a:prstGeom prst="roundRect">
            <a:avLst>
              <a:gd name="adj" fmla="val 12000"/>
            </a:avLst>
          </a:prstGeom>
          <a:solidFill>
            <a:srgbClr val="E8ECFA"/>
          </a:solidFill>
          <a:ln>
            <a:solidFill>
              <a:srgbClr val="E8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641848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2239"/>
                </a:solidFill>
                <a:latin typeface="Aptos"/>
              </a:rPr>
              <a:t>KEY TAKEAWAY:  [Why is this project practical and worth pursuing?]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67F90"/>
                </a:solidFill>
                <a:latin typeface="Aptos"/>
              </a:rPr>
              <a:t>CODE FLAYER 2.0  •  EDITABLE 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67F90"/>
                </a:solidFill>
                <a:latin typeface="Aptos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369DC"/>
                </a:solidFill>
                <a:latin typeface="Aptos"/>
              </a:rPr>
              <a:t>PROJECT PITCH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239"/>
                </a:solidFill>
                <a:latin typeface="Aptos"/>
              </a:rPr>
              <a:t>Sustainability, Scalability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67F90"/>
                </a:solidFill>
                <a:latin typeface="Aptos"/>
              </a:rPr>
              <a:t>Show how the solution can stay useful, grow responsibly, and create measurable value.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35640" y="384048"/>
            <a:ext cx="320040" cy="73152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28832" y="384048"/>
            <a:ext cx="320040" cy="73152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22024" y="384048"/>
            <a:ext cx="0" cy="73152"/>
          </a:xfrm>
          <a:prstGeom prst="rect">
            <a:avLst/>
          </a:prstGeom>
          <a:solidFill>
            <a:srgbClr val="162239"/>
          </a:solidFill>
          <a:ln>
            <a:solidFill>
              <a:srgbClr val="16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64008" cy="1828800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57400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LONG-TERM SUSTAINABILITY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96312"/>
            <a:ext cx="3063239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4252"/>
                </a:solidFill>
                <a:latin typeface="Aptos"/>
              </a:rPr>
              <a:t>[Maintenance, updates, operating costs, ownership, and continued usefulness.]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74519"/>
            <a:ext cx="64008" cy="1828800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2057400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SCALABILITY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496312"/>
            <a:ext cx="3063239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4252"/>
                </a:solidFill>
                <a:latin typeface="Aptos"/>
              </a:rPr>
              <a:t>[How the system can support more users, data, features, or locations.]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74519"/>
            <a:ext cx="64008" cy="1828800"/>
          </a:xfrm>
          <a:prstGeom prst="rect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057400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EXPECTED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496312"/>
            <a:ext cx="3063239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4252"/>
                </a:solidFill>
                <a:latin typeface="Aptos"/>
              </a:rPr>
              <a:t>[Social, environmental, economic, or technical benefit; add measurable KPIs.]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239"/>
                </a:solidFill>
                <a:latin typeface="Aptos"/>
              </a:rPr>
              <a:t>FUTURE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773168"/>
            <a:ext cx="9966960" cy="45720"/>
          </a:xfrm>
          <a:prstGeom prst="rect">
            <a:avLst/>
          </a:prstGeom>
          <a:solidFill>
            <a:srgbClr val="DEE3ED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590288"/>
            <a:ext cx="384048" cy="384048"/>
          </a:xfrm>
          <a:prstGeom prst="ellipse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0235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4252"/>
                </a:solidFill>
                <a:latin typeface="Aptos"/>
              </a:rPr>
              <a:t>01  Prototype</a:t>
            </a:r>
          </a:p>
        </p:txBody>
      </p:sp>
      <p:sp>
        <p:nvSpPr>
          <p:cNvPr id="24" name="Oval 23"/>
          <p:cNvSpPr/>
          <p:nvPr/>
        </p:nvSpPr>
        <p:spPr>
          <a:xfrm>
            <a:off x="3429000" y="4590288"/>
            <a:ext cx="384048" cy="384048"/>
          </a:xfrm>
          <a:prstGeom prst="ellipse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510235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4252"/>
                </a:solidFill>
                <a:latin typeface="Aptos"/>
              </a:rPr>
              <a:t>02  Pilot testing</a:t>
            </a:r>
          </a:p>
        </p:txBody>
      </p:sp>
      <p:sp>
        <p:nvSpPr>
          <p:cNvPr id="26" name="Oval 25"/>
          <p:cNvSpPr/>
          <p:nvPr/>
        </p:nvSpPr>
        <p:spPr>
          <a:xfrm>
            <a:off x="5897880" y="4590288"/>
            <a:ext cx="384048" cy="384048"/>
          </a:xfrm>
          <a:prstGeom prst="ellipse">
            <a:avLst/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510235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4252"/>
                </a:solidFill>
                <a:latin typeface="Aptos"/>
              </a:rPr>
              <a:t>03  Improve</a:t>
            </a:r>
          </a:p>
        </p:txBody>
      </p:sp>
      <p:sp>
        <p:nvSpPr>
          <p:cNvPr id="28" name="Oval 27"/>
          <p:cNvSpPr/>
          <p:nvPr/>
        </p:nvSpPr>
        <p:spPr>
          <a:xfrm>
            <a:off x="8366760" y="4590288"/>
            <a:ext cx="384048" cy="384048"/>
          </a:xfrm>
          <a:prstGeom prst="ellipse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510235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4252"/>
                </a:solidFill>
                <a:latin typeface="Aptos"/>
              </a:rPr>
              <a:t>04  Deploy &amp;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150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2239"/>
                </a:solidFill>
                <a:latin typeface="Aptos"/>
              </a:rPr>
              <a:t>SUCCESS METRIC:  [How will you measure whether the solution is working?]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67F90"/>
                </a:solidFill>
                <a:latin typeface="Aptos"/>
              </a:rPr>
              <a:t>CODE FLAYER 2.0  •  EDITABLE TEMPLATE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67F90"/>
                </a:solidFill>
                <a:latin typeface="Aptos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1C2C4B"/>
          </a:solidFill>
          <a:ln>
            <a:solidFill>
              <a:srgbClr val="1C2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0CAFF"/>
                </a:solidFill>
                <a:latin typeface="Aptos"/>
              </a:rPr>
              <a:t>CODE FLAYER 2.0  •  08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7315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7223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0D7E7"/>
                </a:solidFill>
                <a:latin typeface="Aptos"/>
              </a:rPr>
              <a:t>[Summarize the problem, solution, and strongest differentiator in 2–3 lines.]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29000"/>
            <a:ext cx="1097280" cy="64008"/>
          </a:xfrm>
          <a:prstGeom prst="rect">
            <a:avLst/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132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[A memorable closing statement about the impact you want to create.]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83480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C0CAFF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0"/>
            <a:ext cx="7132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0D7E7"/>
                </a:solidFill>
                <a:latin typeface="Aptos"/>
              </a:rPr>
              <a:t>[Team email / contact]  •  [Demo or GitHub link / QR code]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1371600"/>
            <a:ext cx="1600200" cy="1600200"/>
          </a:xfrm>
          <a:prstGeom prst="roundRect">
            <a:avLst>
              <a:gd name="adj" fmla="val 12000"/>
            </a:avLst>
          </a:prstGeom>
          <a:solidFill>
            <a:srgbClr val="5369DC"/>
          </a:solidFill>
          <a:ln>
            <a:solidFill>
              <a:srgbClr val="5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95560" y="3246120"/>
            <a:ext cx="1005840" cy="1005840"/>
          </a:xfrm>
          <a:prstGeom prst="roundRect">
            <a:avLst>
              <a:gd name="adj" fmla="val 12000"/>
            </a:avLst>
          </a:prstGeom>
          <a:solidFill>
            <a:srgbClr val="2DA6A0"/>
          </a:solidFill>
          <a:ln>
            <a:solidFill>
              <a:srgbClr val="2D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612648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0D7E7"/>
                </a:solidFill>
                <a:latin typeface="Aptos"/>
              </a:rPr>
              <a:t>[PROJECT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