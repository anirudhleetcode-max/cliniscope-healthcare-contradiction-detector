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CLINISCOPE is a research prototype for PS-11R3. It surfaces potentially conflicting statements across healthcare records, attaches the exact source quotes, and leaves every decision to a person. The visual mirrors the real demo case: a penicillin allergy in one record versus 'No known drug allergies' in another (synthetic data). Fill in the team fields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Healthcare facts are recorded in many places: discharge summaries, intake forms, medication lists, lab reports and scanned letters. They can disagree. The example is illustrative and synthetic. Not every difference is an error; a dose may have been changed on purpose, so context and a human reviewer matter. No statistics are claimed.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five stages left to right. Amber marks where a potential contradiction appears; blue marks sources and evidence; teal marks progression to a human decision. Every finding must carry quotes that re-verify against the source text. AI is optional and its suggestions pass the same check.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flows left to right. Everything in the top row and the persistence bar runs in the browser, and the public demo uses only this. The dashed area is real code (server/ folder) with integration and end-to-end tests, but it is not hosted publicly and the AI path has only been tested with a stand-in provider. Scanned PDFs and images go through Tesseract.js OCR; low-confidence OCR text lowers the evidence rating.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verified dependencies are shown. The browser app works on its own, which is why the public demo needs no server. The optional server bundles to a single file; its Docker image and Render blueprint have not been run.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are from a local run on the current code: 75 Vitest tests and 12 Playwright tests passed, plus type-check. CI runs the same suite on every push and re-runs end-to-end tests against the live GitHub Pages site. None of this is clinical validation. No cost, revenue or adoption figures are claimed.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Column 1 is what exists. Column 2 is future work: note that role-based access and audit trails already exist in the optional server, but it is not hosted or security-reviewed. Column 3 depends on evaluation. CLINISCOPE is not used by any hospital and makes no outcome or cost claims; it supports, never replaces, a qualified clinician.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three verbs. CLINISCOPE helps turn potential contradictions into traceable findings for human review. The live demo is the static browser version on GitHub Pages; its deployment was re-tested by CI. It runs on synthetic data and is not for clinical use.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640080" y="566928"/>
            <a:ext cx="5486400" cy="228600"/>
          </a:xfrm>
          <a:prstGeom prst="rect">
            <a:avLst/>
          </a:prstGeom>
          <a:noFill/>
        </p:spPr>
        <p:txBody>
          <a:bodyPr wrap="square" lIns="0" rIns="0" tIns="0" bIns="0" anchor="t"/>
          <a:lstStyle/>
          <a:p>
            <a:pPr algn="l">
              <a:spcAft>
                <a:spcPts val="0"/>
              </a:spcAft>
            </a:pPr>
            <a:r>
              <a:rPr sz="1100" b="1" i="0" spc="120">
                <a:solidFill>
                  <a:srgbClr val="19B6A4"/>
                </a:solidFill>
                <a:latin typeface="Arial"/>
              </a:rPr>
              <a:t>CODE FLAYER 2.0   ·   PS-11R3</a:t>
            </a:r>
          </a:p>
        </p:txBody>
      </p:sp>
      <p:sp>
        <p:nvSpPr>
          <p:cNvPr id="3" name="Wordmark"/>
          <p:cNvSpPr txBox="1"/>
          <p:nvPr/>
        </p:nvSpPr>
        <p:spPr>
          <a:xfrm>
            <a:off x="640080" y="1143000"/>
            <a:ext cx="6035040" cy="914400"/>
          </a:xfrm>
          <a:prstGeom prst="rect">
            <a:avLst/>
          </a:prstGeom>
          <a:noFill/>
        </p:spPr>
        <p:txBody>
          <a:bodyPr wrap="square" lIns="0" rIns="0" tIns="0" bIns="0" anchor="t"/>
          <a:lstStyle/>
          <a:p>
            <a:pPr algn="l">
              <a:spcAft>
                <a:spcPts val="0"/>
              </a:spcAft>
            </a:pPr>
            <a:r>
              <a:rPr sz="5800" b="1" i="0" spc="300">
                <a:solidFill>
                  <a:srgbClr val="F8FAFC"/>
                </a:solidFill>
                <a:latin typeface="Arial"/>
              </a:rPr>
              <a:t>CLINISCOPE</a:t>
            </a:r>
          </a:p>
        </p:txBody>
      </p:sp>
      <p:sp>
        <p:nvSpPr>
          <p:cNvPr id="4" name="TextBox 3"/>
          <p:cNvSpPr txBox="1"/>
          <p:nvPr/>
        </p:nvSpPr>
        <p:spPr>
          <a:xfrm>
            <a:off x="640080" y="2103120"/>
            <a:ext cx="6035040" cy="411480"/>
          </a:xfrm>
          <a:prstGeom prst="rect">
            <a:avLst/>
          </a:prstGeom>
          <a:noFill/>
        </p:spPr>
        <p:txBody>
          <a:bodyPr wrap="square" lIns="0" rIns="0" tIns="0" bIns="0" anchor="t"/>
          <a:lstStyle/>
          <a:p>
            <a:pPr algn="l">
              <a:spcAft>
                <a:spcPts val="0"/>
              </a:spcAft>
            </a:pPr>
            <a:r>
              <a:rPr sz="2200" b="0" i="0">
                <a:solidFill>
                  <a:srgbClr val="B8C4D6"/>
                </a:solidFill>
                <a:latin typeface="Arial"/>
              </a:rPr>
              <a:t>Healthcare Record Contradiction Detector</a:t>
            </a:r>
          </a:p>
        </p:txBody>
      </p:sp>
      <p:sp>
        <p:nvSpPr>
          <p:cNvPr id="5" name="TextBox 4"/>
          <p:cNvSpPr txBox="1"/>
          <p:nvPr/>
        </p:nvSpPr>
        <p:spPr>
          <a:xfrm>
            <a:off x="640080" y="2880360"/>
            <a:ext cx="5852160" cy="822960"/>
          </a:xfrm>
          <a:prstGeom prst="rect">
            <a:avLst/>
          </a:prstGeom>
          <a:noFill/>
        </p:spPr>
        <p:txBody>
          <a:bodyPr wrap="square" lIns="0" rIns="0" tIns="0" bIns="0" anchor="t"/>
          <a:lstStyle/>
          <a:p>
            <a:pPr algn="l">
              <a:lnSpc>
                <a:spcPct val="115000"/>
              </a:lnSpc>
              <a:spcAft>
                <a:spcPts val="0"/>
              </a:spcAft>
            </a:pPr>
            <a:r>
              <a:rPr sz="2000" b="1" i="0">
                <a:solidFill>
                  <a:srgbClr val="F2A65A"/>
                </a:solidFill>
                <a:latin typeface="Arial"/>
              </a:rPr>
              <a:t>Find the conflict. </a:t>
            </a:r>
            <a:r>
              <a:rPr sz="2000" b="1" i="0">
                <a:solidFill>
                  <a:srgbClr val="82B7FF"/>
                </a:solidFill>
                <a:latin typeface="Arial"/>
              </a:rPr>
              <a:t>Trace the evidence.</a:t>
            </a:r>
          </a:p>
          <a:p>
            <a:pPr algn="l">
              <a:lnSpc>
                <a:spcPct val="115000"/>
              </a:lnSpc>
              <a:spcAft>
                <a:spcPts val="0"/>
              </a:spcAft>
            </a:pPr>
            <a:r>
              <a:rPr sz="2000" b="1" i="0">
                <a:solidFill>
                  <a:srgbClr val="19B6A4"/>
                </a:solidFill>
                <a:latin typeface="Arial"/>
              </a:rPr>
              <a:t>Keep humans in control.</a:t>
            </a:r>
          </a:p>
        </p:txBody>
      </p:sp>
      <p:sp>
        <p:nvSpPr>
          <p:cNvPr id="6" name="TextBox 5"/>
          <p:cNvSpPr txBox="1"/>
          <p:nvPr/>
        </p:nvSpPr>
        <p:spPr>
          <a:xfrm>
            <a:off x="640080" y="3703320"/>
            <a:ext cx="5486400" cy="731520"/>
          </a:xfrm>
          <a:prstGeom prst="rect">
            <a:avLst/>
          </a:prstGeom>
          <a:noFill/>
        </p:spPr>
        <p:txBody>
          <a:bodyPr wrap="square" lIns="0" rIns="0" tIns="0" bIns="0" anchor="t"/>
          <a:lstStyle/>
          <a:p>
            <a:pPr algn="l">
              <a:lnSpc>
                <a:spcPct val="120000"/>
              </a:lnSpc>
              <a:spcAft>
                <a:spcPts val="0"/>
              </a:spcAft>
            </a:pPr>
            <a:r>
              <a:rPr sz="1500" b="0" i="0">
                <a:solidFill>
                  <a:srgbClr val="B8C4D6"/>
                </a:solidFill>
                <a:latin typeface="Arial"/>
              </a:rPr>
              <a:t>Helping reviewers identify potentially conflicting information across healthcare records and trace the evidence behind each finding.</a:t>
            </a:r>
          </a:p>
        </p:txBody>
      </p:sp>
      <p:sp>
        <p:nvSpPr>
          <p:cNvPr id="7" name="Rectangle 6"/>
          <p:cNvSpPr/>
          <p:nvPr/>
        </p:nvSpPr>
        <p:spPr>
          <a:xfrm>
            <a:off x="640080" y="5074920"/>
            <a:ext cx="6035040" cy="10972"/>
          </a:xfrm>
          <a:prstGeom prst="rect">
            <a:avLst/>
          </a:prstGeom>
          <a:solidFill>
            <a:srgbClr val="27364A"/>
          </a:solidFill>
          <a:ln>
            <a:noFill/>
          </a:ln>
        </p:spPr>
        <p:txBody>
          <a:bodyPr rtlCol="0" anchor="ctr"/>
          <a:lstStyle/>
          <a:p/>
        </p:txBody>
      </p:sp>
      <p:sp>
        <p:nvSpPr>
          <p:cNvPr id="8" name="TextBox 7"/>
          <p:cNvSpPr txBox="1"/>
          <p:nvPr/>
        </p:nvSpPr>
        <p:spPr>
          <a:xfrm>
            <a:off x="640080" y="5257800"/>
            <a:ext cx="1645920" cy="228600"/>
          </a:xfrm>
          <a:prstGeom prst="rect">
            <a:avLst/>
          </a:prstGeom>
          <a:noFill/>
        </p:spPr>
        <p:txBody>
          <a:bodyPr wrap="square" lIns="0" rIns="0" tIns="0" bIns="0" anchor="t"/>
          <a:lstStyle/>
          <a:p>
            <a:pPr algn="l">
              <a:spcAft>
                <a:spcPts val="0"/>
              </a:spcAft>
            </a:pPr>
            <a:r>
              <a:rPr sz="900" b="1" i="0" spc="120">
                <a:solidFill>
                  <a:srgbClr val="B8C4D6"/>
                </a:solidFill>
                <a:latin typeface="Arial"/>
              </a:rPr>
              <a:t>TEAM</a:t>
            </a:r>
          </a:p>
        </p:txBody>
      </p:sp>
      <p:sp>
        <p:nvSpPr>
          <p:cNvPr id="9" name="TextBox 8"/>
          <p:cNvSpPr txBox="1"/>
          <p:nvPr/>
        </p:nvSpPr>
        <p:spPr>
          <a:xfrm>
            <a:off x="640080" y="5504688"/>
            <a:ext cx="1645920" cy="457200"/>
          </a:xfrm>
          <a:prstGeom prst="rect">
            <a:avLst/>
          </a:prstGeom>
          <a:noFill/>
        </p:spPr>
        <p:txBody>
          <a:bodyPr wrap="square" lIns="0" rIns="0" tIns="0" bIns="0" anchor="t"/>
          <a:lstStyle/>
          <a:p>
            <a:pPr algn="l">
              <a:lnSpc>
                <a:spcPct val="110000"/>
              </a:lnSpc>
              <a:spcAft>
                <a:spcPts val="0"/>
              </a:spcAft>
            </a:pPr>
            <a:r>
              <a:rPr sz="1250" b="1" i="0">
                <a:solidFill>
                  <a:srgbClr val="F8FAFC"/>
                </a:solidFill>
                <a:latin typeface="Arial"/>
              </a:rPr>
              <a:t>[TEAM NAME]</a:t>
            </a:r>
          </a:p>
        </p:txBody>
      </p:sp>
      <p:sp>
        <p:nvSpPr>
          <p:cNvPr id="10" name="TextBox 9"/>
          <p:cNvSpPr txBox="1"/>
          <p:nvPr/>
        </p:nvSpPr>
        <p:spPr>
          <a:xfrm>
            <a:off x="2377439" y="5257800"/>
            <a:ext cx="1645920" cy="228600"/>
          </a:xfrm>
          <a:prstGeom prst="rect">
            <a:avLst/>
          </a:prstGeom>
          <a:noFill/>
        </p:spPr>
        <p:txBody>
          <a:bodyPr wrap="square" lIns="0" rIns="0" tIns="0" bIns="0" anchor="t"/>
          <a:lstStyle/>
          <a:p>
            <a:pPr algn="l">
              <a:spcAft>
                <a:spcPts val="0"/>
              </a:spcAft>
            </a:pPr>
            <a:r>
              <a:rPr sz="900" b="1" i="0" spc="120">
                <a:solidFill>
                  <a:srgbClr val="B8C4D6"/>
                </a:solidFill>
                <a:latin typeface="Arial"/>
              </a:rPr>
              <a:t>MEMBERS</a:t>
            </a:r>
          </a:p>
        </p:txBody>
      </p:sp>
      <p:sp>
        <p:nvSpPr>
          <p:cNvPr id="11" name="TextBox 10"/>
          <p:cNvSpPr txBox="1"/>
          <p:nvPr/>
        </p:nvSpPr>
        <p:spPr>
          <a:xfrm>
            <a:off x="2377439" y="5504688"/>
            <a:ext cx="1645920" cy="457200"/>
          </a:xfrm>
          <a:prstGeom prst="rect">
            <a:avLst/>
          </a:prstGeom>
          <a:noFill/>
        </p:spPr>
        <p:txBody>
          <a:bodyPr wrap="square" lIns="0" rIns="0" tIns="0" bIns="0" anchor="t"/>
          <a:lstStyle/>
          <a:p>
            <a:pPr algn="l">
              <a:lnSpc>
                <a:spcPct val="110000"/>
              </a:lnSpc>
              <a:spcAft>
                <a:spcPts val="0"/>
              </a:spcAft>
            </a:pPr>
            <a:r>
              <a:rPr sz="1250" b="1" i="0">
                <a:solidFill>
                  <a:srgbClr val="F8FAFC"/>
                </a:solidFill>
                <a:latin typeface="Arial"/>
              </a:rPr>
              <a:t>[MEMBER NAMES]</a:t>
            </a:r>
          </a:p>
        </p:txBody>
      </p:sp>
      <p:sp>
        <p:nvSpPr>
          <p:cNvPr id="12" name="TextBox 11"/>
          <p:cNvSpPr txBox="1"/>
          <p:nvPr/>
        </p:nvSpPr>
        <p:spPr>
          <a:xfrm>
            <a:off x="4114800" y="5257800"/>
            <a:ext cx="2651760" cy="228600"/>
          </a:xfrm>
          <a:prstGeom prst="rect">
            <a:avLst/>
          </a:prstGeom>
          <a:noFill/>
        </p:spPr>
        <p:txBody>
          <a:bodyPr wrap="square" lIns="0" rIns="0" tIns="0" bIns="0" anchor="t"/>
          <a:lstStyle/>
          <a:p>
            <a:pPr algn="l">
              <a:spcAft>
                <a:spcPts val="0"/>
              </a:spcAft>
            </a:pPr>
            <a:r>
              <a:rPr sz="900" b="1" i="0" spc="120">
                <a:solidFill>
                  <a:srgbClr val="B8C4D6"/>
                </a:solidFill>
                <a:latin typeface="Arial"/>
              </a:rPr>
              <a:t>INSTITUTION</a:t>
            </a:r>
          </a:p>
        </p:txBody>
      </p:sp>
      <p:sp>
        <p:nvSpPr>
          <p:cNvPr id="13" name="TextBox 12"/>
          <p:cNvSpPr txBox="1"/>
          <p:nvPr/>
        </p:nvSpPr>
        <p:spPr>
          <a:xfrm>
            <a:off x="4114800" y="5504688"/>
            <a:ext cx="2651760" cy="457200"/>
          </a:xfrm>
          <a:prstGeom prst="rect">
            <a:avLst/>
          </a:prstGeom>
          <a:noFill/>
        </p:spPr>
        <p:txBody>
          <a:bodyPr wrap="square" lIns="0" rIns="0" tIns="0" bIns="0" anchor="t"/>
          <a:lstStyle/>
          <a:p>
            <a:pPr algn="l">
              <a:lnSpc>
                <a:spcPct val="110000"/>
              </a:lnSpc>
              <a:spcAft>
                <a:spcPts val="0"/>
              </a:spcAft>
            </a:pPr>
            <a:r>
              <a:rPr sz="1250" b="1" i="0">
                <a:solidFill>
                  <a:srgbClr val="F8FAFC"/>
                </a:solidFill>
                <a:latin typeface="Arial"/>
              </a:rPr>
              <a:t>Vishnu Institute of Technology, Bhimavaram</a:t>
            </a:r>
          </a:p>
        </p:txBody>
      </p:sp>
      <p:sp>
        <p:nvSpPr>
          <p:cNvPr id="14" name="Rounded Rectangle 13"/>
          <p:cNvSpPr/>
          <p:nvPr/>
        </p:nvSpPr>
        <p:spPr>
          <a:xfrm>
            <a:off x="7223760" y="777240"/>
            <a:ext cx="1965960" cy="2926080"/>
          </a:xfrm>
          <a:prstGeom prst="roundRect">
            <a:avLst>
              <a:gd name="adj" fmla="val 5581"/>
            </a:avLst>
          </a:prstGeom>
          <a:solidFill>
            <a:srgbClr val="111C2E">
              <a:alpha val="55000"/>
            </a:srgbClr>
          </a:solidFill>
          <a:ln w="9525">
            <a:solidFill>
              <a:srgbClr val="27364A"/>
            </a:solidFill>
          </a:ln>
        </p:spPr>
        <p:txBody>
          <a:bodyPr rtlCol="0" anchor="ctr"/>
          <a:lstStyle/>
          <a:p/>
        </p:txBody>
      </p:sp>
      <p:sp>
        <p:nvSpPr>
          <p:cNvPr id="15" name="Rounded Rectangle 14"/>
          <p:cNvSpPr/>
          <p:nvPr/>
        </p:nvSpPr>
        <p:spPr>
          <a:xfrm>
            <a:off x="6903720" y="1280160"/>
            <a:ext cx="2148840" cy="3017520"/>
          </a:xfrm>
          <a:prstGeom prst="roundRect">
            <a:avLst>
              <a:gd name="adj" fmla="val 5106"/>
            </a:avLst>
          </a:prstGeom>
          <a:solidFill>
            <a:srgbClr val="111C2E"/>
          </a:solidFill>
          <a:ln w="9525">
            <a:solidFill>
              <a:srgbClr val="27364A"/>
            </a:solidFill>
          </a:ln>
        </p:spPr>
        <p:txBody>
          <a:bodyPr rtlCol="0" anchor="ctr"/>
          <a:lstStyle/>
          <a:p/>
        </p:txBody>
      </p:sp>
      <p:sp>
        <p:nvSpPr>
          <p:cNvPr id="16" name="TextBox 15"/>
          <p:cNvSpPr txBox="1"/>
          <p:nvPr/>
        </p:nvSpPr>
        <p:spPr>
          <a:xfrm>
            <a:off x="7086600" y="1463039"/>
            <a:ext cx="1783080" cy="228600"/>
          </a:xfrm>
          <a:prstGeom prst="rect">
            <a:avLst/>
          </a:prstGeom>
          <a:noFill/>
        </p:spPr>
        <p:txBody>
          <a:bodyPr wrap="square" lIns="0" rIns="0" tIns="0" bIns="0" anchor="t"/>
          <a:lstStyle/>
          <a:p>
            <a:pPr algn="l">
              <a:spcAft>
                <a:spcPts val="0"/>
              </a:spcAft>
            </a:pPr>
            <a:r>
              <a:rPr sz="900" b="1" i="0" spc="120">
                <a:solidFill>
                  <a:srgbClr val="F8FAFC"/>
                </a:solidFill>
                <a:latin typeface="Arial"/>
              </a:rPr>
              <a:t>DISCHARGE SUMMARY</a:t>
            </a:r>
          </a:p>
        </p:txBody>
      </p:sp>
      <p:sp>
        <p:nvSpPr>
          <p:cNvPr id="17" name="TextBox 16"/>
          <p:cNvSpPr txBox="1"/>
          <p:nvPr/>
        </p:nvSpPr>
        <p:spPr>
          <a:xfrm>
            <a:off x="7086600" y="1691639"/>
            <a:ext cx="1783080" cy="182880"/>
          </a:xfrm>
          <a:prstGeom prst="rect">
            <a:avLst/>
          </a:prstGeom>
          <a:noFill/>
        </p:spPr>
        <p:txBody>
          <a:bodyPr wrap="square" lIns="0" rIns="0" tIns="0" bIns="0" anchor="t"/>
          <a:lstStyle/>
          <a:p>
            <a:pPr algn="l">
              <a:spcAft>
                <a:spcPts val="0"/>
              </a:spcAft>
            </a:pPr>
            <a:r>
              <a:rPr sz="850" b="0" i="0">
                <a:solidFill>
                  <a:srgbClr val="B8C4D6"/>
                </a:solidFill>
                <a:latin typeface="Arial"/>
              </a:rPr>
              <a:t>12 Mar 2026 · page 2</a:t>
            </a:r>
          </a:p>
        </p:txBody>
      </p:sp>
      <p:sp>
        <p:nvSpPr>
          <p:cNvPr id="18" name="Rounded Rectangle 17"/>
          <p:cNvSpPr/>
          <p:nvPr/>
        </p:nvSpPr>
        <p:spPr>
          <a:xfrm>
            <a:off x="7086600" y="2112264"/>
            <a:ext cx="1604772" cy="73152"/>
          </a:xfrm>
          <a:prstGeom prst="roundRect">
            <a:avLst>
              <a:gd name="adj" fmla="val 50000"/>
            </a:avLst>
          </a:prstGeom>
          <a:solidFill>
            <a:srgbClr val="27364A"/>
          </a:solidFill>
          <a:ln>
            <a:noFill/>
          </a:ln>
        </p:spPr>
        <p:txBody>
          <a:bodyPr rtlCol="0" anchor="ctr"/>
          <a:lstStyle/>
          <a:p/>
        </p:txBody>
      </p:sp>
      <p:sp>
        <p:nvSpPr>
          <p:cNvPr id="19" name="Rounded Rectangle 18"/>
          <p:cNvSpPr/>
          <p:nvPr/>
        </p:nvSpPr>
        <p:spPr>
          <a:xfrm>
            <a:off x="7086600" y="2459736"/>
            <a:ext cx="1283817" cy="73152"/>
          </a:xfrm>
          <a:prstGeom prst="roundRect">
            <a:avLst>
              <a:gd name="adj" fmla="val 50000"/>
            </a:avLst>
          </a:prstGeom>
          <a:solidFill>
            <a:srgbClr val="27364A"/>
          </a:solidFill>
          <a:ln>
            <a:noFill/>
          </a:ln>
        </p:spPr>
        <p:txBody>
          <a:bodyPr rtlCol="0" anchor="ctr"/>
          <a:lstStyle/>
          <a:p/>
        </p:txBody>
      </p:sp>
      <p:sp>
        <p:nvSpPr>
          <p:cNvPr id="20" name="Rounded Rectangle 19"/>
          <p:cNvSpPr/>
          <p:nvPr/>
        </p:nvSpPr>
        <p:spPr>
          <a:xfrm>
            <a:off x="7031736" y="2688336"/>
            <a:ext cx="1892808" cy="329184"/>
          </a:xfrm>
          <a:prstGeom prst="roundRect">
            <a:avLst>
              <a:gd name="adj" fmla="val 16666"/>
            </a:avLst>
          </a:prstGeom>
          <a:solidFill>
            <a:srgbClr val="82B7FF">
              <a:alpha val="22000"/>
            </a:srgbClr>
          </a:solidFill>
          <a:ln>
            <a:noFill/>
          </a:ln>
        </p:spPr>
        <p:txBody>
          <a:bodyPr rtlCol="0" anchor="ctr"/>
          <a:lstStyle/>
          <a:p/>
        </p:txBody>
      </p:sp>
      <p:sp>
        <p:nvSpPr>
          <p:cNvPr id="21" name="Rectangle 20"/>
          <p:cNvSpPr/>
          <p:nvPr/>
        </p:nvSpPr>
        <p:spPr>
          <a:xfrm>
            <a:off x="7031736" y="2688336"/>
            <a:ext cx="45720" cy="329184"/>
          </a:xfrm>
          <a:prstGeom prst="rect">
            <a:avLst/>
          </a:prstGeom>
          <a:solidFill>
            <a:srgbClr val="82B7FF"/>
          </a:solidFill>
          <a:ln>
            <a:noFill/>
          </a:ln>
        </p:spPr>
        <p:txBody>
          <a:bodyPr rtlCol="0" anchor="ctr"/>
          <a:lstStyle/>
          <a:p/>
        </p:txBody>
      </p:sp>
      <p:sp>
        <p:nvSpPr>
          <p:cNvPr id="22" name="TextBox 21"/>
          <p:cNvSpPr txBox="1"/>
          <p:nvPr/>
        </p:nvSpPr>
        <p:spPr>
          <a:xfrm>
            <a:off x="7159752" y="2688336"/>
            <a:ext cx="1737360" cy="329184"/>
          </a:xfrm>
          <a:prstGeom prst="rect">
            <a:avLst/>
          </a:prstGeom>
          <a:noFill/>
        </p:spPr>
        <p:txBody>
          <a:bodyPr wrap="square" lIns="0" rIns="0" tIns="0" bIns="0" anchor="ctr"/>
          <a:lstStyle/>
          <a:p>
            <a:pPr algn="l">
              <a:spcAft>
                <a:spcPts val="0"/>
              </a:spcAft>
            </a:pPr>
            <a:r>
              <a:rPr sz="950" b="1" i="0">
                <a:solidFill>
                  <a:srgbClr val="F8FAFC"/>
                </a:solidFill>
                <a:latin typeface="Arial"/>
              </a:rPr>
              <a:t>Allergy: penicillin</a:t>
            </a:r>
          </a:p>
        </p:txBody>
      </p:sp>
      <p:sp>
        <p:nvSpPr>
          <p:cNvPr id="23" name="Rounded Rectangle 22"/>
          <p:cNvSpPr/>
          <p:nvPr/>
        </p:nvSpPr>
        <p:spPr>
          <a:xfrm>
            <a:off x="7086600" y="3154679"/>
            <a:ext cx="1069848" cy="73152"/>
          </a:xfrm>
          <a:prstGeom prst="roundRect">
            <a:avLst>
              <a:gd name="adj" fmla="val 50000"/>
            </a:avLst>
          </a:prstGeom>
          <a:solidFill>
            <a:srgbClr val="27364A"/>
          </a:solidFill>
          <a:ln>
            <a:noFill/>
          </a:ln>
        </p:spPr>
        <p:txBody>
          <a:bodyPr rtlCol="0" anchor="ctr"/>
          <a:lstStyle/>
          <a:p/>
        </p:txBody>
      </p:sp>
      <p:sp>
        <p:nvSpPr>
          <p:cNvPr id="24" name="Rounded Rectangle 23"/>
          <p:cNvSpPr/>
          <p:nvPr/>
        </p:nvSpPr>
        <p:spPr>
          <a:xfrm>
            <a:off x="7086600" y="3502151"/>
            <a:ext cx="1390802" cy="73152"/>
          </a:xfrm>
          <a:prstGeom prst="roundRect">
            <a:avLst>
              <a:gd name="adj" fmla="val 50000"/>
            </a:avLst>
          </a:prstGeom>
          <a:solidFill>
            <a:srgbClr val="27364A"/>
          </a:solidFill>
          <a:ln>
            <a:noFill/>
          </a:ln>
        </p:spPr>
        <p:txBody>
          <a:bodyPr rtlCol="0" anchor="ctr"/>
          <a:lstStyle/>
          <a:p/>
        </p:txBody>
      </p:sp>
      <p:sp>
        <p:nvSpPr>
          <p:cNvPr id="25" name="Rounded Rectangle 24"/>
          <p:cNvSpPr/>
          <p:nvPr/>
        </p:nvSpPr>
        <p:spPr>
          <a:xfrm>
            <a:off x="7086600" y="3849623"/>
            <a:ext cx="1176832" cy="73152"/>
          </a:xfrm>
          <a:prstGeom prst="roundRect">
            <a:avLst>
              <a:gd name="adj" fmla="val 50000"/>
            </a:avLst>
          </a:prstGeom>
          <a:solidFill>
            <a:srgbClr val="27364A"/>
          </a:solidFill>
          <a:ln>
            <a:noFill/>
          </a:ln>
        </p:spPr>
        <p:txBody>
          <a:bodyPr rtlCol="0" anchor="ctr"/>
          <a:lstStyle/>
          <a:p/>
        </p:txBody>
      </p:sp>
      <p:sp>
        <p:nvSpPr>
          <p:cNvPr id="26" name="Rounded Rectangle 25"/>
          <p:cNvSpPr/>
          <p:nvPr/>
        </p:nvSpPr>
        <p:spPr>
          <a:xfrm>
            <a:off x="9418320" y="1920240"/>
            <a:ext cx="2148840" cy="3017520"/>
          </a:xfrm>
          <a:prstGeom prst="roundRect">
            <a:avLst>
              <a:gd name="adj" fmla="val 5106"/>
            </a:avLst>
          </a:prstGeom>
          <a:solidFill>
            <a:srgbClr val="111C2E"/>
          </a:solidFill>
          <a:ln w="9525">
            <a:solidFill>
              <a:srgbClr val="27364A"/>
            </a:solidFill>
          </a:ln>
        </p:spPr>
        <p:txBody>
          <a:bodyPr rtlCol="0" anchor="ctr"/>
          <a:lstStyle/>
          <a:p/>
        </p:txBody>
      </p:sp>
      <p:sp>
        <p:nvSpPr>
          <p:cNvPr id="27" name="TextBox 26"/>
          <p:cNvSpPr txBox="1"/>
          <p:nvPr/>
        </p:nvSpPr>
        <p:spPr>
          <a:xfrm>
            <a:off x="9601200" y="2103120"/>
            <a:ext cx="1783080" cy="228600"/>
          </a:xfrm>
          <a:prstGeom prst="rect">
            <a:avLst/>
          </a:prstGeom>
          <a:noFill/>
        </p:spPr>
        <p:txBody>
          <a:bodyPr wrap="square" lIns="0" rIns="0" tIns="0" bIns="0" anchor="t"/>
          <a:lstStyle/>
          <a:p>
            <a:pPr algn="l">
              <a:spcAft>
                <a:spcPts val="0"/>
              </a:spcAft>
            </a:pPr>
            <a:r>
              <a:rPr sz="900" b="1" i="0" spc="120">
                <a:solidFill>
                  <a:srgbClr val="F8FAFC"/>
                </a:solidFill>
                <a:latin typeface="Arial"/>
              </a:rPr>
              <a:t>INTAKE FORM</a:t>
            </a:r>
          </a:p>
        </p:txBody>
      </p:sp>
      <p:sp>
        <p:nvSpPr>
          <p:cNvPr id="28" name="TextBox 27"/>
          <p:cNvSpPr txBox="1"/>
          <p:nvPr/>
        </p:nvSpPr>
        <p:spPr>
          <a:xfrm>
            <a:off x="9601200" y="2331720"/>
            <a:ext cx="1783080" cy="182880"/>
          </a:xfrm>
          <a:prstGeom prst="rect">
            <a:avLst/>
          </a:prstGeom>
          <a:noFill/>
        </p:spPr>
        <p:txBody>
          <a:bodyPr wrap="square" lIns="0" rIns="0" tIns="0" bIns="0" anchor="t"/>
          <a:lstStyle/>
          <a:p>
            <a:pPr algn="l">
              <a:spcAft>
                <a:spcPts val="0"/>
              </a:spcAft>
            </a:pPr>
            <a:r>
              <a:rPr sz="850" b="0" i="0">
                <a:solidFill>
                  <a:srgbClr val="B8C4D6"/>
                </a:solidFill>
                <a:latin typeface="Arial"/>
              </a:rPr>
              <a:t>15 Mar 2026</a:t>
            </a:r>
          </a:p>
        </p:txBody>
      </p:sp>
      <p:sp>
        <p:nvSpPr>
          <p:cNvPr id="29" name="Rounded Rectangle 28"/>
          <p:cNvSpPr/>
          <p:nvPr/>
        </p:nvSpPr>
        <p:spPr>
          <a:xfrm>
            <a:off x="9601200" y="2752344"/>
            <a:ext cx="1604772" cy="73152"/>
          </a:xfrm>
          <a:prstGeom prst="roundRect">
            <a:avLst>
              <a:gd name="adj" fmla="val 50000"/>
            </a:avLst>
          </a:prstGeom>
          <a:solidFill>
            <a:srgbClr val="27364A"/>
          </a:solidFill>
          <a:ln>
            <a:noFill/>
          </a:ln>
        </p:spPr>
        <p:txBody>
          <a:bodyPr rtlCol="0" anchor="ctr"/>
          <a:lstStyle/>
          <a:p/>
        </p:txBody>
      </p:sp>
      <p:sp>
        <p:nvSpPr>
          <p:cNvPr id="30" name="Rounded Rectangle 29"/>
          <p:cNvSpPr/>
          <p:nvPr/>
        </p:nvSpPr>
        <p:spPr>
          <a:xfrm>
            <a:off x="9601200" y="3099816"/>
            <a:ext cx="1283817" cy="73152"/>
          </a:xfrm>
          <a:prstGeom prst="roundRect">
            <a:avLst>
              <a:gd name="adj" fmla="val 50000"/>
            </a:avLst>
          </a:prstGeom>
          <a:solidFill>
            <a:srgbClr val="27364A"/>
          </a:solidFill>
          <a:ln>
            <a:noFill/>
          </a:ln>
        </p:spPr>
        <p:txBody>
          <a:bodyPr rtlCol="0" anchor="ctr"/>
          <a:lstStyle/>
          <a:p/>
        </p:txBody>
      </p:sp>
      <p:sp>
        <p:nvSpPr>
          <p:cNvPr id="31" name="Rounded Rectangle 30"/>
          <p:cNvSpPr/>
          <p:nvPr/>
        </p:nvSpPr>
        <p:spPr>
          <a:xfrm>
            <a:off x="9601200" y="3447288"/>
            <a:ext cx="1497787" cy="73152"/>
          </a:xfrm>
          <a:prstGeom prst="roundRect">
            <a:avLst>
              <a:gd name="adj" fmla="val 50000"/>
            </a:avLst>
          </a:prstGeom>
          <a:solidFill>
            <a:srgbClr val="27364A"/>
          </a:solidFill>
          <a:ln>
            <a:noFill/>
          </a:ln>
        </p:spPr>
        <p:txBody>
          <a:bodyPr rtlCol="0" anchor="ctr"/>
          <a:lstStyle/>
          <a:p/>
        </p:txBody>
      </p:sp>
      <p:sp>
        <p:nvSpPr>
          <p:cNvPr id="32" name="Rounded Rectangle 31"/>
          <p:cNvSpPr/>
          <p:nvPr/>
        </p:nvSpPr>
        <p:spPr>
          <a:xfrm>
            <a:off x="9546336" y="3675887"/>
            <a:ext cx="1892808" cy="329184"/>
          </a:xfrm>
          <a:prstGeom prst="roundRect">
            <a:avLst>
              <a:gd name="adj" fmla="val 16666"/>
            </a:avLst>
          </a:prstGeom>
          <a:solidFill>
            <a:srgbClr val="F2A65A">
              <a:alpha val="22000"/>
            </a:srgbClr>
          </a:solidFill>
          <a:ln>
            <a:noFill/>
          </a:ln>
        </p:spPr>
        <p:txBody>
          <a:bodyPr rtlCol="0" anchor="ctr"/>
          <a:lstStyle/>
          <a:p/>
        </p:txBody>
      </p:sp>
      <p:sp>
        <p:nvSpPr>
          <p:cNvPr id="33" name="Rectangle 32"/>
          <p:cNvSpPr/>
          <p:nvPr/>
        </p:nvSpPr>
        <p:spPr>
          <a:xfrm>
            <a:off x="9546336" y="3675887"/>
            <a:ext cx="45720" cy="329184"/>
          </a:xfrm>
          <a:prstGeom prst="rect">
            <a:avLst/>
          </a:prstGeom>
          <a:solidFill>
            <a:srgbClr val="F2A65A"/>
          </a:solidFill>
          <a:ln>
            <a:noFill/>
          </a:ln>
        </p:spPr>
        <p:txBody>
          <a:bodyPr rtlCol="0" anchor="ctr"/>
          <a:lstStyle/>
          <a:p/>
        </p:txBody>
      </p:sp>
      <p:sp>
        <p:nvSpPr>
          <p:cNvPr id="34" name="TextBox 33"/>
          <p:cNvSpPr txBox="1"/>
          <p:nvPr/>
        </p:nvSpPr>
        <p:spPr>
          <a:xfrm>
            <a:off x="9674352" y="3675887"/>
            <a:ext cx="1737360" cy="329184"/>
          </a:xfrm>
          <a:prstGeom prst="rect">
            <a:avLst/>
          </a:prstGeom>
          <a:noFill/>
        </p:spPr>
        <p:txBody>
          <a:bodyPr wrap="square" lIns="0" rIns="0" tIns="0" bIns="0" anchor="ctr"/>
          <a:lstStyle/>
          <a:p>
            <a:pPr algn="l">
              <a:spcAft>
                <a:spcPts val="0"/>
              </a:spcAft>
            </a:pPr>
            <a:r>
              <a:rPr sz="950" b="1" i="0">
                <a:solidFill>
                  <a:srgbClr val="F8FAFC"/>
                </a:solidFill>
                <a:latin typeface="Arial"/>
              </a:rPr>
              <a:t>No known drug allergies</a:t>
            </a:r>
          </a:p>
        </p:txBody>
      </p:sp>
      <p:sp>
        <p:nvSpPr>
          <p:cNvPr id="35" name="Rounded Rectangle 34"/>
          <p:cNvSpPr/>
          <p:nvPr/>
        </p:nvSpPr>
        <p:spPr>
          <a:xfrm>
            <a:off x="9601200" y="4142231"/>
            <a:ext cx="1390802" cy="73152"/>
          </a:xfrm>
          <a:prstGeom prst="roundRect">
            <a:avLst>
              <a:gd name="adj" fmla="val 50000"/>
            </a:avLst>
          </a:prstGeom>
          <a:solidFill>
            <a:srgbClr val="27364A"/>
          </a:solidFill>
          <a:ln>
            <a:noFill/>
          </a:ln>
        </p:spPr>
        <p:txBody>
          <a:bodyPr rtlCol="0" anchor="ctr"/>
          <a:lstStyle/>
          <a:p/>
        </p:txBody>
      </p:sp>
      <p:sp>
        <p:nvSpPr>
          <p:cNvPr id="36" name="Rounded Rectangle 35"/>
          <p:cNvSpPr/>
          <p:nvPr/>
        </p:nvSpPr>
        <p:spPr>
          <a:xfrm>
            <a:off x="9601200" y="4489703"/>
            <a:ext cx="1176832" cy="73152"/>
          </a:xfrm>
          <a:prstGeom prst="roundRect">
            <a:avLst>
              <a:gd name="adj" fmla="val 50000"/>
            </a:avLst>
          </a:prstGeom>
          <a:solidFill>
            <a:srgbClr val="27364A"/>
          </a:solidFill>
          <a:ln>
            <a:noFill/>
          </a:ln>
        </p:spPr>
        <p:txBody>
          <a:bodyPr rtlCol="0" anchor="ctr"/>
          <a:lstStyle/>
          <a:p/>
        </p:txBody>
      </p:sp>
      <p:cxnSp>
        <p:nvCxnSpPr>
          <p:cNvPr id="37" name="Evidence line"/>
          <p:cNvCxnSpPr/>
          <p:nvPr/>
        </p:nvCxnSpPr>
        <p:spPr>
          <a:xfrm>
            <a:off x="8924544" y="2852928"/>
            <a:ext cx="621792" cy="987551"/>
          </a:xfrm>
          <a:prstGeom prst="line">
            <a:avLst/>
          </a:prstGeom>
          <a:ln w="25400">
            <a:solidFill>
              <a:srgbClr val="F2A65A"/>
            </a:solidFill>
          </a:ln>
        </p:spPr>
      </p:cxnSp>
      <p:sp>
        <p:nvSpPr>
          <p:cNvPr id="38" name="Oval 37"/>
          <p:cNvSpPr/>
          <p:nvPr/>
        </p:nvSpPr>
        <p:spPr>
          <a:xfrm>
            <a:off x="9125712" y="3236975"/>
            <a:ext cx="219456" cy="219456"/>
          </a:xfrm>
          <a:prstGeom prst="ellipse">
            <a:avLst/>
          </a:prstGeom>
          <a:solidFill>
            <a:srgbClr val="F2A65A"/>
          </a:solidFill>
          <a:ln w="9525">
            <a:solidFill>
              <a:srgbClr val="0B1220"/>
            </a:solidFill>
          </a:ln>
        </p:spPr>
        <p:txBody>
          <a:bodyPr rtlCol="0" anchor="ctr"/>
          <a:lstStyle/>
          <a:p/>
        </p:txBody>
      </p:sp>
      <p:sp>
        <p:nvSpPr>
          <p:cNvPr id="39" name="Rounded Rectangle 38"/>
          <p:cNvSpPr/>
          <p:nvPr/>
        </p:nvSpPr>
        <p:spPr>
          <a:xfrm>
            <a:off x="7452360" y="5212080"/>
            <a:ext cx="3566160" cy="292608"/>
          </a:xfrm>
          <a:prstGeom prst="roundRect">
            <a:avLst>
              <a:gd name="adj" fmla="val 50000"/>
            </a:avLst>
          </a:prstGeom>
          <a:solidFill>
            <a:srgbClr val="111C2E"/>
          </a:solidFill>
          <a:ln w="9525">
            <a:solidFill>
              <a:srgbClr val="F2A65A"/>
            </a:solidFill>
          </a:ln>
        </p:spPr>
        <p:txBody>
          <a:bodyPr rtlCol="0" anchor="ctr" wrap="square" lIns="0" rIns="0" tIns="0" bIns="0"/>
          <a:lstStyle/>
          <a:p>
            <a:pPr algn="ctr">
              <a:spcAft>
                <a:spcPts val="0"/>
              </a:spcAft>
            </a:pPr>
            <a:r>
              <a:rPr sz="950" b="1" i="0">
                <a:solidFill>
                  <a:srgbClr val="F2A65A"/>
                </a:solidFill>
                <a:latin typeface="Arial"/>
              </a:rPr>
              <a:t>POTENTIAL CONFLICT  ·  2 VERIFIED SOURCES</a:t>
            </a:r>
          </a:p>
        </p:txBody>
      </p:sp>
      <p:sp>
        <p:nvSpPr>
          <p:cNvPr id="40" name="Rounded Rectangle 39"/>
          <p:cNvSpPr/>
          <p:nvPr/>
        </p:nvSpPr>
        <p:spPr>
          <a:xfrm>
            <a:off x="7955279" y="5641848"/>
            <a:ext cx="2560320" cy="292608"/>
          </a:xfrm>
          <a:prstGeom prst="roundRect">
            <a:avLst>
              <a:gd name="adj" fmla="val 50000"/>
            </a:avLst>
          </a:prstGeom>
          <a:solidFill>
            <a:srgbClr val="19B6A4"/>
          </a:solidFill>
          <a:ln>
            <a:noFill/>
          </a:ln>
        </p:spPr>
        <p:txBody>
          <a:bodyPr rtlCol="0" anchor="ctr" wrap="square" lIns="0" rIns="0" tIns="0" bIns="0"/>
          <a:lstStyle/>
          <a:p>
            <a:pPr algn="ctr">
              <a:spcAft>
                <a:spcPts val="0"/>
              </a:spcAft>
            </a:pPr>
            <a:r>
              <a:rPr sz="950" b="1" i="0">
                <a:solidFill>
                  <a:srgbClr val="0B1220"/>
                </a:solidFill>
                <a:latin typeface="Arial"/>
              </a:rPr>
              <a:t>SENT TO HUMAN REVIEW</a:t>
            </a:r>
          </a:p>
        </p:txBody>
      </p:sp>
      <p:sp>
        <p:nvSpPr>
          <p:cNvPr id="41" name="TextBox 40"/>
          <p:cNvSpPr txBox="1"/>
          <p:nvPr/>
        </p:nvSpPr>
        <p:spPr>
          <a:xfrm>
            <a:off x="6903720" y="6080760"/>
            <a:ext cx="4663440" cy="228600"/>
          </a:xfrm>
          <a:prstGeom prst="rect">
            <a:avLst/>
          </a:prstGeom>
          <a:noFill/>
        </p:spPr>
        <p:txBody>
          <a:bodyPr wrap="square" lIns="0" rIns="0" tIns="0" bIns="0" anchor="t"/>
          <a:lstStyle/>
          <a:p>
            <a:pPr algn="ctr">
              <a:spcAft>
                <a:spcPts val="0"/>
              </a:spcAft>
            </a:pPr>
            <a:r>
              <a:rPr sz="900" b="0" i="1">
                <a:solidFill>
                  <a:srgbClr val="B8C4D6"/>
                </a:solidFill>
                <a:latin typeface="Arial"/>
              </a:rPr>
              <a:t>Illustration · synthetic data</a:t>
            </a:r>
          </a:p>
        </p:txBody>
      </p:sp>
      <p:sp>
        <p:nvSpPr>
          <p:cNvPr id="42" name="TextBox 41"/>
          <p:cNvSpPr txBox="1"/>
          <p:nvPr/>
        </p:nvSpPr>
        <p:spPr>
          <a:xfrm>
            <a:off x="640080" y="6400800"/>
            <a:ext cx="4572000" cy="201168"/>
          </a:xfrm>
          <a:prstGeom prst="rect">
            <a:avLst/>
          </a:prstGeom>
          <a:noFill/>
        </p:spPr>
        <p:txBody>
          <a:bodyPr wrap="square" lIns="0" rIns="0" tIns="0" bIns="0" anchor="t"/>
          <a:lstStyle/>
          <a:p>
            <a:pPr algn="l">
              <a:spcAft>
                <a:spcPts val="0"/>
              </a:spcAft>
            </a:pPr>
            <a:r>
              <a:rPr sz="950" b="1" i="0" spc="100">
                <a:solidFill>
                  <a:srgbClr val="B8C4D6"/>
                </a:solidFill>
                <a:latin typeface="Arial"/>
              </a:rPr>
              <a:t>CLINISCOPE</a:t>
            </a:r>
            <a:r>
              <a:rPr sz="950" b="0" i="0" spc="60">
                <a:solidFill>
                  <a:srgbClr val="B8C4D6"/>
                </a:solidFill>
                <a:latin typeface="Arial"/>
              </a:rPr>
              <a:t>   |   PS-11R3</a:t>
            </a:r>
          </a:p>
        </p:txBody>
      </p:sp>
      <p:sp>
        <p:nvSpPr>
          <p:cNvPr id="43" name="TextBox 42"/>
          <p:cNvSpPr txBox="1"/>
          <p:nvPr/>
        </p:nvSpPr>
        <p:spPr>
          <a:xfrm>
            <a:off x="10180015" y="6400800"/>
            <a:ext cx="1371600" cy="201168"/>
          </a:xfrm>
          <a:prstGeom prst="rect">
            <a:avLst/>
          </a:prstGeom>
          <a:noFill/>
        </p:spPr>
        <p:txBody>
          <a:bodyPr wrap="square" lIns="0" rIns="0" tIns="0" bIns="0" anchor="t"/>
          <a:lstStyle/>
          <a:p>
            <a:pPr algn="r">
              <a:spcAft>
                <a:spcPts val="0"/>
              </a:spcAft>
            </a:pPr>
            <a:r>
              <a:rPr sz="950" b="0" i="0" spc="60">
                <a:solidFill>
                  <a:srgbClr val="B8C4D6"/>
                </a:solidFill>
                <a:latin typeface="Arial"/>
              </a:rPr>
              <a:t>01 / 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AFC"/>
        </a:solidFill>
        <a:effectLst/>
      </p:bgPr>
    </p:bg>
    <p:spTree>
      <p:nvGrpSpPr>
        <p:cNvPr id="1" name=""/>
        <p:cNvGrpSpPr/>
        <p:nvPr/>
      </p:nvGrpSpPr>
      <p:grpSpPr/>
      <p:sp>
        <p:nvSpPr>
          <p:cNvPr id="2" name="TextBox 1"/>
          <p:cNvSpPr txBox="1"/>
          <p:nvPr/>
        </p:nvSpPr>
        <p:spPr>
          <a:xfrm>
            <a:off x="640080" y="457200"/>
            <a:ext cx="7315200" cy="228600"/>
          </a:xfrm>
          <a:prstGeom prst="rect">
            <a:avLst/>
          </a:prstGeom>
          <a:noFill/>
        </p:spPr>
        <p:txBody>
          <a:bodyPr wrap="square" lIns="0" rIns="0" tIns="0" bIns="0" anchor="t"/>
          <a:lstStyle/>
          <a:p>
            <a:pPr algn="l">
              <a:spcAft>
                <a:spcPts val="0"/>
              </a:spcAft>
            </a:pPr>
            <a:r>
              <a:rPr sz="1050" b="1" i="0" spc="120">
                <a:solidFill>
                  <a:srgbClr val="19B6A4"/>
                </a:solidFill>
                <a:latin typeface="Arial"/>
              </a:rPr>
              <a:t>02  ·  PROBLEM STATEMENT</a:t>
            </a:r>
          </a:p>
        </p:txBody>
      </p:sp>
      <p:sp>
        <p:nvSpPr>
          <p:cNvPr id="3" name="Title"/>
          <p:cNvSpPr txBox="1"/>
          <p:nvPr/>
        </p:nvSpPr>
        <p:spPr>
          <a:xfrm>
            <a:off x="640080" y="749808"/>
            <a:ext cx="10911535" cy="548640"/>
          </a:xfrm>
          <a:prstGeom prst="rect">
            <a:avLst/>
          </a:prstGeom>
          <a:noFill/>
        </p:spPr>
        <p:txBody>
          <a:bodyPr wrap="square" lIns="0" rIns="0" tIns="0" bIns="0" anchor="t"/>
          <a:lstStyle/>
          <a:p>
            <a:pPr algn="l">
              <a:spcAft>
                <a:spcPts val="0"/>
              </a:spcAft>
            </a:pPr>
            <a:r>
              <a:rPr sz="2800" b="1" i="0">
                <a:solidFill>
                  <a:srgbClr val="172033"/>
                </a:solidFill>
                <a:latin typeface="Arial"/>
              </a:rPr>
              <a:t>The challenge: conflicting information across clinical records</a:t>
            </a:r>
          </a:p>
        </p:txBody>
      </p:sp>
      <p:sp>
        <p:nvSpPr>
          <p:cNvPr id="4" name="TextBox 3"/>
          <p:cNvSpPr txBox="1"/>
          <p:nvPr/>
        </p:nvSpPr>
        <p:spPr>
          <a:xfrm>
            <a:off x="640080" y="1691640"/>
            <a:ext cx="548640" cy="365760"/>
          </a:xfrm>
          <a:prstGeom prst="rect">
            <a:avLst/>
          </a:prstGeom>
          <a:noFill/>
        </p:spPr>
        <p:txBody>
          <a:bodyPr wrap="square" lIns="0" rIns="0" tIns="0" bIns="0" anchor="t"/>
          <a:lstStyle/>
          <a:p>
            <a:pPr algn="l">
              <a:spcAft>
                <a:spcPts val="0"/>
              </a:spcAft>
            </a:pPr>
            <a:r>
              <a:rPr sz="1800" b="1" i="0">
                <a:solidFill>
                  <a:srgbClr val="4C8DFF"/>
                </a:solidFill>
                <a:latin typeface="Arial"/>
              </a:rPr>
              <a:t>01</a:t>
            </a:r>
          </a:p>
        </p:txBody>
      </p:sp>
      <p:sp>
        <p:nvSpPr>
          <p:cNvPr id="5" name="TextBox 4"/>
          <p:cNvSpPr txBox="1"/>
          <p:nvPr/>
        </p:nvSpPr>
        <p:spPr>
          <a:xfrm>
            <a:off x="1280160" y="1691640"/>
            <a:ext cx="4480560" cy="320040"/>
          </a:xfrm>
          <a:prstGeom prst="rect">
            <a:avLst/>
          </a:prstGeom>
          <a:noFill/>
        </p:spPr>
        <p:txBody>
          <a:bodyPr wrap="square" lIns="0" rIns="0" tIns="0" bIns="0" anchor="t"/>
          <a:lstStyle/>
          <a:p>
            <a:pPr algn="l">
              <a:spcAft>
                <a:spcPts val="0"/>
              </a:spcAft>
            </a:pPr>
            <a:r>
              <a:rPr sz="1700" b="1" i="0">
                <a:solidFill>
                  <a:srgbClr val="172033"/>
                </a:solidFill>
                <a:latin typeface="Arial"/>
              </a:rPr>
              <a:t>Fragmented information</a:t>
            </a:r>
          </a:p>
        </p:txBody>
      </p:sp>
      <p:sp>
        <p:nvSpPr>
          <p:cNvPr id="6" name="TextBox 5"/>
          <p:cNvSpPr txBox="1"/>
          <p:nvPr/>
        </p:nvSpPr>
        <p:spPr>
          <a:xfrm>
            <a:off x="1280160" y="2039112"/>
            <a:ext cx="4480560" cy="457200"/>
          </a:xfrm>
          <a:prstGeom prst="rect">
            <a:avLst/>
          </a:prstGeom>
          <a:noFill/>
        </p:spPr>
        <p:txBody>
          <a:bodyPr wrap="square" lIns="0" rIns="0" tIns="0" bIns="0" anchor="t"/>
          <a:lstStyle/>
          <a:p>
            <a:pPr algn="l">
              <a:spcAft>
                <a:spcPts val="0"/>
              </a:spcAft>
            </a:pPr>
            <a:r>
              <a:rPr sz="1350" b="0" i="0">
                <a:solidFill>
                  <a:srgbClr val="526176"/>
                </a:solidFill>
                <a:latin typeface="Arial"/>
              </a:rPr>
              <a:t>Relevant information may be spread across multiple records.</a:t>
            </a:r>
          </a:p>
        </p:txBody>
      </p:sp>
      <p:sp>
        <p:nvSpPr>
          <p:cNvPr id="7" name="Rectangle 6"/>
          <p:cNvSpPr/>
          <p:nvPr/>
        </p:nvSpPr>
        <p:spPr>
          <a:xfrm>
            <a:off x="1280160" y="2606040"/>
            <a:ext cx="4480560" cy="10972"/>
          </a:xfrm>
          <a:prstGeom prst="rect">
            <a:avLst/>
          </a:prstGeom>
          <a:solidFill>
            <a:srgbClr val="DCE3EC"/>
          </a:solidFill>
          <a:ln>
            <a:noFill/>
          </a:ln>
        </p:spPr>
        <p:txBody>
          <a:bodyPr rtlCol="0" anchor="ctr"/>
          <a:lstStyle/>
          <a:p/>
        </p:txBody>
      </p:sp>
      <p:sp>
        <p:nvSpPr>
          <p:cNvPr id="8" name="TextBox 7"/>
          <p:cNvSpPr txBox="1"/>
          <p:nvPr/>
        </p:nvSpPr>
        <p:spPr>
          <a:xfrm>
            <a:off x="640080" y="2761488"/>
            <a:ext cx="548640" cy="365760"/>
          </a:xfrm>
          <a:prstGeom prst="rect">
            <a:avLst/>
          </a:prstGeom>
          <a:noFill/>
        </p:spPr>
        <p:txBody>
          <a:bodyPr wrap="square" lIns="0" rIns="0" tIns="0" bIns="0" anchor="t"/>
          <a:lstStyle/>
          <a:p>
            <a:pPr algn="l">
              <a:spcAft>
                <a:spcPts val="0"/>
              </a:spcAft>
            </a:pPr>
            <a:r>
              <a:rPr sz="1800" b="1" i="0">
                <a:solidFill>
                  <a:srgbClr val="4C8DFF"/>
                </a:solidFill>
                <a:latin typeface="Arial"/>
              </a:rPr>
              <a:t>02</a:t>
            </a:r>
          </a:p>
        </p:txBody>
      </p:sp>
      <p:sp>
        <p:nvSpPr>
          <p:cNvPr id="9" name="TextBox 8"/>
          <p:cNvSpPr txBox="1"/>
          <p:nvPr/>
        </p:nvSpPr>
        <p:spPr>
          <a:xfrm>
            <a:off x="1280160" y="2761488"/>
            <a:ext cx="4480560" cy="320040"/>
          </a:xfrm>
          <a:prstGeom prst="rect">
            <a:avLst/>
          </a:prstGeom>
          <a:noFill/>
        </p:spPr>
        <p:txBody>
          <a:bodyPr wrap="square" lIns="0" rIns="0" tIns="0" bIns="0" anchor="t"/>
          <a:lstStyle/>
          <a:p>
            <a:pPr algn="l">
              <a:spcAft>
                <a:spcPts val="0"/>
              </a:spcAft>
            </a:pPr>
            <a:r>
              <a:rPr sz="1700" b="1" i="0">
                <a:solidFill>
                  <a:srgbClr val="172033"/>
                </a:solidFill>
                <a:latin typeface="Arial"/>
              </a:rPr>
              <a:t>Conflicting statements</a:t>
            </a:r>
          </a:p>
        </p:txBody>
      </p:sp>
      <p:sp>
        <p:nvSpPr>
          <p:cNvPr id="10" name="TextBox 9"/>
          <p:cNvSpPr txBox="1"/>
          <p:nvPr/>
        </p:nvSpPr>
        <p:spPr>
          <a:xfrm>
            <a:off x="1280160" y="3108960"/>
            <a:ext cx="4480560" cy="457200"/>
          </a:xfrm>
          <a:prstGeom prst="rect">
            <a:avLst/>
          </a:prstGeom>
          <a:noFill/>
        </p:spPr>
        <p:txBody>
          <a:bodyPr wrap="square" lIns="0" rIns="0" tIns="0" bIns="0" anchor="t"/>
          <a:lstStyle/>
          <a:p>
            <a:pPr algn="l">
              <a:spcAft>
                <a:spcPts val="0"/>
              </a:spcAft>
            </a:pPr>
            <a:r>
              <a:rPr sz="1350" b="0" i="0">
                <a:solidFill>
                  <a:srgbClr val="526176"/>
                </a:solidFill>
                <a:latin typeface="Arial"/>
              </a:rPr>
              <a:t>Two records may disagree about the same clinical fact.</a:t>
            </a:r>
          </a:p>
        </p:txBody>
      </p:sp>
      <p:sp>
        <p:nvSpPr>
          <p:cNvPr id="11" name="Rectangle 10"/>
          <p:cNvSpPr/>
          <p:nvPr/>
        </p:nvSpPr>
        <p:spPr>
          <a:xfrm>
            <a:off x="1280160" y="3675887"/>
            <a:ext cx="4480560" cy="10972"/>
          </a:xfrm>
          <a:prstGeom prst="rect">
            <a:avLst/>
          </a:prstGeom>
          <a:solidFill>
            <a:srgbClr val="DCE3EC"/>
          </a:solidFill>
          <a:ln>
            <a:noFill/>
          </a:ln>
        </p:spPr>
        <p:txBody>
          <a:bodyPr rtlCol="0" anchor="ctr"/>
          <a:lstStyle/>
          <a:p/>
        </p:txBody>
      </p:sp>
      <p:sp>
        <p:nvSpPr>
          <p:cNvPr id="12" name="TextBox 11"/>
          <p:cNvSpPr txBox="1"/>
          <p:nvPr/>
        </p:nvSpPr>
        <p:spPr>
          <a:xfrm>
            <a:off x="640080" y="3831335"/>
            <a:ext cx="548640" cy="365760"/>
          </a:xfrm>
          <a:prstGeom prst="rect">
            <a:avLst/>
          </a:prstGeom>
          <a:noFill/>
        </p:spPr>
        <p:txBody>
          <a:bodyPr wrap="square" lIns="0" rIns="0" tIns="0" bIns="0" anchor="t"/>
          <a:lstStyle/>
          <a:p>
            <a:pPr algn="l">
              <a:spcAft>
                <a:spcPts val="0"/>
              </a:spcAft>
            </a:pPr>
            <a:r>
              <a:rPr sz="1800" b="1" i="0">
                <a:solidFill>
                  <a:srgbClr val="4C8DFF"/>
                </a:solidFill>
                <a:latin typeface="Arial"/>
              </a:rPr>
              <a:t>03</a:t>
            </a:r>
          </a:p>
        </p:txBody>
      </p:sp>
      <p:sp>
        <p:nvSpPr>
          <p:cNvPr id="13" name="TextBox 12"/>
          <p:cNvSpPr txBox="1"/>
          <p:nvPr/>
        </p:nvSpPr>
        <p:spPr>
          <a:xfrm>
            <a:off x="1280160" y="3831335"/>
            <a:ext cx="4480560" cy="320040"/>
          </a:xfrm>
          <a:prstGeom prst="rect">
            <a:avLst/>
          </a:prstGeom>
          <a:noFill/>
        </p:spPr>
        <p:txBody>
          <a:bodyPr wrap="square" lIns="0" rIns="0" tIns="0" bIns="0" anchor="t"/>
          <a:lstStyle/>
          <a:p>
            <a:pPr algn="l">
              <a:spcAft>
                <a:spcPts val="0"/>
              </a:spcAft>
            </a:pPr>
            <a:r>
              <a:rPr sz="1700" b="1" i="0">
                <a:solidFill>
                  <a:srgbClr val="172033"/>
                </a:solidFill>
                <a:latin typeface="Arial"/>
              </a:rPr>
              <a:t>Manual comparison</a:t>
            </a:r>
          </a:p>
        </p:txBody>
      </p:sp>
      <p:sp>
        <p:nvSpPr>
          <p:cNvPr id="14" name="TextBox 13"/>
          <p:cNvSpPr txBox="1"/>
          <p:nvPr/>
        </p:nvSpPr>
        <p:spPr>
          <a:xfrm>
            <a:off x="1280160" y="4178807"/>
            <a:ext cx="4480560" cy="457200"/>
          </a:xfrm>
          <a:prstGeom prst="rect">
            <a:avLst/>
          </a:prstGeom>
          <a:noFill/>
        </p:spPr>
        <p:txBody>
          <a:bodyPr wrap="square" lIns="0" rIns="0" tIns="0" bIns="0" anchor="t"/>
          <a:lstStyle/>
          <a:p>
            <a:pPr algn="l">
              <a:spcAft>
                <a:spcPts val="0"/>
              </a:spcAft>
            </a:pPr>
            <a:r>
              <a:rPr sz="1350" b="0" i="0">
                <a:solidFill>
                  <a:srgbClr val="526176"/>
                </a:solidFill>
                <a:latin typeface="Arial"/>
              </a:rPr>
              <a:t>Reviewers may have to read and compare documents by hand.</a:t>
            </a:r>
          </a:p>
        </p:txBody>
      </p:sp>
      <p:sp>
        <p:nvSpPr>
          <p:cNvPr id="15" name="Rectangle 14"/>
          <p:cNvSpPr/>
          <p:nvPr/>
        </p:nvSpPr>
        <p:spPr>
          <a:xfrm>
            <a:off x="1280160" y="4745736"/>
            <a:ext cx="4480560" cy="10972"/>
          </a:xfrm>
          <a:prstGeom prst="rect">
            <a:avLst/>
          </a:prstGeom>
          <a:solidFill>
            <a:srgbClr val="DCE3EC"/>
          </a:solidFill>
          <a:ln>
            <a:noFill/>
          </a:ln>
        </p:spPr>
        <p:txBody>
          <a:bodyPr rtlCol="0" anchor="ctr"/>
          <a:lstStyle/>
          <a:p/>
        </p:txBody>
      </p:sp>
      <p:sp>
        <p:nvSpPr>
          <p:cNvPr id="16" name="TextBox 15"/>
          <p:cNvSpPr txBox="1"/>
          <p:nvPr/>
        </p:nvSpPr>
        <p:spPr>
          <a:xfrm>
            <a:off x="640080" y="4901183"/>
            <a:ext cx="548640" cy="365760"/>
          </a:xfrm>
          <a:prstGeom prst="rect">
            <a:avLst/>
          </a:prstGeom>
          <a:noFill/>
        </p:spPr>
        <p:txBody>
          <a:bodyPr wrap="square" lIns="0" rIns="0" tIns="0" bIns="0" anchor="t"/>
          <a:lstStyle/>
          <a:p>
            <a:pPr algn="l">
              <a:spcAft>
                <a:spcPts val="0"/>
              </a:spcAft>
            </a:pPr>
            <a:r>
              <a:rPr sz="1800" b="1" i="0">
                <a:solidFill>
                  <a:srgbClr val="4C8DFF"/>
                </a:solidFill>
                <a:latin typeface="Arial"/>
              </a:rPr>
              <a:t>04</a:t>
            </a:r>
          </a:p>
        </p:txBody>
      </p:sp>
      <p:sp>
        <p:nvSpPr>
          <p:cNvPr id="17" name="TextBox 16"/>
          <p:cNvSpPr txBox="1"/>
          <p:nvPr/>
        </p:nvSpPr>
        <p:spPr>
          <a:xfrm>
            <a:off x="1280160" y="4901183"/>
            <a:ext cx="4480560" cy="320040"/>
          </a:xfrm>
          <a:prstGeom prst="rect">
            <a:avLst/>
          </a:prstGeom>
          <a:noFill/>
        </p:spPr>
        <p:txBody>
          <a:bodyPr wrap="square" lIns="0" rIns="0" tIns="0" bIns="0" anchor="t"/>
          <a:lstStyle/>
          <a:p>
            <a:pPr algn="l">
              <a:spcAft>
                <a:spcPts val="0"/>
              </a:spcAft>
            </a:pPr>
            <a:r>
              <a:rPr sz="1700" b="1" i="0">
                <a:solidFill>
                  <a:srgbClr val="172033"/>
                </a:solidFill>
                <a:latin typeface="Arial"/>
              </a:rPr>
              <a:t>Limited traceability</a:t>
            </a:r>
          </a:p>
        </p:txBody>
      </p:sp>
      <p:sp>
        <p:nvSpPr>
          <p:cNvPr id="18" name="TextBox 17"/>
          <p:cNvSpPr txBox="1"/>
          <p:nvPr/>
        </p:nvSpPr>
        <p:spPr>
          <a:xfrm>
            <a:off x="1280160" y="5248655"/>
            <a:ext cx="4480560" cy="457200"/>
          </a:xfrm>
          <a:prstGeom prst="rect">
            <a:avLst/>
          </a:prstGeom>
          <a:noFill/>
        </p:spPr>
        <p:txBody>
          <a:bodyPr wrap="square" lIns="0" rIns="0" tIns="0" bIns="0" anchor="t"/>
          <a:lstStyle/>
          <a:p>
            <a:pPr algn="l">
              <a:spcAft>
                <a:spcPts val="0"/>
              </a:spcAft>
            </a:pPr>
            <a:r>
              <a:rPr sz="1350" b="0" i="0">
                <a:solidFill>
                  <a:srgbClr val="526176"/>
                </a:solidFill>
                <a:latin typeface="Arial"/>
              </a:rPr>
              <a:t>A useful finding must point to the exact source statements.</a:t>
            </a:r>
          </a:p>
        </p:txBody>
      </p:sp>
      <p:sp>
        <p:nvSpPr>
          <p:cNvPr id="19" name="Rounded Rectangle 18"/>
          <p:cNvSpPr/>
          <p:nvPr/>
        </p:nvSpPr>
        <p:spPr>
          <a:xfrm>
            <a:off x="6172200" y="1600200"/>
            <a:ext cx="5376672" cy="4526280"/>
          </a:xfrm>
          <a:prstGeom prst="roundRect">
            <a:avLst>
              <a:gd name="adj" fmla="val 3232"/>
            </a:avLst>
          </a:prstGeom>
          <a:solidFill>
            <a:srgbClr val="FFFFFF"/>
          </a:solidFill>
          <a:ln w="9525">
            <a:solidFill>
              <a:srgbClr val="DCE3EC"/>
            </a:solidFill>
          </a:ln>
        </p:spPr>
        <p:txBody>
          <a:bodyPr rtlCol="0" anchor="ctr"/>
          <a:lstStyle/>
          <a:p/>
        </p:txBody>
      </p:sp>
      <p:sp>
        <p:nvSpPr>
          <p:cNvPr id="20" name="Rounded Rectangle 19"/>
          <p:cNvSpPr/>
          <p:nvPr/>
        </p:nvSpPr>
        <p:spPr>
          <a:xfrm>
            <a:off x="6446520" y="1856232"/>
            <a:ext cx="2514600" cy="292608"/>
          </a:xfrm>
          <a:prstGeom prst="roundRect">
            <a:avLst>
              <a:gd name="adj" fmla="val 50000"/>
            </a:avLst>
          </a:prstGeom>
          <a:solidFill>
            <a:srgbClr val="FDF1E4"/>
          </a:solidFill>
          <a:ln>
            <a:noFill/>
          </a:ln>
        </p:spPr>
        <p:txBody>
          <a:bodyPr rtlCol="0" anchor="ctr" wrap="square" lIns="0" rIns="0" tIns="0" bIns="0"/>
          <a:lstStyle/>
          <a:p>
            <a:pPr algn="ctr">
              <a:spcAft>
                <a:spcPts val="0"/>
              </a:spcAft>
            </a:pPr>
            <a:r>
              <a:rPr sz="900" b="1" i="0">
                <a:solidFill>
                  <a:srgbClr val="9A5A14"/>
                </a:solidFill>
                <a:latin typeface="Arial"/>
              </a:rPr>
              <a:t>ILLUSTRATIVE EXAMPLE · SYNTHETIC</a:t>
            </a:r>
          </a:p>
        </p:txBody>
      </p:sp>
      <p:sp>
        <p:nvSpPr>
          <p:cNvPr id="21" name="Rounded Rectangle 20"/>
          <p:cNvSpPr/>
          <p:nvPr/>
        </p:nvSpPr>
        <p:spPr>
          <a:xfrm>
            <a:off x="6446520" y="2331720"/>
            <a:ext cx="2194560" cy="2377440"/>
          </a:xfrm>
          <a:prstGeom prst="roundRect">
            <a:avLst>
              <a:gd name="adj" fmla="val 5000"/>
            </a:avLst>
          </a:prstGeom>
          <a:solidFill>
            <a:srgbClr val="FFFFFF"/>
          </a:solidFill>
          <a:ln w="9525">
            <a:solidFill>
              <a:srgbClr val="DCE3EC"/>
            </a:solidFill>
          </a:ln>
        </p:spPr>
        <p:txBody>
          <a:bodyPr rtlCol="0" anchor="ctr"/>
          <a:lstStyle/>
          <a:p/>
        </p:txBody>
      </p:sp>
      <p:sp>
        <p:nvSpPr>
          <p:cNvPr id="22" name="TextBox 21"/>
          <p:cNvSpPr txBox="1"/>
          <p:nvPr/>
        </p:nvSpPr>
        <p:spPr>
          <a:xfrm>
            <a:off x="6629400" y="2514600"/>
            <a:ext cx="1828800" cy="228600"/>
          </a:xfrm>
          <a:prstGeom prst="rect">
            <a:avLst/>
          </a:prstGeom>
          <a:noFill/>
        </p:spPr>
        <p:txBody>
          <a:bodyPr wrap="square" lIns="0" rIns="0" tIns="0" bIns="0" anchor="t"/>
          <a:lstStyle/>
          <a:p>
            <a:pPr algn="l">
              <a:spcAft>
                <a:spcPts val="0"/>
              </a:spcAft>
            </a:pPr>
            <a:r>
              <a:rPr sz="900" b="1" i="0" spc="120">
                <a:solidFill>
                  <a:srgbClr val="172033"/>
                </a:solidFill>
                <a:latin typeface="Arial"/>
              </a:rPr>
              <a:t>RECORD A</a:t>
            </a:r>
          </a:p>
        </p:txBody>
      </p:sp>
      <p:sp>
        <p:nvSpPr>
          <p:cNvPr id="23" name="TextBox 22"/>
          <p:cNvSpPr txBox="1"/>
          <p:nvPr/>
        </p:nvSpPr>
        <p:spPr>
          <a:xfrm>
            <a:off x="6629400" y="2743200"/>
            <a:ext cx="1828800" cy="182880"/>
          </a:xfrm>
          <a:prstGeom prst="rect">
            <a:avLst/>
          </a:prstGeom>
          <a:noFill/>
        </p:spPr>
        <p:txBody>
          <a:bodyPr wrap="square" lIns="0" rIns="0" tIns="0" bIns="0" anchor="t"/>
          <a:lstStyle/>
          <a:p>
            <a:pPr algn="l">
              <a:spcAft>
                <a:spcPts val="0"/>
              </a:spcAft>
            </a:pPr>
            <a:r>
              <a:rPr sz="850" b="0" i="0">
                <a:solidFill>
                  <a:srgbClr val="526176"/>
                </a:solidFill>
                <a:latin typeface="Arial"/>
              </a:rPr>
              <a:t>Discharge summary</a:t>
            </a:r>
          </a:p>
        </p:txBody>
      </p:sp>
      <p:sp>
        <p:nvSpPr>
          <p:cNvPr id="24" name="Rounded Rectangle 23"/>
          <p:cNvSpPr/>
          <p:nvPr/>
        </p:nvSpPr>
        <p:spPr>
          <a:xfrm>
            <a:off x="6629400" y="3163824"/>
            <a:ext cx="1645920" cy="73152"/>
          </a:xfrm>
          <a:prstGeom prst="roundRect">
            <a:avLst>
              <a:gd name="adj" fmla="val 50000"/>
            </a:avLst>
          </a:prstGeom>
          <a:solidFill>
            <a:srgbClr val="E6EBF1"/>
          </a:solidFill>
          <a:ln>
            <a:noFill/>
          </a:ln>
        </p:spPr>
        <p:txBody>
          <a:bodyPr rtlCol="0" anchor="ctr"/>
          <a:lstStyle/>
          <a:p/>
        </p:txBody>
      </p:sp>
      <p:sp>
        <p:nvSpPr>
          <p:cNvPr id="25" name="Rounded Rectangle 24"/>
          <p:cNvSpPr/>
          <p:nvPr/>
        </p:nvSpPr>
        <p:spPr>
          <a:xfrm>
            <a:off x="6574536" y="3392424"/>
            <a:ext cx="1938528" cy="475488"/>
          </a:xfrm>
          <a:prstGeom prst="roundRect">
            <a:avLst>
              <a:gd name="adj" fmla="val 11538"/>
            </a:avLst>
          </a:prstGeom>
          <a:solidFill>
            <a:srgbClr val="4C8DFF">
              <a:alpha val="25000"/>
            </a:srgbClr>
          </a:solidFill>
          <a:ln>
            <a:noFill/>
          </a:ln>
        </p:spPr>
        <p:txBody>
          <a:bodyPr rtlCol="0" anchor="ctr"/>
          <a:lstStyle/>
          <a:p/>
        </p:txBody>
      </p:sp>
      <p:sp>
        <p:nvSpPr>
          <p:cNvPr id="26" name="Rectangle 25"/>
          <p:cNvSpPr/>
          <p:nvPr/>
        </p:nvSpPr>
        <p:spPr>
          <a:xfrm>
            <a:off x="6574536" y="3392424"/>
            <a:ext cx="45720" cy="475488"/>
          </a:xfrm>
          <a:prstGeom prst="rect">
            <a:avLst/>
          </a:prstGeom>
          <a:solidFill>
            <a:srgbClr val="4C8DFF"/>
          </a:solidFill>
          <a:ln>
            <a:noFill/>
          </a:ln>
        </p:spPr>
        <p:txBody>
          <a:bodyPr rtlCol="0" anchor="ctr"/>
          <a:lstStyle/>
          <a:p/>
        </p:txBody>
      </p:sp>
      <p:sp>
        <p:nvSpPr>
          <p:cNvPr id="27" name="TextBox 26"/>
          <p:cNvSpPr txBox="1"/>
          <p:nvPr/>
        </p:nvSpPr>
        <p:spPr>
          <a:xfrm>
            <a:off x="6702552" y="3392424"/>
            <a:ext cx="1783080" cy="475488"/>
          </a:xfrm>
          <a:prstGeom prst="rect">
            <a:avLst/>
          </a:prstGeom>
          <a:noFill/>
        </p:spPr>
        <p:txBody>
          <a:bodyPr wrap="square" lIns="0" rIns="0" tIns="0" bIns="0" anchor="ctr"/>
          <a:lstStyle/>
          <a:p>
            <a:pPr algn="l">
              <a:spcAft>
                <a:spcPts val="0"/>
              </a:spcAft>
            </a:pPr>
            <a:r>
              <a:rPr sz="800" b="0" i="0">
                <a:solidFill>
                  <a:srgbClr val="526176"/>
                </a:solidFill>
                <a:latin typeface="Arial"/>
              </a:rPr>
              <a:t>Medication status</a:t>
            </a:r>
          </a:p>
          <a:p>
            <a:pPr algn="l">
              <a:spcAft>
                <a:spcPts val="0"/>
              </a:spcAft>
            </a:pPr>
            <a:r>
              <a:rPr sz="950" b="1" i="0">
                <a:solidFill>
                  <a:srgbClr val="172033"/>
                </a:solidFill>
                <a:latin typeface="Arial"/>
              </a:rPr>
              <a:t>active</a:t>
            </a:r>
          </a:p>
        </p:txBody>
      </p:sp>
      <p:sp>
        <p:nvSpPr>
          <p:cNvPr id="28" name="Rounded Rectangle 27"/>
          <p:cNvSpPr/>
          <p:nvPr/>
        </p:nvSpPr>
        <p:spPr>
          <a:xfrm>
            <a:off x="6629400" y="4005072"/>
            <a:ext cx="1536192" cy="73152"/>
          </a:xfrm>
          <a:prstGeom prst="roundRect">
            <a:avLst>
              <a:gd name="adj" fmla="val 50000"/>
            </a:avLst>
          </a:prstGeom>
          <a:solidFill>
            <a:srgbClr val="E6EBF1"/>
          </a:solidFill>
          <a:ln>
            <a:noFill/>
          </a:ln>
        </p:spPr>
        <p:txBody>
          <a:bodyPr rtlCol="0" anchor="ctr"/>
          <a:lstStyle/>
          <a:p/>
        </p:txBody>
      </p:sp>
      <p:sp>
        <p:nvSpPr>
          <p:cNvPr id="29" name="Rounded Rectangle 28"/>
          <p:cNvSpPr/>
          <p:nvPr/>
        </p:nvSpPr>
        <p:spPr>
          <a:xfrm>
            <a:off x="6629400" y="4352544"/>
            <a:ext cx="1097280" cy="73152"/>
          </a:xfrm>
          <a:prstGeom prst="roundRect">
            <a:avLst>
              <a:gd name="adj" fmla="val 50000"/>
            </a:avLst>
          </a:prstGeom>
          <a:solidFill>
            <a:srgbClr val="E6EBF1"/>
          </a:solidFill>
          <a:ln>
            <a:noFill/>
          </a:ln>
        </p:spPr>
        <p:txBody>
          <a:bodyPr rtlCol="0" anchor="ctr"/>
          <a:lstStyle/>
          <a:p/>
        </p:txBody>
      </p:sp>
      <p:sp>
        <p:nvSpPr>
          <p:cNvPr id="30" name="Rounded Rectangle 29"/>
          <p:cNvSpPr/>
          <p:nvPr/>
        </p:nvSpPr>
        <p:spPr>
          <a:xfrm>
            <a:off x="9079992" y="2331720"/>
            <a:ext cx="2194560" cy="2377440"/>
          </a:xfrm>
          <a:prstGeom prst="roundRect">
            <a:avLst>
              <a:gd name="adj" fmla="val 5000"/>
            </a:avLst>
          </a:prstGeom>
          <a:solidFill>
            <a:srgbClr val="FFFFFF"/>
          </a:solidFill>
          <a:ln w="9525">
            <a:solidFill>
              <a:srgbClr val="DCE3EC"/>
            </a:solidFill>
          </a:ln>
        </p:spPr>
        <p:txBody>
          <a:bodyPr rtlCol="0" anchor="ctr"/>
          <a:lstStyle/>
          <a:p/>
        </p:txBody>
      </p:sp>
      <p:sp>
        <p:nvSpPr>
          <p:cNvPr id="31" name="TextBox 30"/>
          <p:cNvSpPr txBox="1"/>
          <p:nvPr/>
        </p:nvSpPr>
        <p:spPr>
          <a:xfrm>
            <a:off x="9262872" y="2514600"/>
            <a:ext cx="1828800" cy="228600"/>
          </a:xfrm>
          <a:prstGeom prst="rect">
            <a:avLst/>
          </a:prstGeom>
          <a:noFill/>
        </p:spPr>
        <p:txBody>
          <a:bodyPr wrap="square" lIns="0" rIns="0" tIns="0" bIns="0" anchor="t"/>
          <a:lstStyle/>
          <a:p>
            <a:pPr algn="l">
              <a:spcAft>
                <a:spcPts val="0"/>
              </a:spcAft>
            </a:pPr>
            <a:r>
              <a:rPr sz="900" b="1" i="0" spc="120">
                <a:solidFill>
                  <a:srgbClr val="172033"/>
                </a:solidFill>
                <a:latin typeface="Arial"/>
              </a:rPr>
              <a:t>RECORD B</a:t>
            </a:r>
          </a:p>
        </p:txBody>
      </p:sp>
      <p:sp>
        <p:nvSpPr>
          <p:cNvPr id="32" name="TextBox 31"/>
          <p:cNvSpPr txBox="1"/>
          <p:nvPr/>
        </p:nvSpPr>
        <p:spPr>
          <a:xfrm>
            <a:off x="9262872" y="2743200"/>
            <a:ext cx="1828800" cy="182880"/>
          </a:xfrm>
          <a:prstGeom prst="rect">
            <a:avLst/>
          </a:prstGeom>
          <a:noFill/>
        </p:spPr>
        <p:txBody>
          <a:bodyPr wrap="square" lIns="0" rIns="0" tIns="0" bIns="0" anchor="t"/>
          <a:lstStyle/>
          <a:p>
            <a:pPr algn="l">
              <a:spcAft>
                <a:spcPts val="0"/>
              </a:spcAft>
            </a:pPr>
            <a:r>
              <a:rPr sz="850" b="0" i="0">
                <a:solidFill>
                  <a:srgbClr val="526176"/>
                </a:solidFill>
                <a:latin typeface="Arial"/>
              </a:rPr>
              <a:t>Medication list</a:t>
            </a:r>
          </a:p>
        </p:txBody>
      </p:sp>
      <p:sp>
        <p:nvSpPr>
          <p:cNvPr id="33" name="Rounded Rectangle 32"/>
          <p:cNvSpPr/>
          <p:nvPr/>
        </p:nvSpPr>
        <p:spPr>
          <a:xfrm>
            <a:off x="9262872" y="3163824"/>
            <a:ext cx="1645920" cy="73152"/>
          </a:xfrm>
          <a:prstGeom prst="roundRect">
            <a:avLst>
              <a:gd name="adj" fmla="val 50000"/>
            </a:avLst>
          </a:prstGeom>
          <a:solidFill>
            <a:srgbClr val="E6EBF1"/>
          </a:solidFill>
          <a:ln>
            <a:noFill/>
          </a:ln>
        </p:spPr>
        <p:txBody>
          <a:bodyPr rtlCol="0" anchor="ctr"/>
          <a:lstStyle/>
          <a:p/>
        </p:txBody>
      </p:sp>
      <p:sp>
        <p:nvSpPr>
          <p:cNvPr id="34" name="Rounded Rectangle 33"/>
          <p:cNvSpPr/>
          <p:nvPr/>
        </p:nvSpPr>
        <p:spPr>
          <a:xfrm>
            <a:off x="9262872" y="3511296"/>
            <a:ext cx="1316736" cy="73152"/>
          </a:xfrm>
          <a:prstGeom prst="roundRect">
            <a:avLst>
              <a:gd name="adj" fmla="val 50000"/>
            </a:avLst>
          </a:prstGeom>
          <a:solidFill>
            <a:srgbClr val="E6EBF1"/>
          </a:solidFill>
          <a:ln>
            <a:noFill/>
          </a:ln>
        </p:spPr>
        <p:txBody>
          <a:bodyPr rtlCol="0" anchor="ctr"/>
          <a:lstStyle/>
          <a:p/>
        </p:txBody>
      </p:sp>
      <p:sp>
        <p:nvSpPr>
          <p:cNvPr id="35" name="Rounded Rectangle 34"/>
          <p:cNvSpPr/>
          <p:nvPr/>
        </p:nvSpPr>
        <p:spPr>
          <a:xfrm>
            <a:off x="9208008" y="3739896"/>
            <a:ext cx="1938528" cy="475488"/>
          </a:xfrm>
          <a:prstGeom prst="roundRect">
            <a:avLst>
              <a:gd name="adj" fmla="val 11538"/>
            </a:avLst>
          </a:prstGeom>
          <a:solidFill>
            <a:srgbClr val="4C8DFF">
              <a:alpha val="25000"/>
            </a:srgbClr>
          </a:solidFill>
          <a:ln>
            <a:noFill/>
          </a:ln>
        </p:spPr>
        <p:txBody>
          <a:bodyPr rtlCol="0" anchor="ctr"/>
          <a:lstStyle/>
          <a:p/>
        </p:txBody>
      </p:sp>
      <p:sp>
        <p:nvSpPr>
          <p:cNvPr id="36" name="Rectangle 35"/>
          <p:cNvSpPr/>
          <p:nvPr/>
        </p:nvSpPr>
        <p:spPr>
          <a:xfrm>
            <a:off x="9208008" y="3739896"/>
            <a:ext cx="45720" cy="475488"/>
          </a:xfrm>
          <a:prstGeom prst="rect">
            <a:avLst/>
          </a:prstGeom>
          <a:solidFill>
            <a:srgbClr val="4C8DFF"/>
          </a:solidFill>
          <a:ln>
            <a:noFill/>
          </a:ln>
        </p:spPr>
        <p:txBody>
          <a:bodyPr rtlCol="0" anchor="ctr"/>
          <a:lstStyle/>
          <a:p/>
        </p:txBody>
      </p:sp>
      <p:sp>
        <p:nvSpPr>
          <p:cNvPr id="37" name="TextBox 36"/>
          <p:cNvSpPr txBox="1"/>
          <p:nvPr/>
        </p:nvSpPr>
        <p:spPr>
          <a:xfrm>
            <a:off x="9336024" y="3739896"/>
            <a:ext cx="1783080" cy="475488"/>
          </a:xfrm>
          <a:prstGeom prst="rect">
            <a:avLst/>
          </a:prstGeom>
          <a:noFill/>
        </p:spPr>
        <p:txBody>
          <a:bodyPr wrap="square" lIns="0" rIns="0" tIns="0" bIns="0" anchor="ctr"/>
          <a:lstStyle/>
          <a:p>
            <a:pPr algn="l">
              <a:spcAft>
                <a:spcPts val="0"/>
              </a:spcAft>
            </a:pPr>
            <a:r>
              <a:rPr sz="800" b="0" i="0">
                <a:solidFill>
                  <a:srgbClr val="526176"/>
                </a:solidFill>
                <a:latin typeface="Arial"/>
              </a:rPr>
              <a:t>Medication status</a:t>
            </a:r>
          </a:p>
          <a:p>
            <a:pPr algn="l">
              <a:spcAft>
                <a:spcPts val="0"/>
              </a:spcAft>
            </a:pPr>
            <a:r>
              <a:rPr sz="950" b="1" i="0">
                <a:solidFill>
                  <a:srgbClr val="172033"/>
                </a:solidFill>
                <a:latin typeface="Arial"/>
              </a:rPr>
              <a:t>discontinued</a:t>
            </a:r>
          </a:p>
        </p:txBody>
      </p:sp>
      <p:sp>
        <p:nvSpPr>
          <p:cNvPr id="38" name="Rounded Rectangle 37"/>
          <p:cNvSpPr/>
          <p:nvPr/>
        </p:nvSpPr>
        <p:spPr>
          <a:xfrm>
            <a:off x="9262872" y="4352544"/>
            <a:ext cx="1097280" cy="73152"/>
          </a:xfrm>
          <a:prstGeom prst="roundRect">
            <a:avLst>
              <a:gd name="adj" fmla="val 50000"/>
            </a:avLst>
          </a:prstGeom>
          <a:solidFill>
            <a:srgbClr val="E6EBF1"/>
          </a:solidFill>
          <a:ln>
            <a:noFill/>
          </a:ln>
        </p:spPr>
        <p:txBody>
          <a:bodyPr rtlCol="0" anchor="ctr"/>
          <a:lstStyle/>
          <a:p/>
        </p:txBody>
      </p:sp>
      <p:cxnSp>
        <p:nvCxnSpPr>
          <p:cNvPr id="39" name="Evidence line"/>
          <p:cNvCxnSpPr/>
          <p:nvPr/>
        </p:nvCxnSpPr>
        <p:spPr>
          <a:xfrm>
            <a:off x="8513063" y="3630168"/>
            <a:ext cx="694945" cy="347471"/>
          </a:xfrm>
          <a:prstGeom prst="line">
            <a:avLst/>
          </a:prstGeom>
          <a:ln w="25400">
            <a:solidFill>
              <a:srgbClr val="F2A65A"/>
            </a:solidFill>
          </a:ln>
        </p:spPr>
      </p:cxnSp>
      <p:sp>
        <p:nvSpPr>
          <p:cNvPr id="40" name="Oval 39"/>
          <p:cNvSpPr/>
          <p:nvPr/>
        </p:nvSpPr>
        <p:spPr>
          <a:xfrm>
            <a:off x="8714232" y="3657600"/>
            <a:ext cx="292608" cy="292608"/>
          </a:xfrm>
          <a:prstGeom prst="ellipse">
            <a:avLst/>
          </a:prstGeom>
          <a:solidFill>
            <a:srgbClr val="F2A65A"/>
          </a:solidFill>
          <a:ln>
            <a:noFill/>
          </a:ln>
        </p:spPr>
        <p:txBody>
          <a:bodyPr rtlCol="0" anchor="ctr" wrap="square" lIns="0" rIns="0" tIns="0" bIns="0"/>
          <a:lstStyle/>
          <a:p>
            <a:pPr algn="ctr">
              <a:spcAft>
                <a:spcPts val="0"/>
              </a:spcAft>
            </a:pPr>
            <a:r>
              <a:rPr sz="1200" b="1" i="0">
                <a:solidFill>
                  <a:srgbClr val="FFFFFF"/>
                </a:solidFill>
                <a:latin typeface="Arial"/>
              </a:rPr>
              <a:t>≠</a:t>
            </a:r>
          </a:p>
        </p:txBody>
      </p:sp>
      <p:sp>
        <p:nvSpPr>
          <p:cNvPr id="41" name="Rounded Rectangle 40"/>
          <p:cNvSpPr/>
          <p:nvPr/>
        </p:nvSpPr>
        <p:spPr>
          <a:xfrm>
            <a:off x="6446520" y="4910328"/>
            <a:ext cx="1325880" cy="329184"/>
          </a:xfrm>
          <a:prstGeom prst="roundRect">
            <a:avLst>
              <a:gd name="adj" fmla="val 50000"/>
            </a:avLst>
          </a:prstGeom>
          <a:solidFill>
            <a:srgbClr val="EAF2FF"/>
          </a:solidFill>
          <a:ln>
            <a:noFill/>
          </a:ln>
        </p:spPr>
        <p:txBody>
          <a:bodyPr rtlCol="0" anchor="ctr" wrap="square" lIns="0" rIns="0" tIns="0" bIns="0"/>
          <a:lstStyle/>
          <a:p>
            <a:pPr algn="ctr">
              <a:spcAft>
                <a:spcPts val="0"/>
              </a:spcAft>
            </a:pPr>
            <a:r>
              <a:rPr sz="850" b="1" i="0">
                <a:solidFill>
                  <a:srgbClr val="1F4E9C"/>
                </a:solidFill>
                <a:latin typeface="Arial"/>
              </a:rPr>
              <a:t>MULTIPLE RECORDS</a:t>
            </a:r>
          </a:p>
        </p:txBody>
      </p:sp>
      <p:cxnSp>
        <p:nvCxnSpPr>
          <p:cNvPr id="42" name="Connector 41"/>
          <p:cNvCxnSpPr/>
          <p:nvPr/>
        </p:nvCxnSpPr>
        <p:spPr>
          <a:xfrm>
            <a:off x="7808975" y="5074920"/>
            <a:ext cx="146304" cy="0"/>
          </a:xfrm>
          <a:prstGeom prst="line">
            <a:avLst/>
          </a:prstGeom>
          <a:ln w="15875">
            <a:solidFill>
              <a:srgbClr val="526176"/>
            </a:solidFill>
            <a:tailEnd type="triangle" w="med" len="med"/>
          </a:ln>
        </p:spPr>
      </p:cxnSp>
      <p:sp>
        <p:nvSpPr>
          <p:cNvPr id="43" name="Rounded Rectangle 42"/>
          <p:cNvSpPr/>
          <p:nvPr/>
        </p:nvSpPr>
        <p:spPr>
          <a:xfrm>
            <a:off x="7991856" y="4910328"/>
            <a:ext cx="1828800" cy="329184"/>
          </a:xfrm>
          <a:prstGeom prst="roundRect">
            <a:avLst>
              <a:gd name="adj" fmla="val 50000"/>
            </a:avLst>
          </a:prstGeom>
          <a:solidFill>
            <a:srgbClr val="FDF1E4"/>
          </a:solidFill>
          <a:ln>
            <a:noFill/>
          </a:ln>
        </p:spPr>
        <p:txBody>
          <a:bodyPr rtlCol="0" anchor="ctr" wrap="square" lIns="0" rIns="0" tIns="0" bIns="0"/>
          <a:lstStyle/>
          <a:p>
            <a:pPr algn="ctr">
              <a:spcAft>
                <a:spcPts val="0"/>
              </a:spcAft>
            </a:pPr>
            <a:r>
              <a:rPr sz="850" b="1" i="0">
                <a:solidFill>
                  <a:srgbClr val="9A5A14"/>
                </a:solidFill>
                <a:latin typeface="Arial"/>
              </a:rPr>
              <a:t>INCONSISTENT STATEMENTS</a:t>
            </a:r>
          </a:p>
        </p:txBody>
      </p:sp>
      <p:cxnSp>
        <p:nvCxnSpPr>
          <p:cNvPr id="44" name="Connector 43"/>
          <p:cNvCxnSpPr/>
          <p:nvPr/>
        </p:nvCxnSpPr>
        <p:spPr>
          <a:xfrm>
            <a:off x="9857232" y="5074920"/>
            <a:ext cx="146304" cy="0"/>
          </a:xfrm>
          <a:prstGeom prst="line">
            <a:avLst/>
          </a:prstGeom>
          <a:ln w="15875">
            <a:solidFill>
              <a:srgbClr val="526176"/>
            </a:solidFill>
            <a:tailEnd type="triangle" w="med" len="med"/>
          </a:ln>
        </p:spPr>
      </p:cxnSp>
      <p:sp>
        <p:nvSpPr>
          <p:cNvPr id="45" name="Rounded Rectangle 44"/>
          <p:cNvSpPr/>
          <p:nvPr/>
        </p:nvSpPr>
        <p:spPr>
          <a:xfrm>
            <a:off x="10040112" y="4910328"/>
            <a:ext cx="1417320" cy="329184"/>
          </a:xfrm>
          <a:prstGeom prst="roundRect">
            <a:avLst>
              <a:gd name="adj" fmla="val 50000"/>
            </a:avLst>
          </a:prstGeom>
          <a:solidFill>
            <a:srgbClr val="E3F6F3"/>
          </a:solidFill>
          <a:ln>
            <a:noFill/>
          </a:ln>
        </p:spPr>
        <p:txBody>
          <a:bodyPr rtlCol="0" anchor="ctr" wrap="square" lIns="0" rIns="0" tIns="0" bIns="0"/>
          <a:lstStyle/>
          <a:p>
            <a:pPr algn="ctr">
              <a:spcAft>
                <a:spcPts val="0"/>
              </a:spcAft>
            </a:pPr>
            <a:r>
              <a:rPr sz="850" b="1" i="0">
                <a:solidFill>
                  <a:srgbClr val="0E6E63"/>
                </a:solidFill>
                <a:latin typeface="Arial"/>
              </a:rPr>
              <a:t>REVIEW REQUIRED</a:t>
            </a:r>
          </a:p>
        </p:txBody>
      </p:sp>
      <p:sp>
        <p:nvSpPr>
          <p:cNvPr id="46" name="TextBox 45"/>
          <p:cNvSpPr txBox="1"/>
          <p:nvPr/>
        </p:nvSpPr>
        <p:spPr>
          <a:xfrm>
            <a:off x="6446520" y="5440680"/>
            <a:ext cx="4828032" cy="502920"/>
          </a:xfrm>
          <a:prstGeom prst="rect">
            <a:avLst/>
          </a:prstGeom>
          <a:noFill/>
        </p:spPr>
        <p:txBody>
          <a:bodyPr wrap="square" lIns="0" rIns="0" tIns="0" bIns="0" anchor="t"/>
          <a:lstStyle/>
          <a:p>
            <a:pPr algn="l">
              <a:spcAft>
                <a:spcPts val="0"/>
              </a:spcAft>
            </a:pPr>
            <a:r>
              <a:rPr sz="1150" b="0" i="1">
                <a:solidFill>
                  <a:srgbClr val="526176"/>
                </a:solidFill>
                <a:latin typeface="Arial"/>
              </a:rPr>
              <a:t>A difference is not always an error: dates and context may explain it. A qualified reviewer decides.</a:t>
            </a:r>
          </a:p>
        </p:txBody>
      </p:sp>
      <p:sp>
        <p:nvSpPr>
          <p:cNvPr id="47" name="TextBox 46"/>
          <p:cNvSpPr txBox="1"/>
          <p:nvPr/>
        </p:nvSpPr>
        <p:spPr>
          <a:xfrm>
            <a:off x="640080" y="6400800"/>
            <a:ext cx="4572000" cy="201168"/>
          </a:xfrm>
          <a:prstGeom prst="rect">
            <a:avLst/>
          </a:prstGeom>
          <a:noFill/>
        </p:spPr>
        <p:txBody>
          <a:bodyPr wrap="square" lIns="0" rIns="0" tIns="0" bIns="0" anchor="t"/>
          <a:lstStyle/>
          <a:p>
            <a:pPr algn="l">
              <a:spcAft>
                <a:spcPts val="0"/>
              </a:spcAft>
            </a:pPr>
            <a:r>
              <a:rPr sz="950" b="1" i="0" spc="100">
                <a:solidFill>
                  <a:srgbClr val="526176"/>
                </a:solidFill>
                <a:latin typeface="Arial"/>
              </a:rPr>
              <a:t>CLINISCOPE</a:t>
            </a:r>
            <a:r>
              <a:rPr sz="950" b="0" i="0" spc="60">
                <a:solidFill>
                  <a:srgbClr val="526176"/>
                </a:solidFill>
                <a:latin typeface="Arial"/>
              </a:rPr>
              <a:t>   |   PS-11R3</a:t>
            </a:r>
          </a:p>
        </p:txBody>
      </p:sp>
      <p:sp>
        <p:nvSpPr>
          <p:cNvPr id="48" name="TextBox 47"/>
          <p:cNvSpPr txBox="1"/>
          <p:nvPr/>
        </p:nvSpPr>
        <p:spPr>
          <a:xfrm>
            <a:off x="10180015" y="6400800"/>
            <a:ext cx="1371600" cy="201168"/>
          </a:xfrm>
          <a:prstGeom prst="rect">
            <a:avLst/>
          </a:prstGeom>
          <a:noFill/>
        </p:spPr>
        <p:txBody>
          <a:bodyPr wrap="square" lIns="0" rIns="0" tIns="0" bIns="0" anchor="t"/>
          <a:lstStyle/>
          <a:p>
            <a:pPr algn="r">
              <a:spcAft>
                <a:spcPts val="0"/>
              </a:spcAft>
            </a:pPr>
            <a:r>
              <a:rPr sz="950" b="0" i="0" spc="60">
                <a:solidFill>
                  <a:srgbClr val="526176"/>
                </a:solidFill>
                <a:latin typeface="Arial"/>
              </a:rPr>
              <a:t>02 / 08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AFC"/>
        </a:solidFill>
        <a:effectLst/>
      </p:bgPr>
    </p:bg>
    <p:spTree>
      <p:nvGrpSpPr>
        <p:cNvPr id="1" name=""/>
        <p:cNvGrpSpPr/>
        <p:nvPr/>
      </p:nvGrpSpPr>
      <p:grpSpPr/>
      <p:sp>
        <p:nvSpPr>
          <p:cNvPr id="2" name="TextBox 1"/>
          <p:cNvSpPr txBox="1"/>
          <p:nvPr/>
        </p:nvSpPr>
        <p:spPr>
          <a:xfrm>
            <a:off x="640080" y="457200"/>
            <a:ext cx="7315200" cy="228600"/>
          </a:xfrm>
          <a:prstGeom prst="rect">
            <a:avLst/>
          </a:prstGeom>
          <a:noFill/>
        </p:spPr>
        <p:txBody>
          <a:bodyPr wrap="square" lIns="0" rIns="0" tIns="0" bIns="0" anchor="t"/>
          <a:lstStyle/>
          <a:p>
            <a:pPr algn="l">
              <a:spcAft>
                <a:spcPts val="0"/>
              </a:spcAft>
            </a:pPr>
            <a:r>
              <a:rPr sz="1050" b="1" i="0" spc="120">
                <a:solidFill>
                  <a:srgbClr val="19B6A4"/>
                </a:solidFill>
                <a:latin typeface="Arial"/>
              </a:rPr>
              <a:t>03  ·  PROPOSED SOLUTION</a:t>
            </a:r>
          </a:p>
        </p:txBody>
      </p:sp>
      <p:sp>
        <p:nvSpPr>
          <p:cNvPr id="3" name="Title"/>
          <p:cNvSpPr txBox="1"/>
          <p:nvPr/>
        </p:nvSpPr>
        <p:spPr>
          <a:xfrm>
            <a:off x="640080" y="749808"/>
            <a:ext cx="10911535" cy="548640"/>
          </a:xfrm>
          <a:prstGeom prst="rect">
            <a:avLst/>
          </a:prstGeom>
          <a:noFill/>
        </p:spPr>
        <p:txBody>
          <a:bodyPr wrap="square" lIns="0" rIns="0" tIns="0" bIns="0" anchor="t"/>
          <a:lstStyle/>
          <a:p>
            <a:pPr algn="l">
              <a:spcAft>
                <a:spcPts val="0"/>
              </a:spcAft>
            </a:pPr>
            <a:r>
              <a:rPr sz="2800" b="1" i="0">
                <a:solidFill>
                  <a:srgbClr val="172033"/>
                </a:solidFill>
                <a:latin typeface="Arial"/>
              </a:rPr>
              <a:t>CLINISCOPE turns discrepancies into reviewable evidence</a:t>
            </a:r>
          </a:p>
        </p:txBody>
      </p:sp>
      <p:sp>
        <p:nvSpPr>
          <p:cNvPr id="4" name="Rounded Rectangle 3"/>
          <p:cNvSpPr/>
          <p:nvPr/>
        </p:nvSpPr>
        <p:spPr>
          <a:xfrm>
            <a:off x="640080" y="1691640"/>
            <a:ext cx="1965960" cy="2606040"/>
          </a:xfrm>
          <a:prstGeom prst="roundRect">
            <a:avLst>
              <a:gd name="adj" fmla="val 6511"/>
            </a:avLst>
          </a:prstGeom>
          <a:solidFill>
            <a:srgbClr val="FFFFFF"/>
          </a:solidFill>
          <a:ln w="9525">
            <a:solidFill>
              <a:srgbClr val="DCE3EC"/>
            </a:solidFill>
          </a:ln>
        </p:spPr>
        <p:txBody>
          <a:bodyPr rtlCol="0" anchor="ctr"/>
          <a:lstStyle/>
          <a:p/>
        </p:txBody>
      </p:sp>
      <p:sp>
        <p:nvSpPr>
          <p:cNvPr id="5" name="Oval 4"/>
          <p:cNvSpPr/>
          <p:nvPr/>
        </p:nvSpPr>
        <p:spPr>
          <a:xfrm>
            <a:off x="868680" y="1920240"/>
            <a:ext cx="457200" cy="457200"/>
          </a:xfrm>
          <a:prstGeom prst="ellipse">
            <a:avLst/>
          </a:prstGeom>
          <a:solidFill>
            <a:srgbClr val="4C8DFF"/>
          </a:solidFill>
          <a:ln>
            <a:noFill/>
          </a:ln>
        </p:spPr>
        <p:txBody>
          <a:bodyPr rtlCol="0" anchor="ctr" wrap="square" lIns="0" rIns="0" tIns="0" bIns="0"/>
          <a:lstStyle/>
          <a:p>
            <a:pPr algn="ctr">
              <a:spcAft>
                <a:spcPts val="0"/>
              </a:spcAft>
            </a:pPr>
            <a:r>
              <a:rPr sz="1200" b="1" i="0">
                <a:solidFill>
                  <a:srgbClr val="F8FAFC"/>
                </a:solidFill>
                <a:latin typeface="Arial"/>
              </a:rPr>
              <a:t>01</a:t>
            </a:r>
          </a:p>
        </p:txBody>
      </p:sp>
      <p:sp>
        <p:nvSpPr>
          <p:cNvPr id="6" name="TextBox 5"/>
          <p:cNvSpPr txBox="1"/>
          <p:nvPr/>
        </p:nvSpPr>
        <p:spPr>
          <a:xfrm>
            <a:off x="868680" y="2560320"/>
            <a:ext cx="1600200" cy="365760"/>
          </a:xfrm>
          <a:prstGeom prst="rect">
            <a:avLst/>
          </a:prstGeom>
          <a:noFill/>
        </p:spPr>
        <p:txBody>
          <a:bodyPr wrap="square" lIns="0" rIns="0" tIns="0" bIns="0" anchor="t"/>
          <a:lstStyle/>
          <a:p>
            <a:pPr algn="l">
              <a:spcAft>
                <a:spcPts val="0"/>
              </a:spcAft>
            </a:pPr>
            <a:r>
              <a:rPr sz="1600" b="1" i="0" spc="80">
                <a:solidFill>
                  <a:srgbClr val="172033"/>
                </a:solidFill>
                <a:latin typeface="Arial"/>
              </a:rPr>
              <a:t>INGEST</a:t>
            </a:r>
          </a:p>
        </p:txBody>
      </p:sp>
      <p:sp>
        <p:nvSpPr>
          <p:cNvPr id="7" name="TextBox 6"/>
          <p:cNvSpPr txBox="1"/>
          <p:nvPr/>
        </p:nvSpPr>
        <p:spPr>
          <a:xfrm>
            <a:off x="868680" y="2971800"/>
            <a:ext cx="1554480" cy="1280160"/>
          </a:xfrm>
          <a:prstGeom prst="rect">
            <a:avLst/>
          </a:prstGeom>
          <a:noFill/>
        </p:spPr>
        <p:txBody>
          <a:bodyPr wrap="square" lIns="0" rIns="0" tIns="0" bIns="0" anchor="t"/>
          <a:lstStyle/>
          <a:p>
            <a:pPr algn="l">
              <a:lnSpc>
                <a:spcPct val="112000"/>
              </a:lnSpc>
              <a:spcAft>
                <a:spcPts val="0"/>
              </a:spcAft>
            </a:pPr>
            <a:r>
              <a:rPr sz="1250" b="0" i="0">
                <a:solidFill>
                  <a:srgbClr val="526176"/>
                </a:solidFill>
                <a:latin typeface="Arial"/>
              </a:rPr>
              <a:t>PDF, scanned PDF, PNG/JPEG, TXT and DOCX, validated and de-duplicated.</a:t>
            </a:r>
          </a:p>
        </p:txBody>
      </p:sp>
      <p:cxnSp>
        <p:nvCxnSpPr>
          <p:cNvPr id="8" name="Connector 7"/>
          <p:cNvCxnSpPr/>
          <p:nvPr/>
        </p:nvCxnSpPr>
        <p:spPr>
          <a:xfrm>
            <a:off x="2651759" y="2990088"/>
            <a:ext cx="178994" cy="0"/>
          </a:xfrm>
          <a:prstGeom prst="line">
            <a:avLst/>
          </a:prstGeom>
          <a:ln w="22225">
            <a:solidFill>
              <a:srgbClr val="19B6A4"/>
            </a:solidFill>
            <a:tailEnd type="triangle" w="med" len="med"/>
          </a:ln>
        </p:spPr>
      </p:cxnSp>
      <p:sp>
        <p:nvSpPr>
          <p:cNvPr id="9" name="Rounded Rectangle 8"/>
          <p:cNvSpPr/>
          <p:nvPr/>
        </p:nvSpPr>
        <p:spPr>
          <a:xfrm>
            <a:off x="2876473" y="1691640"/>
            <a:ext cx="1965960" cy="2606040"/>
          </a:xfrm>
          <a:prstGeom prst="roundRect">
            <a:avLst>
              <a:gd name="adj" fmla="val 6511"/>
            </a:avLst>
          </a:prstGeom>
          <a:solidFill>
            <a:srgbClr val="FFFFFF"/>
          </a:solidFill>
          <a:ln w="9525">
            <a:solidFill>
              <a:srgbClr val="DCE3EC"/>
            </a:solidFill>
          </a:ln>
        </p:spPr>
        <p:txBody>
          <a:bodyPr rtlCol="0" anchor="ctr"/>
          <a:lstStyle/>
          <a:p/>
        </p:txBody>
      </p:sp>
      <p:sp>
        <p:nvSpPr>
          <p:cNvPr id="10" name="Oval 9"/>
          <p:cNvSpPr/>
          <p:nvPr/>
        </p:nvSpPr>
        <p:spPr>
          <a:xfrm>
            <a:off x="3105073" y="1920240"/>
            <a:ext cx="457200" cy="457200"/>
          </a:xfrm>
          <a:prstGeom prst="ellipse">
            <a:avLst/>
          </a:prstGeom>
          <a:solidFill>
            <a:srgbClr val="4C8DFF"/>
          </a:solidFill>
          <a:ln>
            <a:noFill/>
          </a:ln>
        </p:spPr>
        <p:txBody>
          <a:bodyPr rtlCol="0" anchor="ctr" wrap="square" lIns="0" rIns="0" tIns="0" bIns="0"/>
          <a:lstStyle/>
          <a:p>
            <a:pPr algn="ctr">
              <a:spcAft>
                <a:spcPts val="0"/>
              </a:spcAft>
            </a:pPr>
            <a:r>
              <a:rPr sz="1200" b="1" i="0">
                <a:solidFill>
                  <a:srgbClr val="F8FAFC"/>
                </a:solidFill>
                <a:latin typeface="Arial"/>
              </a:rPr>
              <a:t>02</a:t>
            </a:r>
          </a:p>
        </p:txBody>
      </p:sp>
      <p:sp>
        <p:nvSpPr>
          <p:cNvPr id="11" name="TextBox 10"/>
          <p:cNvSpPr txBox="1"/>
          <p:nvPr/>
        </p:nvSpPr>
        <p:spPr>
          <a:xfrm>
            <a:off x="3105073" y="2560320"/>
            <a:ext cx="1600200" cy="365760"/>
          </a:xfrm>
          <a:prstGeom prst="rect">
            <a:avLst/>
          </a:prstGeom>
          <a:noFill/>
        </p:spPr>
        <p:txBody>
          <a:bodyPr wrap="square" lIns="0" rIns="0" tIns="0" bIns="0" anchor="t"/>
          <a:lstStyle/>
          <a:p>
            <a:pPr algn="l">
              <a:spcAft>
                <a:spcPts val="0"/>
              </a:spcAft>
            </a:pPr>
            <a:r>
              <a:rPr sz="1600" b="1" i="0" spc="80">
                <a:solidFill>
                  <a:srgbClr val="172033"/>
                </a:solidFill>
                <a:latin typeface="Arial"/>
              </a:rPr>
              <a:t>EXTRACT</a:t>
            </a:r>
          </a:p>
        </p:txBody>
      </p:sp>
      <p:sp>
        <p:nvSpPr>
          <p:cNvPr id="12" name="TextBox 11"/>
          <p:cNvSpPr txBox="1"/>
          <p:nvPr/>
        </p:nvSpPr>
        <p:spPr>
          <a:xfrm>
            <a:off x="3105073" y="2971800"/>
            <a:ext cx="1554480" cy="1280160"/>
          </a:xfrm>
          <a:prstGeom prst="rect">
            <a:avLst/>
          </a:prstGeom>
          <a:noFill/>
        </p:spPr>
        <p:txBody>
          <a:bodyPr wrap="square" lIns="0" rIns="0" tIns="0" bIns="0" anchor="t"/>
          <a:lstStyle/>
          <a:p>
            <a:pPr algn="l">
              <a:lnSpc>
                <a:spcPct val="112000"/>
              </a:lnSpc>
              <a:spcAft>
                <a:spcPts val="0"/>
              </a:spcAft>
            </a:pPr>
            <a:r>
              <a:rPr sz="1250" b="0" i="0">
                <a:solidFill>
                  <a:srgbClr val="526176"/>
                </a:solidFill>
                <a:latin typeface="Arial"/>
              </a:rPr>
              <a:t>pdf.js text layer, on-device OCR for scans, mammoth for DOCX.</a:t>
            </a:r>
          </a:p>
        </p:txBody>
      </p:sp>
      <p:cxnSp>
        <p:nvCxnSpPr>
          <p:cNvPr id="13" name="Connector 12"/>
          <p:cNvCxnSpPr/>
          <p:nvPr/>
        </p:nvCxnSpPr>
        <p:spPr>
          <a:xfrm>
            <a:off x="4888153" y="2990088"/>
            <a:ext cx="178994" cy="0"/>
          </a:xfrm>
          <a:prstGeom prst="line">
            <a:avLst/>
          </a:prstGeom>
          <a:ln w="22225">
            <a:solidFill>
              <a:srgbClr val="19B6A4"/>
            </a:solidFill>
            <a:tailEnd type="triangle" w="med" len="med"/>
          </a:ln>
        </p:spPr>
      </p:cxnSp>
      <p:sp>
        <p:nvSpPr>
          <p:cNvPr id="14" name="Rounded Rectangle 13"/>
          <p:cNvSpPr/>
          <p:nvPr/>
        </p:nvSpPr>
        <p:spPr>
          <a:xfrm>
            <a:off x="5112867" y="1691640"/>
            <a:ext cx="1965960" cy="2606040"/>
          </a:xfrm>
          <a:prstGeom prst="roundRect">
            <a:avLst>
              <a:gd name="adj" fmla="val 6511"/>
            </a:avLst>
          </a:prstGeom>
          <a:solidFill>
            <a:srgbClr val="FFFFFF"/>
          </a:solidFill>
          <a:ln w="9525">
            <a:solidFill>
              <a:srgbClr val="DCE3EC"/>
            </a:solidFill>
          </a:ln>
        </p:spPr>
        <p:txBody>
          <a:bodyPr rtlCol="0" anchor="ctr"/>
          <a:lstStyle/>
          <a:p/>
        </p:txBody>
      </p:sp>
      <p:sp>
        <p:nvSpPr>
          <p:cNvPr id="15" name="Oval 14"/>
          <p:cNvSpPr/>
          <p:nvPr/>
        </p:nvSpPr>
        <p:spPr>
          <a:xfrm>
            <a:off x="5341467" y="1920240"/>
            <a:ext cx="457200" cy="457200"/>
          </a:xfrm>
          <a:prstGeom prst="ellipse">
            <a:avLst/>
          </a:prstGeom>
          <a:solidFill>
            <a:srgbClr val="F2A65A"/>
          </a:solidFill>
          <a:ln>
            <a:noFill/>
          </a:ln>
        </p:spPr>
        <p:txBody>
          <a:bodyPr rtlCol="0" anchor="ctr" wrap="square" lIns="0" rIns="0" tIns="0" bIns="0"/>
          <a:lstStyle/>
          <a:p>
            <a:pPr algn="ctr">
              <a:spcAft>
                <a:spcPts val="0"/>
              </a:spcAft>
            </a:pPr>
            <a:r>
              <a:rPr sz="1200" b="1" i="0">
                <a:solidFill>
                  <a:srgbClr val="0B1220"/>
                </a:solidFill>
                <a:latin typeface="Arial"/>
              </a:rPr>
              <a:t>03</a:t>
            </a:r>
          </a:p>
        </p:txBody>
      </p:sp>
      <p:sp>
        <p:nvSpPr>
          <p:cNvPr id="16" name="TextBox 15"/>
          <p:cNvSpPr txBox="1"/>
          <p:nvPr/>
        </p:nvSpPr>
        <p:spPr>
          <a:xfrm>
            <a:off x="5341467" y="2560320"/>
            <a:ext cx="1600200" cy="365760"/>
          </a:xfrm>
          <a:prstGeom prst="rect">
            <a:avLst/>
          </a:prstGeom>
          <a:noFill/>
        </p:spPr>
        <p:txBody>
          <a:bodyPr wrap="square" lIns="0" rIns="0" tIns="0" bIns="0" anchor="t"/>
          <a:lstStyle/>
          <a:p>
            <a:pPr algn="l">
              <a:spcAft>
                <a:spcPts val="0"/>
              </a:spcAft>
            </a:pPr>
            <a:r>
              <a:rPr sz="1600" b="1" i="0" spc="80">
                <a:solidFill>
                  <a:srgbClr val="172033"/>
                </a:solidFill>
                <a:latin typeface="Arial"/>
              </a:rPr>
              <a:t>ANALYZE</a:t>
            </a:r>
          </a:p>
        </p:txBody>
      </p:sp>
      <p:sp>
        <p:nvSpPr>
          <p:cNvPr id="17" name="TextBox 16"/>
          <p:cNvSpPr txBox="1"/>
          <p:nvPr/>
        </p:nvSpPr>
        <p:spPr>
          <a:xfrm>
            <a:off x="5341467" y="2971800"/>
            <a:ext cx="1554480" cy="1280160"/>
          </a:xfrm>
          <a:prstGeom prst="rect">
            <a:avLst/>
          </a:prstGeom>
          <a:noFill/>
        </p:spPr>
        <p:txBody>
          <a:bodyPr wrap="square" lIns="0" rIns="0" tIns="0" bIns="0" anchor="t"/>
          <a:lstStyle/>
          <a:p>
            <a:pPr algn="l">
              <a:lnSpc>
                <a:spcPct val="112000"/>
              </a:lnSpc>
              <a:spcAft>
                <a:spcPts val="0"/>
              </a:spcAft>
            </a:pPr>
            <a:r>
              <a:rPr sz="1250" b="0" i="0">
                <a:solidFill>
                  <a:srgbClr val="526176"/>
                </a:solidFill>
                <a:latin typeface="Arial"/>
              </a:rPr>
              <a:t>Deterministic rules compare statements within a case. Optional AI suggestions*.</a:t>
            </a:r>
          </a:p>
        </p:txBody>
      </p:sp>
      <p:cxnSp>
        <p:nvCxnSpPr>
          <p:cNvPr id="18" name="Connector 17"/>
          <p:cNvCxnSpPr/>
          <p:nvPr/>
        </p:nvCxnSpPr>
        <p:spPr>
          <a:xfrm>
            <a:off x="7124547" y="2990088"/>
            <a:ext cx="178994" cy="0"/>
          </a:xfrm>
          <a:prstGeom prst="line">
            <a:avLst/>
          </a:prstGeom>
          <a:ln w="22225">
            <a:solidFill>
              <a:srgbClr val="19B6A4"/>
            </a:solidFill>
            <a:tailEnd type="triangle" w="med" len="med"/>
          </a:ln>
        </p:spPr>
      </p:cxnSp>
      <p:sp>
        <p:nvSpPr>
          <p:cNvPr id="19" name="Rounded Rectangle 18"/>
          <p:cNvSpPr/>
          <p:nvPr/>
        </p:nvSpPr>
        <p:spPr>
          <a:xfrm>
            <a:off x="7349261" y="1691640"/>
            <a:ext cx="1965960" cy="2606040"/>
          </a:xfrm>
          <a:prstGeom prst="roundRect">
            <a:avLst>
              <a:gd name="adj" fmla="val 6511"/>
            </a:avLst>
          </a:prstGeom>
          <a:solidFill>
            <a:srgbClr val="FFFFFF"/>
          </a:solidFill>
          <a:ln w="9525">
            <a:solidFill>
              <a:srgbClr val="DCE3EC"/>
            </a:solidFill>
          </a:ln>
        </p:spPr>
        <p:txBody>
          <a:bodyPr rtlCol="0" anchor="ctr"/>
          <a:lstStyle/>
          <a:p/>
        </p:txBody>
      </p:sp>
      <p:sp>
        <p:nvSpPr>
          <p:cNvPr id="20" name="Oval 19"/>
          <p:cNvSpPr/>
          <p:nvPr/>
        </p:nvSpPr>
        <p:spPr>
          <a:xfrm>
            <a:off x="7577861" y="1920240"/>
            <a:ext cx="457200" cy="457200"/>
          </a:xfrm>
          <a:prstGeom prst="ellipse">
            <a:avLst/>
          </a:prstGeom>
          <a:solidFill>
            <a:srgbClr val="82B7FF"/>
          </a:solidFill>
          <a:ln>
            <a:noFill/>
          </a:ln>
        </p:spPr>
        <p:txBody>
          <a:bodyPr rtlCol="0" anchor="ctr" wrap="square" lIns="0" rIns="0" tIns="0" bIns="0"/>
          <a:lstStyle/>
          <a:p>
            <a:pPr algn="ctr">
              <a:spcAft>
                <a:spcPts val="0"/>
              </a:spcAft>
            </a:pPr>
            <a:r>
              <a:rPr sz="1200" b="1" i="0">
                <a:solidFill>
                  <a:srgbClr val="0B1220"/>
                </a:solidFill>
                <a:latin typeface="Arial"/>
              </a:rPr>
              <a:t>04</a:t>
            </a:r>
          </a:p>
        </p:txBody>
      </p:sp>
      <p:sp>
        <p:nvSpPr>
          <p:cNvPr id="21" name="TextBox 20"/>
          <p:cNvSpPr txBox="1"/>
          <p:nvPr/>
        </p:nvSpPr>
        <p:spPr>
          <a:xfrm>
            <a:off x="7577861" y="2560320"/>
            <a:ext cx="1600200" cy="365760"/>
          </a:xfrm>
          <a:prstGeom prst="rect">
            <a:avLst/>
          </a:prstGeom>
          <a:noFill/>
        </p:spPr>
        <p:txBody>
          <a:bodyPr wrap="square" lIns="0" rIns="0" tIns="0" bIns="0" anchor="t"/>
          <a:lstStyle/>
          <a:p>
            <a:pPr algn="l">
              <a:spcAft>
                <a:spcPts val="0"/>
              </a:spcAft>
            </a:pPr>
            <a:r>
              <a:rPr sz="1600" b="1" i="0" spc="80">
                <a:solidFill>
                  <a:srgbClr val="172033"/>
                </a:solidFill>
                <a:latin typeface="Arial"/>
              </a:rPr>
              <a:t>TRACE</a:t>
            </a:r>
          </a:p>
        </p:txBody>
      </p:sp>
      <p:sp>
        <p:nvSpPr>
          <p:cNvPr id="22" name="TextBox 21"/>
          <p:cNvSpPr txBox="1"/>
          <p:nvPr/>
        </p:nvSpPr>
        <p:spPr>
          <a:xfrm>
            <a:off x="7577861" y="2971800"/>
            <a:ext cx="1554480" cy="1280160"/>
          </a:xfrm>
          <a:prstGeom prst="rect">
            <a:avLst/>
          </a:prstGeom>
          <a:noFill/>
        </p:spPr>
        <p:txBody>
          <a:bodyPr wrap="square" lIns="0" rIns="0" tIns="0" bIns="0" anchor="t"/>
          <a:lstStyle/>
          <a:p>
            <a:pPr algn="l">
              <a:lnSpc>
                <a:spcPct val="112000"/>
              </a:lnSpc>
              <a:spcAft>
                <a:spcPts val="0"/>
              </a:spcAft>
            </a:pPr>
            <a:r>
              <a:rPr sz="1250" b="0" i="0">
                <a:solidFill>
                  <a:srgbClr val="526176"/>
                </a:solidFill>
                <a:latin typeface="Arial"/>
              </a:rPr>
              <a:t>Verbatim quotes re-verified at exact offsets, with page and OCR confidence.</a:t>
            </a:r>
          </a:p>
        </p:txBody>
      </p:sp>
      <p:cxnSp>
        <p:nvCxnSpPr>
          <p:cNvPr id="23" name="Connector 22"/>
          <p:cNvCxnSpPr/>
          <p:nvPr/>
        </p:nvCxnSpPr>
        <p:spPr>
          <a:xfrm>
            <a:off x="9360941" y="2990088"/>
            <a:ext cx="178994" cy="0"/>
          </a:xfrm>
          <a:prstGeom prst="line">
            <a:avLst/>
          </a:prstGeom>
          <a:ln w="22225">
            <a:solidFill>
              <a:srgbClr val="19B6A4"/>
            </a:solidFill>
            <a:tailEnd type="triangle" w="med" len="med"/>
          </a:ln>
        </p:spPr>
      </p:cxnSp>
      <p:sp>
        <p:nvSpPr>
          <p:cNvPr id="24" name="Rounded Rectangle 23"/>
          <p:cNvSpPr/>
          <p:nvPr/>
        </p:nvSpPr>
        <p:spPr>
          <a:xfrm>
            <a:off x="9585655" y="1691640"/>
            <a:ext cx="1965960" cy="2606040"/>
          </a:xfrm>
          <a:prstGeom prst="roundRect">
            <a:avLst>
              <a:gd name="adj" fmla="val 6511"/>
            </a:avLst>
          </a:prstGeom>
          <a:solidFill>
            <a:srgbClr val="FFFFFF"/>
          </a:solidFill>
          <a:ln w="9525">
            <a:solidFill>
              <a:srgbClr val="DCE3EC"/>
            </a:solidFill>
          </a:ln>
        </p:spPr>
        <p:txBody>
          <a:bodyPr rtlCol="0" anchor="ctr"/>
          <a:lstStyle/>
          <a:p/>
        </p:txBody>
      </p:sp>
      <p:sp>
        <p:nvSpPr>
          <p:cNvPr id="25" name="Oval 24"/>
          <p:cNvSpPr/>
          <p:nvPr/>
        </p:nvSpPr>
        <p:spPr>
          <a:xfrm>
            <a:off x="9814255" y="1920240"/>
            <a:ext cx="457200" cy="457200"/>
          </a:xfrm>
          <a:prstGeom prst="ellipse">
            <a:avLst/>
          </a:prstGeom>
          <a:solidFill>
            <a:srgbClr val="19B6A4"/>
          </a:solidFill>
          <a:ln>
            <a:noFill/>
          </a:ln>
        </p:spPr>
        <p:txBody>
          <a:bodyPr rtlCol="0" anchor="ctr" wrap="square" lIns="0" rIns="0" tIns="0" bIns="0"/>
          <a:lstStyle/>
          <a:p>
            <a:pPr algn="ctr">
              <a:spcAft>
                <a:spcPts val="0"/>
              </a:spcAft>
            </a:pPr>
            <a:r>
              <a:rPr sz="1200" b="1" i="0">
                <a:solidFill>
                  <a:srgbClr val="F8FAFC"/>
                </a:solidFill>
                <a:latin typeface="Arial"/>
              </a:rPr>
              <a:t>05</a:t>
            </a:r>
          </a:p>
        </p:txBody>
      </p:sp>
      <p:sp>
        <p:nvSpPr>
          <p:cNvPr id="26" name="TextBox 25"/>
          <p:cNvSpPr txBox="1"/>
          <p:nvPr/>
        </p:nvSpPr>
        <p:spPr>
          <a:xfrm>
            <a:off x="9814255" y="2560320"/>
            <a:ext cx="1600200" cy="365760"/>
          </a:xfrm>
          <a:prstGeom prst="rect">
            <a:avLst/>
          </a:prstGeom>
          <a:noFill/>
        </p:spPr>
        <p:txBody>
          <a:bodyPr wrap="square" lIns="0" rIns="0" tIns="0" bIns="0" anchor="t"/>
          <a:lstStyle/>
          <a:p>
            <a:pPr algn="l">
              <a:spcAft>
                <a:spcPts val="0"/>
              </a:spcAft>
            </a:pPr>
            <a:r>
              <a:rPr sz="1600" b="1" i="0" spc="80">
                <a:solidFill>
                  <a:srgbClr val="172033"/>
                </a:solidFill>
                <a:latin typeface="Arial"/>
              </a:rPr>
              <a:t>REVIEW</a:t>
            </a:r>
          </a:p>
        </p:txBody>
      </p:sp>
      <p:sp>
        <p:nvSpPr>
          <p:cNvPr id="27" name="TextBox 26"/>
          <p:cNvSpPr txBox="1"/>
          <p:nvPr/>
        </p:nvSpPr>
        <p:spPr>
          <a:xfrm>
            <a:off x="9814255" y="2971800"/>
            <a:ext cx="1554480" cy="1280160"/>
          </a:xfrm>
          <a:prstGeom prst="rect">
            <a:avLst/>
          </a:prstGeom>
          <a:noFill/>
        </p:spPr>
        <p:txBody>
          <a:bodyPr wrap="square" lIns="0" rIns="0" tIns="0" bIns="0" anchor="t"/>
          <a:lstStyle/>
          <a:p>
            <a:pPr algn="l">
              <a:lnSpc>
                <a:spcPct val="112000"/>
              </a:lnSpc>
              <a:spcAft>
                <a:spcPts val="0"/>
              </a:spcAft>
            </a:pPr>
            <a:r>
              <a:rPr sz="1250" b="0" i="0">
                <a:solidFill>
                  <a:srgbClr val="526176"/>
                </a:solidFill>
                <a:latin typeface="Arial"/>
              </a:rPr>
              <a:t>A person confirms, resolves or dismisses. A reason is required and audited.</a:t>
            </a:r>
          </a:p>
        </p:txBody>
      </p:sp>
      <p:sp>
        <p:nvSpPr>
          <p:cNvPr id="28" name="Rounded Rectangle 27"/>
          <p:cNvSpPr/>
          <p:nvPr/>
        </p:nvSpPr>
        <p:spPr>
          <a:xfrm>
            <a:off x="640080" y="4572000"/>
            <a:ext cx="10911535" cy="1051560"/>
          </a:xfrm>
          <a:prstGeom prst="roundRect">
            <a:avLst>
              <a:gd name="adj" fmla="val 12173"/>
            </a:avLst>
          </a:prstGeom>
          <a:solidFill>
            <a:srgbClr val="0B1220"/>
          </a:solidFill>
          <a:ln>
            <a:noFill/>
          </a:ln>
        </p:spPr>
        <p:txBody>
          <a:bodyPr rtlCol="0" anchor="ctr"/>
          <a:lstStyle/>
          <a:p/>
        </p:txBody>
      </p:sp>
      <p:sp>
        <p:nvSpPr>
          <p:cNvPr id="29" name="Oval 28"/>
          <p:cNvSpPr/>
          <p:nvPr/>
        </p:nvSpPr>
        <p:spPr>
          <a:xfrm>
            <a:off x="978407" y="5024628"/>
            <a:ext cx="146304" cy="146304"/>
          </a:xfrm>
          <a:prstGeom prst="ellipse">
            <a:avLst/>
          </a:prstGeom>
          <a:solidFill>
            <a:srgbClr val="F2A65A"/>
          </a:solidFill>
          <a:ln>
            <a:noFill/>
          </a:ln>
        </p:spPr>
        <p:txBody>
          <a:bodyPr rtlCol="0" anchor="ctr"/>
          <a:lstStyle/>
          <a:p/>
        </p:txBody>
      </p:sp>
      <p:sp>
        <p:nvSpPr>
          <p:cNvPr id="30" name="TextBox 29"/>
          <p:cNvSpPr txBox="1"/>
          <p:nvPr/>
        </p:nvSpPr>
        <p:spPr>
          <a:xfrm>
            <a:off x="1325880" y="4823460"/>
            <a:ext cx="2743200" cy="228600"/>
          </a:xfrm>
          <a:prstGeom prst="rect">
            <a:avLst/>
          </a:prstGeom>
          <a:noFill/>
        </p:spPr>
        <p:txBody>
          <a:bodyPr wrap="square" lIns="0" rIns="0" tIns="0" bIns="0" anchor="t"/>
          <a:lstStyle/>
          <a:p>
            <a:pPr algn="l">
              <a:spcAft>
                <a:spcPts val="0"/>
              </a:spcAft>
            </a:pPr>
            <a:r>
              <a:rPr sz="950" b="1" i="0" spc="120">
                <a:solidFill>
                  <a:srgbClr val="19B6A4"/>
                </a:solidFill>
                <a:latin typeface="Arial"/>
              </a:rPr>
              <a:t>PRINCIPLE</a:t>
            </a:r>
          </a:p>
        </p:txBody>
      </p:sp>
      <p:sp>
        <p:nvSpPr>
          <p:cNvPr id="31" name="TextBox 30"/>
          <p:cNvSpPr txBox="1"/>
          <p:nvPr/>
        </p:nvSpPr>
        <p:spPr>
          <a:xfrm>
            <a:off x="1325880" y="5052060"/>
            <a:ext cx="9905695" cy="411480"/>
          </a:xfrm>
          <a:prstGeom prst="rect">
            <a:avLst/>
          </a:prstGeom>
          <a:noFill/>
        </p:spPr>
        <p:txBody>
          <a:bodyPr wrap="square" lIns="0" rIns="0" tIns="0" bIns="0" anchor="t"/>
          <a:lstStyle/>
          <a:p>
            <a:pPr algn="l">
              <a:spcAft>
                <a:spcPts val="0"/>
              </a:spcAft>
            </a:pPr>
            <a:r>
              <a:rPr sz="2000" b="1" i="0">
                <a:solidFill>
                  <a:srgbClr val="F8FAFC"/>
                </a:solidFill>
                <a:latin typeface="Arial"/>
              </a:rPr>
              <a:t>Detection is the beginning. Evidence and human review are essential.</a:t>
            </a:r>
          </a:p>
        </p:txBody>
      </p:sp>
      <p:sp>
        <p:nvSpPr>
          <p:cNvPr id="32" name="TextBox 31"/>
          <p:cNvSpPr txBox="1"/>
          <p:nvPr/>
        </p:nvSpPr>
        <p:spPr>
          <a:xfrm>
            <a:off x="640080" y="5788152"/>
            <a:ext cx="10911535" cy="457200"/>
          </a:xfrm>
          <a:prstGeom prst="rect">
            <a:avLst/>
          </a:prstGeom>
          <a:noFill/>
        </p:spPr>
        <p:txBody>
          <a:bodyPr wrap="square" lIns="0" rIns="0" tIns="0" bIns="0" anchor="t"/>
          <a:lstStyle/>
          <a:p>
            <a:pPr algn="l">
              <a:lnSpc>
                <a:spcPct val="110000"/>
              </a:lnSpc>
              <a:spcAft>
                <a:spcPts val="0"/>
              </a:spcAft>
            </a:pPr>
            <a:r>
              <a:rPr sz="1050" b="0" i="0">
                <a:solidFill>
                  <a:srgbClr val="526176"/>
                </a:solidFill>
                <a:latin typeface="Arial"/>
              </a:rPr>
              <a:t>* AI-assisted reasoning runs through the optional server. It is implemented and tested with a stand-in provider, not yet with a live model. CLINISCOPE never diagnoses or recommends treatment.</a:t>
            </a:r>
          </a:p>
        </p:txBody>
      </p:sp>
      <p:sp>
        <p:nvSpPr>
          <p:cNvPr id="33" name="TextBox 32"/>
          <p:cNvSpPr txBox="1"/>
          <p:nvPr/>
        </p:nvSpPr>
        <p:spPr>
          <a:xfrm>
            <a:off x="640080" y="6400800"/>
            <a:ext cx="4572000" cy="201168"/>
          </a:xfrm>
          <a:prstGeom prst="rect">
            <a:avLst/>
          </a:prstGeom>
          <a:noFill/>
        </p:spPr>
        <p:txBody>
          <a:bodyPr wrap="square" lIns="0" rIns="0" tIns="0" bIns="0" anchor="t"/>
          <a:lstStyle/>
          <a:p>
            <a:pPr algn="l">
              <a:spcAft>
                <a:spcPts val="0"/>
              </a:spcAft>
            </a:pPr>
            <a:r>
              <a:rPr sz="950" b="1" i="0" spc="100">
                <a:solidFill>
                  <a:srgbClr val="526176"/>
                </a:solidFill>
                <a:latin typeface="Arial"/>
              </a:rPr>
              <a:t>CLINISCOPE</a:t>
            </a:r>
            <a:r>
              <a:rPr sz="950" b="0" i="0" spc="60">
                <a:solidFill>
                  <a:srgbClr val="526176"/>
                </a:solidFill>
                <a:latin typeface="Arial"/>
              </a:rPr>
              <a:t>   |   PS-11R3</a:t>
            </a:r>
          </a:p>
        </p:txBody>
      </p:sp>
      <p:sp>
        <p:nvSpPr>
          <p:cNvPr id="34" name="TextBox 33"/>
          <p:cNvSpPr txBox="1"/>
          <p:nvPr/>
        </p:nvSpPr>
        <p:spPr>
          <a:xfrm>
            <a:off x="10180015" y="6400800"/>
            <a:ext cx="1371600" cy="201168"/>
          </a:xfrm>
          <a:prstGeom prst="rect">
            <a:avLst/>
          </a:prstGeom>
          <a:noFill/>
        </p:spPr>
        <p:txBody>
          <a:bodyPr wrap="square" lIns="0" rIns="0" tIns="0" bIns="0" anchor="t"/>
          <a:lstStyle/>
          <a:p>
            <a:pPr algn="r">
              <a:spcAft>
                <a:spcPts val="0"/>
              </a:spcAft>
            </a:pPr>
            <a:r>
              <a:rPr sz="950" b="0" i="0" spc="60">
                <a:solidFill>
                  <a:srgbClr val="526176"/>
                </a:solidFill>
                <a:latin typeface="Arial"/>
              </a:rPr>
              <a:t>03 / 08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640080" y="457200"/>
            <a:ext cx="7315200" cy="228600"/>
          </a:xfrm>
          <a:prstGeom prst="rect">
            <a:avLst/>
          </a:prstGeom>
          <a:noFill/>
        </p:spPr>
        <p:txBody>
          <a:bodyPr wrap="square" lIns="0" rIns="0" tIns="0" bIns="0" anchor="t"/>
          <a:lstStyle/>
          <a:p>
            <a:pPr algn="l">
              <a:spcAft>
                <a:spcPts val="0"/>
              </a:spcAft>
            </a:pPr>
            <a:r>
              <a:rPr sz="1050" b="1" i="0" spc="120">
                <a:solidFill>
                  <a:srgbClr val="19B6A4"/>
                </a:solidFill>
                <a:latin typeface="Arial"/>
              </a:rPr>
              <a:t>04  ·  TECHNICAL APPROACH</a:t>
            </a:r>
          </a:p>
        </p:txBody>
      </p:sp>
      <p:sp>
        <p:nvSpPr>
          <p:cNvPr id="3" name="Title"/>
          <p:cNvSpPr txBox="1"/>
          <p:nvPr/>
        </p:nvSpPr>
        <p:spPr>
          <a:xfrm>
            <a:off x="640080" y="749808"/>
            <a:ext cx="10911535" cy="548640"/>
          </a:xfrm>
          <a:prstGeom prst="rect">
            <a:avLst/>
          </a:prstGeom>
          <a:noFill/>
        </p:spPr>
        <p:txBody>
          <a:bodyPr wrap="square" lIns="0" rIns="0" tIns="0" bIns="0" anchor="t"/>
          <a:lstStyle/>
          <a:p>
            <a:pPr algn="l">
              <a:spcAft>
                <a:spcPts val="0"/>
              </a:spcAft>
            </a:pPr>
            <a:r>
              <a:rPr sz="2800" b="1" i="0">
                <a:solidFill>
                  <a:srgbClr val="F8FAFC"/>
                </a:solidFill>
                <a:latin typeface="Arial"/>
              </a:rPr>
              <a:t>A traceable pipeline from documents to human review</a:t>
            </a:r>
          </a:p>
        </p:txBody>
      </p:sp>
      <p:sp>
        <p:nvSpPr>
          <p:cNvPr id="4" name="Rounded Rectangle 3"/>
          <p:cNvSpPr/>
          <p:nvPr/>
        </p:nvSpPr>
        <p:spPr>
          <a:xfrm>
            <a:off x="640080" y="1600200"/>
            <a:ext cx="1627632" cy="1691640"/>
          </a:xfrm>
          <a:prstGeom prst="roundRect">
            <a:avLst>
              <a:gd name="adj" fmla="val 6741"/>
            </a:avLst>
          </a:prstGeom>
          <a:solidFill>
            <a:srgbClr val="111C2E"/>
          </a:solidFill>
          <a:ln w="9525">
            <a:solidFill>
              <a:srgbClr val="27364A"/>
            </a:solidFill>
          </a:ln>
        </p:spPr>
        <p:txBody>
          <a:bodyPr rtlCol="0" anchor="ctr"/>
          <a:lstStyle/>
          <a:p/>
        </p:txBody>
      </p:sp>
      <p:sp>
        <p:nvSpPr>
          <p:cNvPr id="5" name="Rounded Rectangle 4"/>
          <p:cNvSpPr/>
          <p:nvPr/>
        </p:nvSpPr>
        <p:spPr>
          <a:xfrm>
            <a:off x="822959" y="1801368"/>
            <a:ext cx="292608" cy="54864"/>
          </a:xfrm>
          <a:prstGeom prst="roundRect">
            <a:avLst>
              <a:gd name="adj" fmla="val 50000"/>
            </a:avLst>
          </a:prstGeom>
          <a:solidFill>
            <a:srgbClr val="4C8DFF"/>
          </a:solidFill>
          <a:ln>
            <a:noFill/>
          </a:ln>
        </p:spPr>
        <p:txBody>
          <a:bodyPr rtlCol="0" anchor="ctr"/>
          <a:lstStyle/>
          <a:p/>
        </p:txBody>
      </p:sp>
      <p:sp>
        <p:nvSpPr>
          <p:cNvPr id="6" name="TextBox 5"/>
          <p:cNvSpPr txBox="1"/>
          <p:nvPr/>
        </p:nvSpPr>
        <p:spPr>
          <a:xfrm>
            <a:off x="822959" y="1929384"/>
            <a:ext cx="1353312" cy="228600"/>
          </a:xfrm>
          <a:prstGeom prst="rect">
            <a:avLst/>
          </a:prstGeom>
          <a:noFill/>
        </p:spPr>
        <p:txBody>
          <a:bodyPr wrap="square" lIns="0" rIns="0" tIns="0" bIns="0" anchor="t"/>
          <a:lstStyle/>
          <a:p>
            <a:pPr algn="l">
              <a:spcAft>
                <a:spcPts val="0"/>
              </a:spcAft>
            </a:pPr>
            <a:r>
              <a:rPr sz="850" b="1" i="0" spc="120">
                <a:solidFill>
                  <a:srgbClr val="4C8DFF"/>
                </a:solidFill>
                <a:latin typeface="Arial"/>
              </a:rPr>
              <a:t>INPUT</a:t>
            </a:r>
          </a:p>
        </p:txBody>
      </p:sp>
      <p:sp>
        <p:nvSpPr>
          <p:cNvPr id="7" name="TextBox 6"/>
          <p:cNvSpPr txBox="1"/>
          <p:nvPr/>
        </p:nvSpPr>
        <p:spPr>
          <a:xfrm>
            <a:off x="822959" y="2167128"/>
            <a:ext cx="1307592" cy="502920"/>
          </a:xfrm>
          <a:prstGeom prst="rect">
            <a:avLst/>
          </a:prstGeom>
          <a:noFill/>
        </p:spPr>
        <p:txBody>
          <a:bodyPr wrap="square" lIns="0" rIns="0" tIns="0" bIns="0" anchor="t"/>
          <a:lstStyle/>
          <a:p>
            <a:pPr algn="l">
              <a:lnSpc>
                <a:spcPct val="105000"/>
              </a:lnSpc>
              <a:spcAft>
                <a:spcPts val="0"/>
              </a:spcAft>
            </a:pPr>
            <a:r>
              <a:rPr sz="1300" b="1" i="0">
                <a:solidFill>
                  <a:srgbClr val="F8FAFC"/>
                </a:solidFill>
                <a:latin typeface="Arial"/>
              </a:rPr>
              <a:t>Document input</a:t>
            </a:r>
          </a:p>
        </p:txBody>
      </p:sp>
      <p:sp>
        <p:nvSpPr>
          <p:cNvPr id="8" name="TextBox 7"/>
          <p:cNvSpPr txBox="1"/>
          <p:nvPr/>
        </p:nvSpPr>
        <p:spPr>
          <a:xfrm>
            <a:off x="822959" y="2679191"/>
            <a:ext cx="1353312" cy="548640"/>
          </a:xfrm>
          <a:prstGeom prst="rect">
            <a:avLst/>
          </a:prstGeom>
          <a:noFill/>
        </p:spPr>
        <p:txBody>
          <a:bodyPr wrap="square" lIns="0" rIns="0" tIns="0" bIns="0" anchor="t"/>
          <a:lstStyle/>
          <a:p>
            <a:pPr algn="l">
              <a:spcAft>
                <a:spcPts val="0"/>
              </a:spcAft>
            </a:pPr>
            <a:r>
              <a:rPr sz="1050" b="0" i="0">
                <a:solidFill>
                  <a:srgbClr val="B8C4D6"/>
                </a:solidFill>
                <a:latin typeface="Arial"/>
              </a:rPr>
              <a:t>PDF · scan · image</a:t>
            </a:r>
          </a:p>
          <a:p>
            <a:pPr algn="l">
              <a:spcAft>
                <a:spcPts val="0"/>
              </a:spcAft>
            </a:pPr>
            <a:r>
              <a:rPr sz="1050" b="0" i="0">
                <a:solidFill>
                  <a:srgbClr val="B8C4D6"/>
                </a:solidFill>
                <a:latin typeface="Arial"/>
              </a:rPr>
              <a:t>TXT · DOCX</a:t>
            </a:r>
          </a:p>
        </p:txBody>
      </p:sp>
      <p:cxnSp>
        <p:nvCxnSpPr>
          <p:cNvPr id="9" name="Connector 8"/>
          <p:cNvCxnSpPr/>
          <p:nvPr/>
        </p:nvCxnSpPr>
        <p:spPr>
          <a:xfrm>
            <a:off x="2295144" y="2446020"/>
            <a:ext cx="174284" cy="0"/>
          </a:xfrm>
          <a:prstGeom prst="line">
            <a:avLst/>
          </a:prstGeom>
          <a:ln w="19050">
            <a:solidFill>
              <a:srgbClr val="19B6A4"/>
            </a:solidFill>
            <a:tailEnd type="triangle" w="med" len="med"/>
          </a:ln>
        </p:spPr>
      </p:cxnSp>
      <p:sp>
        <p:nvSpPr>
          <p:cNvPr id="10" name="Rounded Rectangle 9"/>
          <p:cNvSpPr/>
          <p:nvPr/>
        </p:nvSpPr>
        <p:spPr>
          <a:xfrm>
            <a:off x="2496860" y="1600200"/>
            <a:ext cx="1627632" cy="1691640"/>
          </a:xfrm>
          <a:prstGeom prst="roundRect">
            <a:avLst>
              <a:gd name="adj" fmla="val 6741"/>
            </a:avLst>
          </a:prstGeom>
          <a:solidFill>
            <a:srgbClr val="111C2E"/>
          </a:solidFill>
          <a:ln w="9525">
            <a:solidFill>
              <a:srgbClr val="27364A"/>
            </a:solidFill>
          </a:ln>
        </p:spPr>
        <p:txBody>
          <a:bodyPr rtlCol="0" anchor="ctr"/>
          <a:lstStyle/>
          <a:p/>
        </p:txBody>
      </p:sp>
      <p:sp>
        <p:nvSpPr>
          <p:cNvPr id="11" name="Rounded Rectangle 10"/>
          <p:cNvSpPr/>
          <p:nvPr/>
        </p:nvSpPr>
        <p:spPr>
          <a:xfrm>
            <a:off x="2679740" y="1801368"/>
            <a:ext cx="292608" cy="54864"/>
          </a:xfrm>
          <a:prstGeom prst="roundRect">
            <a:avLst>
              <a:gd name="adj" fmla="val 50000"/>
            </a:avLst>
          </a:prstGeom>
          <a:solidFill>
            <a:srgbClr val="4C8DFF"/>
          </a:solidFill>
          <a:ln>
            <a:noFill/>
          </a:ln>
        </p:spPr>
        <p:txBody>
          <a:bodyPr rtlCol="0" anchor="ctr"/>
          <a:lstStyle/>
          <a:p/>
        </p:txBody>
      </p:sp>
      <p:sp>
        <p:nvSpPr>
          <p:cNvPr id="12" name="TextBox 11"/>
          <p:cNvSpPr txBox="1"/>
          <p:nvPr/>
        </p:nvSpPr>
        <p:spPr>
          <a:xfrm>
            <a:off x="2679740" y="1929384"/>
            <a:ext cx="1353312" cy="228600"/>
          </a:xfrm>
          <a:prstGeom prst="rect">
            <a:avLst/>
          </a:prstGeom>
          <a:noFill/>
        </p:spPr>
        <p:txBody>
          <a:bodyPr wrap="square" lIns="0" rIns="0" tIns="0" bIns="0" anchor="t"/>
          <a:lstStyle/>
          <a:p>
            <a:pPr algn="l">
              <a:spcAft>
                <a:spcPts val="0"/>
              </a:spcAft>
            </a:pPr>
            <a:r>
              <a:rPr sz="850" b="1" i="0" spc="120">
                <a:solidFill>
                  <a:srgbClr val="4C8DFF"/>
                </a:solidFill>
                <a:latin typeface="Arial"/>
              </a:rPr>
              <a:t>PROCESSING</a:t>
            </a:r>
          </a:p>
        </p:txBody>
      </p:sp>
      <p:sp>
        <p:nvSpPr>
          <p:cNvPr id="13" name="TextBox 12"/>
          <p:cNvSpPr txBox="1"/>
          <p:nvPr/>
        </p:nvSpPr>
        <p:spPr>
          <a:xfrm>
            <a:off x="2679740" y="2167128"/>
            <a:ext cx="1307592" cy="502920"/>
          </a:xfrm>
          <a:prstGeom prst="rect">
            <a:avLst/>
          </a:prstGeom>
          <a:noFill/>
        </p:spPr>
        <p:txBody>
          <a:bodyPr wrap="square" lIns="0" rIns="0" tIns="0" bIns="0" anchor="t"/>
          <a:lstStyle/>
          <a:p>
            <a:pPr algn="l">
              <a:lnSpc>
                <a:spcPct val="105000"/>
              </a:lnSpc>
              <a:spcAft>
                <a:spcPts val="0"/>
              </a:spcAft>
            </a:pPr>
            <a:r>
              <a:rPr sz="1300" b="1" i="0">
                <a:solidFill>
                  <a:srgbClr val="F8FAFC"/>
                </a:solidFill>
                <a:latin typeface="Arial"/>
              </a:rPr>
              <a:t>Extraction</a:t>
            </a:r>
          </a:p>
        </p:txBody>
      </p:sp>
      <p:sp>
        <p:nvSpPr>
          <p:cNvPr id="14" name="TextBox 13"/>
          <p:cNvSpPr txBox="1"/>
          <p:nvPr/>
        </p:nvSpPr>
        <p:spPr>
          <a:xfrm>
            <a:off x="2679740" y="2679191"/>
            <a:ext cx="1353312" cy="548640"/>
          </a:xfrm>
          <a:prstGeom prst="rect">
            <a:avLst/>
          </a:prstGeom>
          <a:noFill/>
        </p:spPr>
        <p:txBody>
          <a:bodyPr wrap="square" lIns="0" rIns="0" tIns="0" bIns="0" anchor="t"/>
          <a:lstStyle/>
          <a:p>
            <a:pPr algn="l">
              <a:spcAft>
                <a:spcPts val="0"/>
              </a:spcAft>
            </a:pPr>
            <a:r>
              <a:rPr sz="1050" b="0" i="0">
                <a:solidFill>
                  <a:srgbClr val="B8C4D6"/>
                </a:solidFill>
                <a:latin typeface="Arial"/>
              </a:rPr>
              <a:t>pdf.js · Tesseract.js</a:t>
            </a:r>
          </a:p>
          <a:p>
            <a:pPr algn="l">
              <a:spcAft>
                <a:spcPts val="0"/>
              </a:spcAft>
            </a:pPr>
            <a:r>
              <a:rPr sz="1050" b="0" i="0">
                <a:solidFill>
                  <a:srgbClr val="B8C4D6"/>
                </a:solidFill>
                <a:latin typeface="Arial"/>
              </a:rPr>
              <a:t>OCR · mammoth</a:t>
            </a:r>
          </a:p>
        </p:txBody>
      </p:sp>
      <p:cxnSp>
        <p:nvCxnSpPr>
          <p:cNvPr id="15" name="Connector 14"/>
          <p:cNvCxnSpPr/>
          <p:nvPr/>
        </p:nvCxnSpPr>
        <p:spPr>
          <a:xfrm>
            <a:off x="4151924" y="2446020"/>
            <a:ext cx="174285" cy="0"/>
          </a:xfrm>
          <a:prstGeom prst="line">
            <a:avLst/>
          </a:prstGeom>
          <a:ln w="19050">
            <a:solidFill>
              <a:srgbClr val="19B6A4"/>
            </a:solidFill>
            <a:tailEnd type="triangle" w="med" len="med"/>
          </a:ln>
        </p:spPr>
      </p:cxnSp>
      <p:sp>
        <p:nvSpPr>
          <p:cNvPr id="16" name="Rounded Rectangle 15"/>
          <p:cNvSpPr/>
          <p:nvPr/>
        </p:nvSpPr>
        <p:spPr>
          <a:xfrm>
            <a:off x="4353641" y="1600200"/>
            <a:ext cx="1627632" cy="1691640"/>
          </a:xfrm>
          <a:prstGeom prst="roundRect">
            <a:avLst>
              <a:gd name="adj" fmla="val 6741"/>
            </a:avLst>
          </a:prstGeom>
          <a:solidFill>
            <a:srgbClr val="111C2E"/>
          </a:solidFill>
          <a:ln w="9525">
            <a:solidFill>
              <a:srgbClr val="27364A"/>
            </a:solidFill>
          </a:ln>
        </p:spPr>
        <p:txBody>
          <a:bodyPr rtlCol="0" anchor="ctr"/>
          <a:lstStyle/>
          <a:p/>
        </p:txBody>
      </p:sp>
      <p:sp>
        <p:nvSpPr>
          <p:cNvPr id="17" name="Rounded Rectangle 16"/>
          <p:cNvSpPr/>
          <p:nvPr/>
        </p:nvSpPr>
        <p:spPr>
          <a:xfrm>
            <a:off x="4536521" y="1801368"/>
            <a:ext cx="292608" cy="54864"/>
          </a:xfrm>
          <a:prstGeom prst="roundRect">
            <a:avLst>
              <a:gd name="adj" fmla="val 50000"/>
            </a:avLst>
          </a:prstGeom>
          <a:solidFill>
            <a:srgbClr val="4C8DFF"/>
          </a:solidFill>
          <a:ln>
            <a:noFill/>
          </a:ln>
        </p:spPr>
        <p:txBody>
          <a:bodyPr rtlCol="0" anchor="ctr"/>
          <a:lstStyle/>
          <a:p/>
        </p:txBody>
      </p:sp>
      <p:sp>
        <p:nvSpPr>
          <p:cNvPr id="18" name="TextBox 17"/>
          <p:cNvSpPr txBox="1"/>
          <p:nvPr/>
        </p:nvSpPr>
        <p:spPr>
          <a:xfrm>
            <a:off x="4536521" y="1929384"/>
            <a:ext cx="1353312" cy="228600"/>
          </a:xfrm>
          <a:prstGeom prst="rect">
            <a:avLst/>
          </a:prstGeom>
          <a:noFill/>
        </p:spPr>
        <p:txBody>
          <a:bodyPr wrap="square" lIns="0" rIns="0" tIns="0" bIns="0" anchor="t"/>
          <a:lstStyle/>
          <a:p>
            <a:pPr algn="l">
              <a:spcAft>
                <a:spcPts val="0"/>
              </a:spcAft>
            </a:pPr>
            <a:r>
              <a:rPr sz="850" b="1" i="0" spc="120">
                <a:solidFill>
                  <a:srgbClr val="4C8DFF"/>
                </a:solidFill>
                <a:latin typeface="Arial"/>
              </a:rPr>
              <a:t>PROCESSING</a:t>
            </a:r>
          </a:p>
        </p:txBody>
      </p:sp>
      <p:sp>
        <p:nvSpPr>
          <p:cNvPr id="19" name="TextBox 18"/>
          <p:cNvSpPr txBox="1"/>
          <p:nvPr/>
        </p:nvSpPr>
        <p:spPr>
          <a:xfrm>
            <a:off x="4536521" y="2167128"/>
            <a:ext cx="1307592" cy="502920"/>
          </a:xfrm>
          <a:prstGeom prst="rect">
            <a:avLst/>
          </a:prstGeom>
          <a:noFill/>
        </p:spPr>
        <p:txBody>
          <a:bodyPr wrap="square" lIns="0" rIns="0" tIns="0" bIns="0" anchor="t"/>
          <a:lstStyle/>
          <a:p>
            <a:pPr algn="l">
              <a:lnSpc>
                <a:spcPct val="105000"/>
              </a:lnSpc>
              <a:spcAft>
                <a:spcPts val="0"/>
              </a:spcAft>
            </a:pPr>
            <a:r>
              <a:rPr sz="1300" b="1" i="0">
                <a:solidFill>
                  <a:srgbClr val="F8FAFC"/>
                </a:solidFill>
                <a:latin typeface="Arial"/>
              </a:rPr>
              <a:t>Normalization</a:t>
            </a:r>
          </a:p>
        </p:txBody>
      </p:sp>
      <p:sp>
        <p:nvSpPr>
          <p:cNvPr id="20" name="TextBox 19"/>
          <p:cNvSpPr txBox="1"/>
          <p:nvPr/>
        </p:nvSpPr>
        <p:spPr>
          <a:xfrm>
            <a:off x="4536521" y="2679191"/>
            <a:ext cx="1353312" cy="548640"/>
          </a:xfrm>
          <a:prstGeom prst="rect">
            <a:avLst/>
          </a:prstGeom>
          <a:noFill/>
        </p:spPr>
        <p:txBody>
          <a:bodyPr wrap="square" lIns="0" rIns="0" tIns="0" bIns="0" anchor="t"/>
          <a:lstStyle/>
          <a:p>
            <a:pPr algn="l">
              <a:spcAft>
                <a:spcPts val="0"/>
              </a:spcAft>
            </a:pPr>
            <a:r>
              <a:rPr sz="1050" b="0" i="0">
                <a:solidFill>
                  <a:srgbClr val="B8C4D6"/>
                </a:solidFill>
                <a:latin typeface="Arial"/>
              </a:rPr>
              <a:t>negation, history,</a:t>
            </a:r>
          </a:p>
          <a:p>
            <a:pPr algn="l">
              <a:spcAft>
                <a:spcPts val="0"/>
              </a:spcAft>
            </a:pPr>
            <a:r>
              <a:rPr sz="1050" b="0" i="0">
                <a:solidFill>
                  <a:srgbClr val="B8C4D6"/>
                </a:solidFill>
                <a:latin typeface="Arial"/>
              </a:rPr>
              <a:t>units, dates</a:t>
            </a:r>
          </a:p>
        </p:txBody>
      </p:sp>
      <p:cxnSp>
        <p:nvCxnSpPr>
          <p:cNvPr id="21" name="Connector 20"/>
          <p:cNvCxnSpPr/>
          <p:nvPr/>
        </p:nvCxnSpPr>
        <p:spPr>
          <a:xfrm>
            <a:off x="6008705" y="2446020"/>
            <a:ext cx="174284" cy="0"/>
          </a:xfrm>
          <a:prstGeom prst="line">
            <a:avLst/>
          </a:prstGeom>
          <a:ln w="19050">
            <a:solidFill>
              <a:srgbClr val="19B6A4"/>
            </a:solidFill>
            <a:tailEnd type="triangle" w="med" len="med"/>
          </a:ln>
        </p:spPr>
      </p:cxnSp>
      <p:sp>
        <p:nvSpPr>
          <p:cNvPr id="22" name="Rounded Rectangle 21"/>
          <p:cNvSpPr/>
          <p:nvPr/>
        </p:nvSpPr>
        <p:spPr>
          <a:xfrm>
            <a:off x="6210421" y="1600200"/>
            <a:ext cx="1627632" cy="1691640"/>
          </a:xfrm>
          <a:prstGeom prst="roundRect">
            <a:avLst>
              <a:gd name="adj" fmla="val 6741"/>
            </a:avLst>
          </a:prstGeom>
          <a:solidFill>
            <a:srgbClr val="111C2E"/>
          </a:solidFill>
          <a:ln w="9525">
            <a:solidFill>
              <a:srgbClr val="27364A"/>
            </a:solidFill>
          </a:ln>
        </p:spPr>
        <p:txBody>
          <a:bodyPr rtlCol="0" anchor="ctr"/>
          <a:lstStyle/>
          <a:p/>
        </p:txBody>
      </p:sp>
      <p:sp>
        <p:nvSpPr>
          <p:cNvPr id="23" name="Rounded Rectangle 22"/>
          <p:cNvSpPr/>
          <p:nvPr/>
        </p:nvSpPr>
        <p:spPr>
          <a:xfrm>
            <a:off x="6393301" y="1801368"/>
            <a:ext cx="292608" cy="54864"/>
          </a:xfrm>
          <a:prstGeom prst="roundRect">
            <a:avLst>
              <a:gd name="adj" fmla="val 50000"/>
            </a:avLst>
          </a:prstGeom>
          <a:solidFill>
            <a:srgbClr val="F2A65A"/>
          </a:solidFill>
          <a:ln>
            <a:noFill/>
          </a:ln>
        </p:spPr>
        <p:txBody>
          <a:bodyPr rtlCol="0" anchor="ctr"/>
          <a:lstStyle/>
          <a:p/>
        </p:txBody>
      </p:sp>
      <p:sp>
        <p:nvSpPr>
          <p:cNvPr id="24" name="TextBox 23"/>
          <p:cNvSpPr txBox="1"/>
          <p:nvPr/>
        </p:nvSpPr>
        <p:spPr>
          <a:xfrm>
            <a:off x="6393301" y="1929384"/>
            <a:ext cx="1353312" cy="228600"/>
          </a:xfrm>
          <a:prstGeom prst="rect">
            <a:avLst/>
          </a:prstGeom>
          <a:noFill/>
        </p:spPr>
        <p:txBody>
          <a:bodyPr wrap="square" lIns="0" rIns="0" tIns="0" bIns="0" anchor="t"/>
          <a:lstStyle/>
          <a:p>
            <a:pPr algn="l">
              <a:spcAft>
                <a:spcPts val="0"/>
              </a:spcAft>
            </a:pPr>
            <a:r>
              <a:rPr sz="850" b="1" i="0" spc="120">
                <a:solidFill>
                  <a:srgbClr val="F2A65A"/>
                </a:solidFill>
                <a:latin typeface="Arial"/>
              </a:rPr>
              <a:t>PROCESSING</a:t>
            </a:r>
          </a:p>
        </p:txBody>
      </p:sp>
      <p:sp>
        <p:nvSpPr>
          <p:cNvPr id="25" name="TextBox 24"/>
          <p:cNvSpPr txBox="1"/>
          <p:nvPr/>
        </p:nvSpPr>
        <p:spPr>
          <a:xfrm>
            <a:off x="6393301" y="2167128"/>
            <a:ext cx="1307592" cy="502920"/>
          </a:xfrm>
          <a:prstGeom prst="rect">
            <a:avLst/>
          </a:prstGeom>
          <a:noFill/>
        </p:spPr>
        <p:txBody>
          <a:bodyPr wrap="square" lIns="0" rIns="0" tIns="0" bIns="0" anchor="t"/>
          <a:lstStyle/>
          <a:p>
            <a:pPr algn="l">
              <a:lnSpc>
                <a:spcPct val="105000"/>
              </a:lnSpc>
              <a:spcAft>
                <a:spcPts val="0"/>
              </a:spcAft>
            </a:pPr>
            <a:r>
              <a:rPr sz="1300" b="1" i="0">
                <a:solidFill>
                  <a:srgbClr val="F8FAFC"/>
                </a:solidFill>
                <a:latin typeface="Arial"/>
              </a:rPr>
              <a:t>Contradiction detection</a:t>
            </a:r>
          </a:p>
        </p:txBody>
      </p:sp>
      <p:sp>
        <p:nvSpPr>
          <p:cNvPr id="26" name="TextBox 25"/>
          <p:cNvSpPr txBox="1"/>
          <p:nvPr/>
        </p:nvSpPr>
        <p:spPr>
          <a:xfrm>
            <a:off x="6393301" y="2679191"/>
            <a:ext cx="1353312" cy="548640"/>
          </a:xfrm>
          <a:prstGeom prst="rect">
            <a:avLst/>
          </a:prstGeom>
          <a:noFill/>
        </p:spPr>
        <p:txBody>
          <a:bodyPr wrap="square" lIns="0" rIns="0" tIns="0" bIns="0" anchor="t"/>
          <a:lstStyle/>
          <a:p>
            <a:pPr algn="l">
              <a:spcAft>
                <a:spcPts val="0"/>
              </a:spcAft>
            </a:pPr>
            <a:r>
              <a:rPr sz="1050" b="0" i="0">
                <a:solidFill>
                  <a:srgbClr val="B8C4D6"/>
                </a:solidFill>
                <a:latin typeface="Arial"/>
              </a:rPr>
              <a:t>same-case rules,</a:t>
            </a:r>
          </a:p>
          <a:p>
            <a:pPr algn="l">
              <a:spcAft>
                <a:spcPts val="0"/>
              </a:spcAft>
            </a:pPr>
            <a:r>
              <a:rPr sz="1050" b="0" i="0">
                <a:solidFill>
                  <a:srgbClr val="B8C4D6"/>
                </a:solidFill>
                <a:latin typeface="Arial"/>
              </a:rPr>
              <a:t>deterministic</a:t>
            </a:r>
          </a:p>
        </p:txBody>
      </p:sp>
      <p:cxnSp>
        <p:nvCxnSpPr>
          <p:cNvPr id="27" name="Connector 26"/>
          <p:cNvCxnSpPr/>
          <p:nvPr/>
        </p:nvCxnSpPr>
        <p:spPr>
          <a:xfrm>
            <a:off x="7865485" y="2446020"/>
            <a:ext cx="174285" cy="0"/>
          </a:xfrm>
          <a:prstGeom prst="line">
            <a:avLst/>
          </a:prstGeom>
          <a:ln w="19050">
            <a:solidFill>
              <a:srgbClr val="19B6A4"/>
            </a:solidFill>
            <a:tailEnd type="triangle" w="med" len="med"/>
          </a:ln>
        </p:spPr>
      </p:cxnSp>
      <p:sp>
        <p:nvSpPr>
          <p:cNvPr id="28" name="Rounded Rectangle 27"/>
          <p:cNvSpPr/>
          <p:nvPr/>
        </p:nvSpPr>
        <p:spPr>
          <a:xfrm>
            <a:off x="8067202" y="1600200"/>
            <a:ext cx="1627632" cy="1691640"/>
          </a:xfrm>
          <a:prstGeom prst="roundRect">
            <a:avLst>
              <a:gd name="adj" fmla="val 6741"/>
            </a:avLst>
          </a:prstGeom>
          <a:solidFill>
            <a:srgbClr val="111C2E"/>
          </a:solidFill>
          <a:ln w="9525">
            <a:solidFill>
              <a:srgbClr val="27364A"/>
            </a:solidFill>
          </a:ln>
        </p:spPr>
        <p:txBody>
          <a:bodyPr rtlCol="0" anchor="ctr"/>
          <a:lstStyle/>
          <a:p/>
        </p:txBody>
      </p:sp>
      <p:sp>
        <p:nvSpPr>
          <p:cNvPr id="29" name="Rounded Rectangle 28"/>
          <p:cNvSpPr/>
          <p:nvPr/>
        </p:nvSpPr>
        <p:spPr>
          <a:xfrm>
            <a:off x="8250082" y="1801368"/>
            <a:ext cx="292608" cy="54864"/>
          </a:xfrm>
          <a:prstGeom prst="roundRect">
            <a:avLst>
              <a:gd name="adj" fmla="val 50000"/>
            </a:avLst>
          </a:prstGeom>
          <a:solidFill>
            <a:srgbClr val="82B7FF"/>
          </a:solidFill>
          <a:ln>
            <a:noFill/>
          </a:ln>
        </p:spPr>
        <p:txBody>
          <a:bodyPr rtlCol="0" anchor="ctr"/>
          <a:lstStyle/>
          <a:p/>
        </p:txBody>
      </p:sp>
      <p:sp>
        <p:nvSpPr>
          <p:cNvPr id="30" name="TextBox 29"/>
          <p:cNvSpPr txBox="1"/>
          <p:nvPr/>
        </p:nvSpPr>
        <p:spPr>
          <a:xfrm>
            <a:off x="8250082" y="1929384"/>
            <a:ext cx="1353312" cy="228600"/>
          </a:xfrm>
          <a:prstGeom prst="rect">
            <a:avLst/>
          </a:prstGeom>
          <a:noFill/>
        </p:spPr>
        <p:txBody>
          <a:bodyPr wrap="square" lIns="0" rIns="0" tIns="0" bIns="0" anchor="t"/>
          <a:lstStyle/>
          <a:p>
            <a:pPr algn="l">
              <a:spcAft>
                <a:spcPts val="0"/>
              </a:spcAft>
            </a:pPr>
            <a:r>
              <a:rPr sz="850" b="1" i="0" spc="120">
                <a:solidFill>
                  <a:srgbClr val="82B7FF"/>
                </a:solidFill>
                <a:latin typeface="Arial"/>
              </a:rPr>
              <a:t>EVIDENCE</a:t>
            </a:r>
          </a:p>
        </p:txBody>
      </p:sp>
      <p:sp>
        <p:nvSpPr>
          <p:cNvPr id="31" name="TextBox 30"/>
          <p:cNvSpPr txBox="1"/>
          <p:nvPr/>
        </p:nvSpPr>
        <p:spPr>
          <a:xfrm>
            <a:off x="8250082" y="2167128"/>
            <a:ext cx="1307592" cy="502920"/>
          </a:xfrm>
          <a:prstGeom prst="rect">
            <a:avLst/>
          </a:prstGeom>
          <a:noFill/>
        </p:spPr>
        <p:txBody>
          <a:bodyPr wrap="square" lIns="0" rIns="0" tIns="0" bIns="0" anchor="t"/>
          <a:lstStyle/>
          <a:p>
            <a:pPr algn="l">
              <a:lnSpc>
                <a:spcPct val="105000"/>
              </a:lnSpc>
              <a:spcAft>
                <a:spcPts val="0"/>
              </a:spcAft>
            </a:pPr>
            <a:r>
              <a:rPr sz="1300" b="1" i="0">
                <a:solidFill>
                  <a:srgbClr val="F8FAFC"/>
                </a:solidFill>
                <a:latin typeface="Arial"/>
              </a:rPr>
              <a:t>Evidence association</a:t>
            </a:r>
          </a:p>
        </p:txBody>
      </p:sp>
      <p:sp>
        <p:nvSpPr>
          <p:cNvPr id="32" name="TextBox 31"/>
          <p:cNvSpPr txBox="1"/>
          <p:nvPr/>
        </p:nvSpPr>
        <p:spPr>
          <a:xfrm>
            <a:off x="8250082" y="2679191"/>
            <a:ext cx="1353312" cy="548640"/>
          </a:xfrm>
          <a:prstGeom prst="rect">
            <a:avLst/>
          </a:prstGeom>
          <a:noFill/>
        </p:spPr>
        <p:txBody>
          <a:bodyPr wrap="square" lIns="0" rIns="0" tIns="0" bIns="0" anchor="t"/>
          <a:lstStyle/>
          <a:p>
            <a:pPr algn="l">
              <a:spcAft>
                <a:spcPts val="0"/>
              </a:spcAft>
            </a:pPr>
            <a:r>
              <a:rPr sz="1050" b="0" i="0">
                <a:solidFill>
                  <a:srgbClr val="B8C4D6"/>
                </a:solidFill>
                <a:latin typeface="Arial"/>
              </a:rPr>
              <a:t>quotes re-verified</a:t>
            </a:r>
          </a:p>
          <a:p>
            <a:pPr algn="l">
              <a:spcAft>
                <a:spcPts val="0"/>
              </a:spcAft>
            </a:pPr>
            <a:r>
              <a:rPr sz="1050" b="0" i="0">
                <a:solidFill>
                  <a:srgbClr val="B8C4D6"/>
                </a:solidFill>
                <a:latin typeface="Arial"/>
              </a:rPr>
              <a:t>at exact offsets</a:t>
            </a:r>
          </a:p>
        </p:txBody>
      </p:sp>
      <p:cxnSp>
        <p:nvCxnSpPr>
          <p:cNvPr id="33" name="Connector 32"/>
          <p:cNvCxnSpPr/>
          <p:nvPr/>
        </p:nvCxnSpPr>
        <p:spPr>
          <a:xfrm>
            <a:off x="9722266" y="2446020"/>
            <a:ext cx="174285" cy="0"/>
          </a:xfrm>
          <a:prstGeom prst="line">
            <a:avLst/>
          </a:prstGeom>
          <a:ln w="19050">
            <a:solidFill>
              <a:srgbClr val="19B6A4"/>
            </a:solidFill>
            <a:tailEnd type="triangle" w="med" len="med"/>
          </a:ln>
        </p:spPr>
      </p:cxnSp>
      <p:sp>
        <p:nvSpPr>
          <p:cNvPr id="34" name="Rounded Rectangle 33"/>
          <p:cNvSpPr/>
          <p:nvPr/>
        </p:nvSpPr>
        <p:spPr>
          <a:xfrm>
            <a:off x="9923983" y="1600200"/>
            <a:ext cx="1627632" cy="1691640"/>
          </a:xfrm>
          <a:prstGeom prst="roundRect">
            <a:avLst>
              <a:gd name="adj" fmla="val 6741"/>
            </a:avLst>
          </a:prstGeom>
          <a:solidFill>
            <a:srgbClr val="111C2E"/>
          </a:solidFill>
          <a:ln w="9525">
            <a:solidFill>
              <a:srgbClr val="27364A"/>
            </a:solidFill>
          </a:ln>
        </p:spPr>
        <p:txBody>
          <a:bodyPr rtlCol="0" anchor="ctr"/>
          <a:lstStyle/>
          <a:p/>
        </p:txBody>
      </p:sp>
      <p:sp>
        <p:nvSpPr>
          <p:cNvPr id="35" name="Rounded Rectangle 34"/>
          <p:cNvSpPr/>
          <p:nvPr/>
        </p:nvSpPr>
        <p:spPr>
          <a:xfrm>
            <a:off x="10106863" y="1801368"/>
            <a:ext cx="292608" cy="54864"/>
          </a:xfrm>
          <a:prstGeom prst="roundRect">
            <a:avLst>
              <a:gd name="adj" fmla="val 50000"/>
            </a:avLst>
          </a:prstGeom>
          <a:solidFill>
            <a:srgbClr val="19B6A4"/>
          </a:solidFill>
          <a:ln>
            <a:noFill/>
          </a:ln>
        </p:spPr>
        <p:txBody>
          <a:bodyPr rtlCol="0" anchor="ctr"/>
          <a:lstStyle/>
          <a:p/>
        </p:txBody>
      </p:sp>
      <p:sp>
        <p:nvSpPr>
          <p:cNvPr id="36" name="TextBox 35"/>
          <p:cNvSpPr txBox="1"/>
          <p:nvPr/>
        </p:nvSpPr>
        <p:spPr>
          <a:xfrm>
            <a:off x="10106863" y="1929384"/>
            <a:ext cx="1353312" cy="228600"/>
          </a:xfrm>
          <a:prstGeom prst="rect">
            <a:avLst/>
          </a:prstGeom>
          <a:noFill/>
        </p:spPr>
        <p:txBody>
          <a:bodyPr wrap="square" lIns="0" rIns="0" tIns="0" bIns="0" anchor="t"/>
          <a:lstStyle/>
          <a:p>
            <a:pPr algn="l">
              <a:spcAft>
                <a:spcPts val="0"/>
              </a:spcAft>
            </a:pPr>
            <a:r>
              <a:rPr sz="850" b="1" i="0" spc="120">
                <a:solidFill>
                  <a:srgbClr val="19B6A4"/>
                </a:solidFill>
                <a:latin typeface="Arial"/>
              </a:rPr>
              <a:t>INTERFACE</a:t>
            </a:r>
          </a:p>
        </p:txBody>
      </p:sp>
      <p:sp>
        <p:nvSpPr>
          <p:cNvPr id="37" name="TextBox 36"/>
          <p:cNvSpPr txBox="1"/>
          <p:nvPr/>
        </p:nvSpPr>
        <p:spPr>
          <a:xfrm>
            <a:off x="10106863" y="2167128"/>
            <a:ext cx="1307592" cy="502920"/>
          </a:xfrm>
          <a:prstGeom prst="rect">
            <a:avLst/>
          </a:prstGeom>
          <a:noFill/>
        </p:spPr>
        <p:txBody>
          <a:bodyPr wrap="square" lIns="0" rIns="0" tIns="0" bIns="0" anchor="t"/>
          <a:lstStyle/>
          <a:p>
            <a:pPr algn="l">
              <a:lnSpc>
                <a:spcPct val="105000"/>
              </a:lnSpc>
              <a:spcAft>
                <a:spcPts val="0"/>
              </a:spcAft>
            </a:pPr>
            <a:r>
              <a:rPr sz="1300" b="1" i="0">
                <a:solidFill>
                  <a:srgbClr val="F8FAFC"/>
                </a:solidFill>
                <a:latin typeface="Arial"/>
              </a:rPr>
              <a:t>Review interface</a:t>
            </a:r>
          </a:p>
        </p:txBody>
      </p:sp>
      <p:sp>
        <p:nvSpPr>
          <p:cNvPr id="38" name="TextBox 37"/>
          <p:cNvSpPr txBox="1"/>
          <p:nvPr/>
        </p:nvSpPr>
        <p:spPr>
          <a:xfrm>
            <a:off x="10106863" y="2679191"/>
            <a:ext cx="1353312" cy="548640"/>
          </a:xfrm>
          <a:prstGeom prst="rect">
            <a:avLst/>
          </a:prstGeom>
          <a:noFill/>
        </p:spPr>
        <p:txBody>
          <a:bodyPr wrap="square" lIns="0" rIns="0" tIns="0" bIns="0" anchor="t"/>
          <a:lstStyle/>
          <a:p>
            <a:pPr algn="l">
              <a:spcAft>
                <a:spcPts val="0"/>
              </a:spcAft>
            </a:pPr>
            <a:r>
              <a:rPr sz="1050" b="0" i="0">
                <a:solidFill>
                  <a:srgbClr val="B8C4D6"/>
                </a:solidFill>
                <a:latin typeface="Arial"/>
              </a:rPr>
              <a:t>queue · detail ·</a:t>
            </a:r>
          </a:p>
          <a:p>
            <a:pPr algn="l">
              <a:spcAft>
                <a:spcPts val="0"/>
              </a:spcAft>
            </a:pPr>
            <a:r>
              <a:rPr sz="1050" b="0" i="0">
                <a:solidFill>
                  <a:srgbClr val="B8C4D6"/>
                </a:solidFill>
                <a:latin typeface="Arial"/>
              </a:rPr>
              <a:t>timeline · audit</a:t>
            </a:r>
          </a:p>
        </p:txBody>
      </p:sp>
      <p:cxnSp>
        <p:nvCxnSpPr>
          <p:cNvPr id="39" name="Connector 38"/>
          <p:cNvCxnSpPr/>
          <p:nvPr/>
        </p:nvCxnSpPr>
        <p:spPr>
          <a:xfrm>
            <a:off x="1453895" y="3291840"/>
            <a:ext cx="0" cy="411480"/>
          </a:xfrm>
          <a:prstGeom prst="line">
            <a:avLst/>
          </a:prstGeom>
          <a:ln w="15875">
            <a:solidFill>
              <a:srgbClr val="27364A"/>
            </a:solidFill>
          </a:ln>
        </p:spPr>
      </p:cxnSp>
      <p:cxnSp>
        <p:nvCxnSpPr>
          <p:cNvPr id="40" name="Connector 39"/>
          <p:cNvCxnSpPr/>
          <p:nvPr/>
        </p:nvCxnSpPr>
        <p:spPr>
          <a:xfrm>
            <a:off x="8881018" y="3291840"/>
            <a:ext cx="0" cy="411480"/>
          </a:xfrm>
          <a:prstGeom prst="line">
            <a:avLst/>
          </a:prstGeom>
          <a:ln w="15875">
            <a:solidFill>
              <a:srgbClr val="27364A"/>
            </a:solidFill>
          </a:ln>
        </p:spPr>
      </p:cxnSp>
      <p:cxnSp>
        <p:nvCxnSpPr>
          <p:cNvPr id="41" name="Connector 40"/>
          <p:cNvCxnSpPr/>
          <p:nvPr/>
        </p:nvCxnSpPr>
        <p:spPr>
          <a:xfrm>
            <a:off x="10737799" y="3291840"/>
            <a:ext cx="0" cy="411480"/>
          </a:xfrm>
          <a:prstGeom prst="line">
            <a:avLst/>
          </a:prstGeom>
          <a:ln w="15875">
            <a:solidFill>
              <a:srgbClr val="27364A"/>
            </a:solidFill>
          </a:ln>
        </p:spPr>
      </p:cxnSp>
      <p:sp>
        <p:nvSpPr>
          <p:cNvPr id="42" name="Rounded Rectangle 41"/>
          <p:cNvSpPr/>
          <p:nvPr/>
        </p:nvSpPr>
        <p:spPr>
          <a:xfrm>
            <a:off x="640080" y="3703320"/>
            <a:ext cx="10911535" cy="566928"/>
          </a:xfrm>
          <a:prstGeom prst="roundRect">
            <a:avLst>
              <a:gd name="adj" fmla="val 16129"/>
            </a:avLst>
          </a:prstGeom>
          <a:solidFill>
            <a:srgbClr val="111C2E"/>
          </a:solidFill>
          <a:ln w="9525">
            <a:solidFill>
              <a:srgbClr val="27364A"/>
            </a:solidFill>
          </a:ln>
        </p:spPr>
        <p:txBody>
          <a:bodyPr rtlCol="0" anchor="ctr"/>
          <a:lstStyle/>
          <a:p/>
        </p:txBody>
      </p:sp>
      <p:sp>
        <p:nvSpPr>
          <p:cNvPr id="43" name="TextBox 42"/>
          <p:cNvSpPr txBox="1"/>
          <p:nvPr/>
        </p:nvSpPr>
        <p:spPr>
          <a:xfrm>
            <a:off x="868680" y="3877056"/>
            <a:ext cx="1828800" cy="228600"/>
          </a:xfrm>
          <a:prstGeom prst="rect">
            <a:avLst/>
          </a:prstGeom>
          <a:noFill/>
        </p:spPr>
        <p:txBody>
          <a:bodyPr wrap="square" lIns="0" rIns="0" tIns="0" bIns="0" anchor="t"/>
          <a:lstStyle/>
          <a:p>
            <a:pPr algn="l">
              <a:spcAft>
                <a:spcPts val="0"/>
              </a:spcAft>
            </a:pPr>
            <a:r>
              <a:rPr sz="900" b="1" i="0" spc="120">
                <a:solidFill>
                  <a:srgbClr val="19B6A4"/>
                </a:solidFill>
                <a:latin typeface="Arial"/>
              </a:rPr>
              <a:t>PERSISTENCE</a:t>
            </a:r>
          </a:p>
        </p:txBody>
      </p:sp>
      <p:sp>
        <p:nvSpPr>
          <p:cNvPr id="44" name="TextBox 43"/>
          <p:cNvSpPr txBox="1"/>
          <p:nvPr/>
        </p:nvSpPr>
        <p:spPr>
          <a:xfrm>
            <a:off x="2240280" y="3858768"/>
            <a:ext cx="9082735" cy="274320"/>
          </a:xfrm>
          <a:prstGeom prst="rect">
            <a:avLst/>
          </a:prstGeom>
          <a:noFill/>
        </p:spPr>
        <p:txBody>
          <a:bodyPr wrap="square" lIns="0" rIns="0" tIns="0" bIns="0" anchor="t"/>
          <a:lstStyle/>
          <a:p>
            <a:pPr algn="l">
              <a:spcAft>
                <a:spcPts val="0"/>
              </a:spcAft>
            </a:pPr>
            <a:r>
              <a:rPr sz="1200" b="0" i="0">
                <a:solidFill>
                  <a:srgbClr val="F8FAFC"/>
                </a:solidFill>
                <a:latin typeface="Arial"/>
              </a:rPr>
              <a:t>IndexedDB via Dexie, in the browser: cases · original files · statements · findings · append-only audit events</a:t>
            </a:r>
          </a:p>
        </p:txBody>
      </p:sp>
      <p:sp>
        <p:nvSpPr>
          <p:cNvPr id="45" name="Rounded Rectangle 44"/>
          <p:cNvSpPr/>
          <p:nvPr/>
        </p:nvSpPr>
        <p:spPr>
          <a:xfrm>
            <a:off x="640080" y="4526280"/>
            <a:ext cx="6812280" cy="1645920"/>
          </a:xfrm>
          <a:prstGeom prst="roundRect">
            <a:avLst>
              <a:gd name="adj" fmla="val 6666"/>
            </a:avLst>
          </a:prstGeom>
          <a:noFill/>
          <a:ln w="12700">
            <a:solidFill>
              <a:srgbClr val="B8C4D6"/>
            </a:solidFill>
            <a:prstDash val="dash"/>
          </a:ln>
        </p:spPr>
        <p:txBody>
          <a:bodyPr rtlCol="0" anchor="ctr"/>
          <a:lstStyle/>
          <a:p/>
        </p:txBody>
      </p:sp>
      <p:sp>
        <p:nvSpPr>
          <p:cNvPr id="46" name="TextBox 45"/>
          <p:cNvSpPr txBox="1"/>
          <p:nvPr/>
        </p:nvSpPr>
        <p:spPr>
          <a:xfrm>
            <a:off x="868680" y="4690872"/>
            <a:ext cx="6400800" cy="228600"/>
          </a:xfrm>
          <a:prstGeom prst="rect">
            <a:avLst/>
          </a:prstGeom>
          <a:noFill/>
        </p:spPr>
        <p:txBody>
          <a:bodyPr wrap="square" lIns="0" rIns="0" tIns="0" bIns="0" anchor="t"/>
          <a:lstStyle/>
          <a:p>
            <a:pPr algn="l">
              <a:spcAft>
                <a:spcPts val="0"/>
              </a:spcAft>
            </a:pPr>
            <a:r>
              <a:rPr sz="850" b="1" i="0" spc="120">
                <a:solidFill>
                  <a:srgbClr val="B8C4D6"/>
                </a:solidFill>
                <a:latin typeface="Arial"/>
              </a:rPr>
              <a:t>OPTIONAL SERVER LAYER · IMPLEMENTED AND TESTED, NOT PUBLICLY DEPLOYED</a:t>
            </a:r>
          </a:p>
        </p:txBody>
      </p:sp>
      <p:sp>
        <p:nvSpPr>
          <p:cNvPr id="47" name="Rounded Rectangle 46"/>
          <p:cNvSpPr/>
          <p:nvPr/>
        </p:nvSpPr>
        <p:spPr>
          <a:xfrm>
            <a:off x="868680" y="5029200"/>
            <a:ext cx="3108960" cy="960120"/>
          </a:xfrm>
          <a:prstGeom prst="roundRect">
            <a:avLst>
              <a:gd name="adj" fmla="val 9523"/>
            </a:avLst>
          </a:prstGeom>
          <a:solidFill>
            <a:srgbClr val="111C2E"/>
          </a:solidFill>
          <a:ln w="9525">
            <a:solidFill>
              <a:srgbClr val="27364A"/>
            </a:solidFill>
          </a:ln>
        </p:spPr>
        <p:txBody>
          <a:bodyPr rtlCol="0" anchor="ctr"/>
          <a:lstStyle/>
          <a:p/>
        </p:txBody>
      </p:sp>
      <p:sp>
        <p:nvSpPr>
          <p:cNvPr id="48" name="TextBox 47"/>
          <p:cNvSpPr txBox="1"/>
          <p:nvPr/>
        </p:nvSpPr>
        <p:spPr>
          <a:xfrm>
            <a:off x="1051560" y="5129784"/>
            <a:ext cx="2743200" cy="274320"/>
          </a:xfrm>
          <a:prstGeom prst="rect">
            <a:avLst/>
          </a:prstGeom>
          <a:noFill/>
        </p:spPr>
        <p:txBody>
          <a:bodyPr wrap="square" lIns="0" rIns="0" tIns="0" bIns="0" anchor="t"/>
          <a:lstStyle/>
          <a:p>
            <a:pPr algn="l">
              <a:spcAft>
                <a:spcPts val="0"/>
              </a:spcAft>
            </a:pPr>
            <a:r>
              <a:rPr sz="1200" b="1" i="0">
                <a:solidFill>
                  <a:srgbClr val="F8FAFC"/>
                </a:solidFill>
                <a:latin typeface="Arial"/>
              </a:rPr>
              <a:t>Shared workspace API</a:t>
            </a:r>
          </a:p>
        </p:txBody>
      </p:sp>
      <p:sp>
        <p:nvSpPr>
          <p:cNvPr id="49" name="TextBox 48"/>
          <p:cNvSpPr txBox="1"/>
          <p:nvPr/>
        </p:nvSpPr>
        <p:spPr>
          <a:xfrm>
            <a:off x="1051560" y="5413248"/>
            <a:ext cx="2834640" cy="548640"/>
          </a:xfrm>
          <a:prstGeom prst="rect">
            <a:avLst/>
          </a:prstGeom>
          <a:noFill/>
        </p:spPr>
        <p:txBody>
          <a:bodyPr wrap="square" lIns="0" rIns="0" tIns="0" bIns="0" anchor="t"/>
          <a:lstStyle/>
          <a:p>
            <a:pPr algn="l">
              <a:spcAft>
                <a:spcPts val="0"/>
              </a:spcAft>
            </a:pPr>
            <a:r>
              <a:rPr sz="1000" b="0" i="0">
                <a:solidFill>
                  <a:srgbClr val="B8C4D6"/>
                </a:solidFill>
                <a:latin typeface="Arial"/>
              </a:rPr>
              <a:t>Node 22 + SQLite: accounts, case roles,</a:t>
            </a:r>
          </a:p>
          <a:p>
            <a:pPr algn="l">
              <a:spcAft>
                <a:spcPts val="0"/>
              </a:spcAft>
            </a:pPr>
            <a:r>
              <a:rPr sz="1000" b="0" i="0">
                <a:solidFill>
                  <a:srgbClr val="B8C4D6"/>
                </a:solidFill>
                <a:latin typeface="Arial"/>
              </a:rPr>
              <a:t>shared review state, append-only audit</a:t>
            </a:r>
          </a:p>
        </p:txBody>
      </p:sp>
      <p:sp>
        <p:nvSpPr>
          <p:cNvPr id="50" name="Rounded Rectangle 49"/>
          <p:cNvSpPr/>
          <p:nvPr/>
        </p:nvSpPr>
        <p:spPr>
          <a:xfrm>
            <a:off x="4160520" y="5029200"/>
            <a:ext cx="3108960" cy="960120"/>
          </a:xfrm>
          <a:prstGeom prst="roundRect">
            <a:avLst>
              <a:gd name="adj" fmla="val 9523"/>
            </a:avLst>
          </a:prstGeom>
          <a:solidFill>
            <a:srgbClr val="111C2E"/>
          </a:solidFill>
          <a:ln w="9525">
            <a:solidFill>
              <a:srgbClr val="27364A"/>
            </a:solidFill>
          </a:ln>
        </p:spPr>
        <p:txBody>
          <a:bodyPr rtlCol="0" anchor="ctr"/>
          <a:lstStyle/>
          <a:p/>
        </p:txBody>
      </p:sp>
      <p:sp>
        <p:nvSpPr>
          <p:cNvPr id="51" name="TextBox 50"/>
          <p:cNvSpPr txBox="1"/>
          <p:nvPr/>
        </p:nvSpPr>
        <p:spPr>
          <a:xfrm>
            <a:off x="4343400" y="5129784"/>
            <a:ext cx="2743200" cy="274320"/>
          </a:xfrm>
          <a:prstGeom prst="rect">
            <a:avLst/>
          </a:prstGeom>
          <a:noFill/>
        </p:spPr>
        <p:txBody>
          <a:bodyPr wrap="square" lIns="0" rIns="0" tIns="0" bIns="0" anchor="t"/>
          <a:lstStyle/>
          <a:p>
            <a:pPr algn="l">
              <a:spcAft>
                <a:spcPts val="0"/>
              </a:spcAft>
            </a:pPr>
            <a:r>
              <a:rPr sz="1200" b="1" i="0">
                <a:solidFill>
                  <a:srgbClr val="F8FAFC"/>
                </a:solidFill>
                <a:latin typeface="Arial"/>
              </a:rPr>
              <a:t>AI-assisted reasoning</a:t>
            </a:r>
          </a:p>
        </p:txBody>
      </p:sp>
      <p:sp>
        <p:nvSpPr>
          <p:cNvPr id="52" name="TextBox 51"/>
          <p:cNvSpPr txBox="1"/>
          <p:nvPr/>
        </p:nvSpPr>
        <p:spPr>
          <a:xfrm>
            <a:off x="4343400" y="5413248"/>
            <a:ext cx="2834640" cy="548640"/>
          </a:xfrm>
          <a:prstGeom prst="rect">
            <a:avLst/>
          </a:prstGeom>
          <a:noFill/>
        </p:spPr>
        <p:txBody>
          <a:bodyPr wrap="square" lIns="0" rIns="0" tIns="0" bIns="0" anchor="t"/>
          <a:lstStyle/>
          <a:p>
            <a:pPr algn="l">
              <a:spcAft>
                <a:spcPts val="0"/>
              </a:spcAft>
            </a:pPr>
            <a:r>
              <a:rPr sz="1000" b="0" i="0">
                <a:solidFill>
                  <a:srgbClr val="B8C4D6"/>
                </a:solidFill>
                <a:latin typeface="Arial"/>
              </a:rPr>
              <a:t>Anthropic API via the server; every quote</a:t>
            </a:r>
          </a:p>
          <a:p>
            <a:pPr algn="l">
              <a:spcAft>
                <a:spcPts val="0"/>
              </a:spcAft>
            </a:pPr>
            <a:r>
              <a:rPr sz="1000" b="0" i="0">
                <a:solidFill>
                  <a:srgbClr val="B8C4D6"/>
                </a:solidFill>
                <a:latin typeface="Arial"/>
              </a:rPr>
              <a:t>re-verified. Not yet run on a live model</a:t>
            </a:r>
          </a:p>
        </p:txBody>
      </p:sp>
      <p:sp>
        <p:nvSpPr>
          <p:cNvPr id="53" name="Rounded Rectangle 52"/>
          <p:cNvSpPr/>
          <p:nvPr/>
        </p:nvSpPr>
        <p:spPr>
          <a:xfrm>
            <a:off x="7680960" y="4526280"/>
            <a:ext cx="3870655" cy="1645920"/>
          </a:xfrm>
          <a:prstGeom prst="roundRect">
            <a:avLst>
              <a:gd name="adj" fmla="val 6666"/>
            </a:avLst>
          </a:prstGeom>
          <a:solidFill>
            <a:srgbClr val="111C2E"/>
          </a:solidFill>
          <a:ln w="9525">
            <a:solidFill>
              <a:srgbClr val="27364A"/>
            </a:solidFill>
          </a:ln>
        </p:spPr>
        <p:txBody>
          <a:bodyPr rtlCol="0" anchor="ctr"/>
          <a:lstStyle/>
          <a:p/>
        </p:txBody>
      </p:sp>
      <p:sp>
        <p:nvSpPr>
          <p:cNvPr id="54" name="TextBox 53"/>
          <p:cNvSpPr txBox="1"/>
          <p:nvPr/>
        </p:nvSpPr>
        <p:spPr>
          <a:xfrm>
            <a:off x="7909560" y="4690872"/>
            <a:ext cx="3200400" cy="228600"/>
          </a:xfrm>
          <a:prstGeom prst="rect">
            <a:avLst/>
          </a:prstGeom>
          <a:noFill/>
        </p:spPr>
        <p:txBody>
          <a:bodyPr wrap="square" lIns="0" rIns="0" tIns="0" bIns="0" anchor="t"/>
          <a:lstStyle/>
          <a:p>
            <a:pPr algn="l">
              <a:spcAft>
                <a:spcPts val="0"/>
              </a:spcAft>
            </a:pPr>
            <a:r>
              <a:rPr sz="900" b="1" i="0" spc="120">
                <a:solidFill>
                  <a:srgbClr val="82B7FF"/>
                </a:solidFill>
                <a:latin typeface="Arial"/>
              </a:rPr>
              <a:t>WHY TRACEABILITY</a:t>
            </a:r>
          </a:p>
        </p:txBody>
      </p:sp>
      <p:sp>
        <p:nvSpPr>
          <p:cNvPr id="55" name="TextBox 54"/>
          <p:cNvSpPr txBox="1"/>
          <p:nvPr/>
        </p:nvSpPr>
        <p:spPr>
          <a:xfrm>
            <a:off x="7909560" y="4965192"/>
            <a:ext cx="3413455" cy="1143000"/>
          </a:xfrm>
          <a:prstGeom prst="rect">
            <a:avLst/>
          </a:prstGeom>
          <a:noFill/>
        </p:spPr>
        <p:txBody>
          <a:bodyPr wrap="square" lIns="0" rIns="0" tIns="0" bIns="0" anchor="t"/>
          <a:lstStyle/>
          <a:p>
            <a:pPr algn="l">
              <a:lnSpc>
                <a:spcPct val="115000"/>
              </a:lnSpc>
              <a:spcAft>
                <a:spcPts val="0"/>
              </a:spcAft>
            </a:pPr>
            <a:r>
              <a:rPr sz="1200" b="0" i="0">
                <a:solidFill>
                  <a:srgbClr val="F8FAFC"/>
                </a:solidFill>
                <a:latin typeface="Arial"/>
              </a:rPr>
              <a:t>Each finding stores the quotes, document, date and verified page behind it, so a reviewer can see why it was raised and check it in the source.</a:t>
            </a:r>
          </a:p>
        </p:txBody>
      </p:sp>
      <p:sp>
        <p:nvSpPr>
          <p:cNvPr id="56" name="TextBox 55"/>
          <p:cNvSpPr txBox="1"/>
          <p:nvPr/>
        </p:nvSpPr>
        <p:spPr>
          <a:xfrm>
            <a:off x="640080" y="6400800"/>
            <a:ext cx="4572000" cy="201168"/>
          </a:xfrm>
          <a:prstGeom prst="rect">
            <a:avLst/>
          </a:prstGeom>
          <a:noFill/>
        </p:spPr>
        <p:txBody>
          <a:bodyPr wrap="square" lIns="0" rIns="0" tIns="0" bIns="0" anchor="t"/>
          <a:lstStyle/>
          <a:p>
            <a:pPr algn="l">
              <a:spcAft>
                <a:spcPts val="0"/>
              </a:spcAft>
            </a:pPr>
            <a:r>
              <a:rPr sz="950" b="1" i="0" spc="100">
                <a:solidFill>
                  <a:srgbClr val="B8C4D6"/>
                </a:solidFill>
                <a:latin typeface="Arial"/>
              </a:rPr>
              <a:t>CLINISCOPE</a:t>
            </a:r>
            <a:r>
              <a:rPr sz="950" b="0" i="0" spc="60">
                <a:solidFill>
                  <a:srgbClr val="B8C4D6"/>
                </a:solidFill>
                <a:latin typeface="Arial"/>
              </a:rPr>
              <a:t>   |   PS-11R3</a:t>
            </a:r>
          </a:p>
        </p:txBody>
      </p:sp>
      <p:sp>
        <p:nvSpPr>
          <p:cNvPr id="57" name="TextBox 56"/>
          <p:cNvSpPr txBox="1"/>
          <p:nvPr/>
        </p:nvSpPr>
        <p:spPr>
          <a:xfrm>
            <a:off x="10180015" y="6400800"/>
            <a:ext cx="1371600" cy="201168"/>
          </a:xfrm>
          <a:prstGeom prst="rect">
            <a:avLst/>
          </a:prstGeom>
          <a:noFill/>
        </p:spPr>
        <p:txBody>
          <a:bodyPr wrap="square" lIns="0" rIns="0" tIns="0" bIns="0" anchor="t"/>
          <a:lstStyle/>
          <a:p>
            <a:pPr algn="r">
              <a:spcAft>
                <a:spcPts val="0"/>
              </a:spcAft>
            </a:pPr>
            <a:r>
              <a:rPr sz="950" b="0" i="0" spc="60">
                <a:solidFill>
                  <a:srgbClr val="B8C4D6"/>
                </a:solidFill>
                <a:latin typeface="Arial"/>
              </a:rPr>
              <a:t>04 / 08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AFC"/>
        </a:solidFill>
        <a:effectLst/>
      </p:bgPr>
    </p:bg>
    <p:spTree>
      <p:nvGrpSpPr>
        <p:cNvPr id="1" name=""/>
        <p:cNvGrpSpPr/>
        <p:nvPr/>
      </p:nvGrpSpPr>
      <p:grpSpPr/>
      <p:sp>
        <p:nvSpPr>
          <p:cNvPr id="2" name="TextBox 1"/>
          <p:cNvSpPr txBox="1"/>
          <p:nvPr/>
        </p:nvSpPr>
        <p:spPr>
          <a:xfrm>
            <a:off x="640080" y="457200"/>
            <a:ext cx="7315200" cy="228600"/>
          </a:xfrm>
          <a:prstGeom prst="rect">
            <a:avLst/>
          </a:prstGeom>
          <a:noFill/>
        </p:spPr>
        <p:txBody>
          <a:bodyPr wrap="square" lIns="0" rIns="0" tIns="0" bIns="0" anchor="t"/>
          <a:lstStyle/>
          <a:p>
            <a:pPr algn="l">
              <a:spcAft>
                <a:spcPts val="0"/>
              </a:spcAft>
            </a:pPr>
            <a:r>
              <a:rPr sz="1050" b="1" i="0" spc="120">
                <a:solidFill>
                  <a:srgbClr val="19B6A4"/>
                </a:solidFill>
                <a:latin typeface="Arial"/>
              </a:rPr>
              <a:t>05  ·  TECHNOLOGY STACK</a:t>
            </a:r>
          </a:p>
        </p:txBody>
      </p:sp>
      <p:sp>
        <p:nvSpPr>
          <p:cNvPr id="3" name="Title"/>
          <p:cNvSpPr txBox="1"/>
          <p:nvPr/>
        </p:nvSpPr>
        <p:spPr>
          <a:xfrm>
            <a:off x="640080" y="749808"/>
            <a:ext cx="10911535" cy="548640"/>
          </a:xfrm>
          <a:prstGeom prst="rect">
            <a:avLst/>
          </a:prstGeom>
          <a:noFill/>
        </p:spPr>
        <p:txBody>
          <a:bodyPr wrap="square" lIns="0" rIns="0" tIns="0" bIns="0" anchor="t"/>
          <a:lstStyle/>
          <a:p>
            <a:pPr algn="l">
              <a:spcAft>
                <a:spcPts val="0"/>
              </a:spcAft>
            </a:pPr>
            <a:r>
              <a:rPr sz="2800" b="1" i="0">
                <a:solidFill>
                  <a:srgbClr val="172033"/>
                </a:solidFill>
                <a:latin typeface="Arial"/>
              </a:rPr>
              <a:t>Technology chosen for a practical, extensible implementation</a:t>
            </a:r>
          </a:p>
        </p:txBody>
      </p:sp>
      <p:sp>
        <p:nvSpPr>
          <p:cNvPr id="4" name="TextBox 3"/>
          <p:cNvSpPr txBox="1"/>
          <p:nvPr/>
        </p:nvSpPr>
        <p:spPr>
          <a:xfrm>
            <a:off x="640080" y="1298448"/>
            <a:ext cx="10911535" cy="320040"/>
          </a:xfrm>
          <a:prstGeom prst="rect">
            <a:avLst/>
          </a:prstGeom>
          <a:noFill/>
        </p:spPr>
        <p:txBody>
          <a:bodyPr wrap="square" lIns="0" rIns="0" tIns="0" bIns="0" anchor="t"/>
          <a:lstStyle/>
          <a:p>
            <a:pPr algn="l">
              <a:spcAft>
                <a:spcPts val="0"/>
              </a:spcAft>
            </a:pPr>
            <a:r>
              <a:rPr sz="1400" b="0" i="0">
                <a:solidFill>
                  <a:srgbClr val="526176"/>
                </a:solidFill>
                <a:latin typeface="Arial"/>
              </a:rPr>
              <a:t>Verified in package.json, source imports and the CI workflow.</a:t>
            </a:r>
          </a:p>
        </p:txBody>
      </p:sp>
      <p:sp>
        <p:nvSpPr>
          <p:cNvPr id="5" name="Rounded Rectangle 4"/>
          <p:cNvSpPr/>
          <p:nvPr/>
        </p:nvSpPr>
        <p:spPr>
          <a:xfrm>
            <a:off x="640080" y="1828800"/>
            <a:ext cx="2011680" cy="3246120"/>
          </a:xfrm>
          <a:prstGeom prst="roundRect">
            <a:avLst>
              <a:gd name="adj" fmla="val 6363"/>
            </a:avLst>
          </a:prstGeom>
          <a:solidFill>
            <a:srgbClr val="FFFFFF"/>
          </a:solidFill>
          <a:ln w="9525">
            <a:solidFill>
              <a:srgbClr val="DCE3EC"/>
            </a:solidFill>
          </a:ln>
        </p:spPr>
        <p:txBody>
          <a:bodyPr rtlCol="0" anchor="ctr"/>
          <a:lstStyle/>
          <a:p/>
        </p:txBody>
      </p:sp>
      <p:sp>
        <p:nvSpPr>
          <p:cNvPr id="6" name="Rounded Rectangle 5"/>
          <p:cNvSpPr/>
          <p:nvPr/>
        </p:nvSpPr>
        <p:spPr>
          <a:xfrm>
            <a:off x="868680" y="2075688"/>
            <a:ext cx="292608" cy="54864"/>
          </a:xfrm>
          <a:prstGeom prst="roundRect">
            <a:avLst>
              <a:gd name="adj" fmla="val 50000"/>
            </a:avLst>
          </a:prstGeom>
          <a:solidFill>
            <a:srgbClr val="4C8DFF"/>
          </a:solidFill>
          <a:ln>
            <a:noFill/>
          </a:ln>
        </p:spPr>
        <p:txBody>
          <a:bodyPr rtlCol="0" anchor="ctr"/>
          <a:lstStyle/>
          <a:p/>
        </p:txBody>
      </p:sp>
      <p:sp>
        <p:nvSpPr>
          <p:cNvPr id="7" name="TextBox 6"/>
          <p:cNvSpPr txBox="1"/>
          <p:nvPr/>
        </p:nvSpPr>
        <p:spPr>
          <a:xfrm>
            <a:off x="868680" y="2212848"/>
            <a:ext cx="1645920" cy="228600"/>
          </a:xfrm>
          <a:prstGeom prst="rect">
            <a:avLst/>
          </a:prstGeom>
          <a:noFill/>
        </p:spPr>
        <p:txBody>
          <a:bodyPr wrap="square" lIns="0" rIns="0" tIns="0" bIns="0" anchor="t"/>
          <a:lstStyle/>
          <a:p>
            <a:pPr algn="l">
              <a:spcAft>
                <a:spcPts val="0"/>
              </a:spcAft>
            </a:pPr>
            <a:r>
              <a:rPr sz="1000" b="1" i="0" spc="120">
                <a:solidFill>
                  <a:srgbClr val="172033"/>
                </a:solidFill>
                <a:latin typeface="Arial"/>
              </a:rPr>
              <a:t>FRONTEND</a:t>
            </a:r>
          </a:p>
        </p:txBody>
      </p:sp>
      <p:sp>
        <p:nvSpPr>
          <p:cNvPr id="8" name="Rounded Rectangle 7"/>
          <p:cNvSpPr/>
          <p:nvPr/>
        </p:nvSpPr>
        <p:spPr>
          <a:xfrm>
            <a:off x="868680" y="2743200"/>
            <a:ext cx="1554480" cy="310896"/>
          </a:xfrm>
          <a:prstGeom prst="roundRect">
            <a:avLst>
              <a:gd name="adj" fmla="val 50000"/>
            </a:avLst>
          </a:prstGeom>
          <a:solidFill>
            <a:srgbClr val="F7FAFC"/>
          </a:solidFill>
          <a:ln w="9525">
            <a:solidFill>
              <a:srgbClr val="DCE3EC"/>
            </a:solidFill>
          </a:ln>
        </p:spPr>
        <p:txBody>
          <a:bodyPr rtlCol="0" anchor="ctr" wrap="square" lIns="0" rIns="0" tIns="0" bIns="0"/>
          <a:lstStyle/>
          <a:p>
            <a:pPr algn="ctr">
              <a:spcAft>
                <a:spcPts val="0"/>
              </a:spcAft>
            </a:pPr>
            <a:r>
              <a:rPr sz="1100" b="1" i="0">
                <a:solidFill>
                  <a:srgbClr val="172033"/>
                </a:solidFill>
                <a:latin typeface="Arial"/>
              </a:rPr>
              <a:t>React 18</a:t>
            </a:r>
          </a:p>
        </p:txBody>
      </p:sp>
      <p:sp>
        <p:nvSpPr>
          <p:cNvPr id="9" name="Rounded Rectangle 8"/>
          <p:cNvSpPr/>
          <p:nvPr/>
        </p:nvSpPr>
        <p:spPr>
          <a:xfrm>
            <a:off x="868680" y="3127248"/>
            <a:ext cx="1554480" cy="310896"/>
          </a:xfrm>
          <a:prstGeom prst="roundRect">
            <a:avLst>
              <a:gd name="adj" fmla="val 50000"/>
            </a:avLst>
          </a:prstGeom>
          <a:solidFill>
            <a:srgbClr val="F7FAFC"/>
          </a:solidFill>
          <a:ln w="9525">
            <a:solidFill>
              <a:srgbClr val="DCE3EC"/>
            </a:solidFill>
          </a:ln>
        </p:spPr>
        <p:txBody>
          <a:bodyPr rtlCol="0" anchor="ctr" wrap="square" lIns="0" rIns="0" tIns="0" bIns="0"/>
          <a:lstStyle/>
          <a:p>
            <a:pPr algn="ctr">
              <a:spcAft>
                <a:spcPts val="0"/>
              </a:spcAft>
            </a:pPr>
            <a:r>
              <a:rPr sz="1100" b="1" i="0">
                <a:solidFill>
                  <a:srgbClr val="172033"/>
                </a:solidFill>
                <a:latin typeface="Arial"/>
              </a:rPr>
              <a:t>TypeScript</a:t>
            </a:r>
          </a:p>
        </p:txBody>
      </p:sp>
      <p:sp>
        <p:nvSpPr>
          <p:cNvPr id="10" name="Rounded Rectangle 9"/>
          <p:cNvSpPr/>
          <p:nvPr/>
        </p:nvSpPr>
        <p:spPr>
          <a:xfrm>
            <a:off x="868680" y="3511296"/>
            <a:ext cx="1554480" cy="310896"/>
          </a:xfrm>
          <a:prstGeom prst="roundRect">
            <a:avLst>
              <a:gd name="adj" fmla="val 50000"/>
            </a:avLst>
          </a:prstGeom>
          <a:solidFill>
            <a:srgbClr val="F7FAFC"/>
          </a:solidFill>
          <a:ln w="9525">
            <a:solidFill>
              <a:srgbClr val="DCE3EC"/>
            </a:solidFill>
          </a:ln>
        </p:spPr>
        <p:txBody>
          <a:bodyPr rtlCol="0" anchor="ctr" wrap="square" lIns="0" rIns="0" tIns="0" bIns="0"/>
          <a:lstStyle/>
          <a:p>
            <a:pPr algn="ctr">
              <a:spcAft>
                <a:spcPts val="0"/>
              </a:spcAft>
            </a:pPr>
            <a:r>
              <a:rPr sz="1100" b="1" i="0">
                <a:solidFill>
                  <a:srgbClr val="172033"/>
                </a:solidFill>
                <a:latin typeface="Arial"/>
              </a:rPr>
              <a:t>Vite</a:t>
            </a:r>
          </a:p>
        </p:txBody>
      </p:sp>
      <p:sp>
        <p:nvSpPr>
          <p:cNvPr id="11" name="Rounded Rectangle 10"/>
          <p:cNvSpPr/>
          <p:nvPr/>
        </p:nvSpPr>
        <p:spPr>
          <a:xfrm>
            <a:off x="868680" y="3895344"/>
            <a:ext cx="1554480" cy="310896"/>
          </a:xfrm>
          <a:prstGeom prst="roundRect">
            <a:avLst>
              <a:gd name="adj" fmla="val 50000"/>
            </a:avLst>
          </a:prstGeom>
          <a:solidFill>
            <a:srgbClr val="F7FAFC"/>
          </a:solidFill>
          <a:ln w="9525">
            <a:solidFill>
              <a:srgbClr val="DCE3EC"/>
            </a:solidFill>
          </a:ln>
        </p:spPr>
        <p:txBody>
          <a:bodyPr rtlCol="0" anchor="ctr" wrap="square" lIns="0" rIns="0" tIns="0" bIns="0"/>
          <a:lstStyle/>
          <a:p>
            <a:pPr algn="ctr">
              <a:spcAft>
                <a:spcPts val="0"/>
              </a:spcAft>
            </a:pPr>
            <a:r>
              <a:rPr sz="1100" b="1" i="0">
                <a:solidFill>
                  <a:srgbClr val="172033"/>
                </a:solidFill>
                <a:latin typeface="Arial"/>
              </a:rPr>
              <a:t>Tailwind CSS</a:t>
            </a:r>
          </a:p>
        </p:txBody>
      </p:sp>
      <p:sp>
        <p:nvSpPr>
          <p:cNvPr id="12" name="TextBox 11"/>
          <p:cNvSpPr txBox="1"/>
          <p:nvPr/>
        </p:nvSpPr>
        <p:spPr>
          <a:xfrm>
            <a:off x="868680" y="4279392"/>
            <a:ext cx="1600200" cy="777240"/>
          </a:xfrm>
          <a:prstGeom prst="rect">
            <a:avLst/>
          </a:prstGeom>
          <a:noFill/>
        </p:spPr>
        <p:txBody>
          <a:bodyPr wrap="square" lIns="0" rIns="0" tIns="0" bIns="0" anchor="t"/>
          <a:lstStyle/>
          <a:p>
            <a:pPr algn="l">
              <a:lnSpc>
                <a:spcPct val="110000"/>
              </a:lnSpc>
              <a:spcAft>
                <a:spcPts val="0"/>
              </a:spcAft>
            </a:pPr>
            <a:r>
              <a:rPr sz="1100" b="0" i="0">
                <a:solidFill>
                  <a:srgbClr val="526176"/>
                </a:solidFill>
                <a:latin typeface="Arial"/>
              </a:rPr>
              <a:t>Single-page review interface with hash routing for static hosting.</a:t>
            </a:r>
          </a:p>
        </p:txBody>
      </p:sp>
      <p:sp>
        <p:nvSpPr>
          <p:cNvPr id="13" name="Rounded Rectangle 12"/>
          <p:cNvSpPr/>
          <p:nvPr/>
        </p:nvSpPr>
        <p:spPr>
          <a:xfrm>
            <a:off x="2865043" y="1828800"/>
            <a:ext cx="2011680" cy="3246120"/>
          </a:xfrm>
          <a:prstGeom prst="roundRect">
            <a:avLst>
              <a:gd name="adj" fmla="val 6363"/>
            </a:avLst>
          </a:prstGeom>
          <a:solidFill>
            <a:srgbClr val="FFFFFF"/>
          </a:solidFill>
          <a:ln w="9525">
            <a:solidFill>
              <a:srgbClr val="DCE3EC"/>
            </a:solidFill>
          </a:ln>
        </p:spPr>
        <p:txBody>
          <a:bodyPr rtlCol="0" anchor="ctr"/>
          <a:lstStyle/>
          <a:p/>
        </p:txBody>
      </p:sp>
      <p:sp>
        <p:nvSpPr>
          <p:cNvPr id="14" name="Rounded Rectangle 13"/>
          <p:cNvSpPr/>
          <p:nvPr/>
        </p:nvSpPr>
        <p:spPr>
          <a:xfrm>
            <a:off x="3093643" y="2075688"/>
            <a:ext cx="292608" cy="54864"/>
          </a:xfrm>
          <a:prstGeom prst="roundRect">
            <a:avLst>
              <a:gd name="adj" fmla="val 50000"/>
            </a:avLst>
          </a:prstGeom>
          <a:solidFill>
            <a:srgbClr val="82B7FF"/>
          </a:solidFill>
          <a:ln>
            <a:noFill/>
          </a:ln>
        </p:spPr>
        <p:txBody>
          <a:bodyPr rtlCol="0" anchor="ctr"/>
          <a:lstStyle/>
          <a:p/>
        </p:txBody>
      </p:sp>
      <p:sp>
        <p:nvSpPr>
          <p:cNvPr id="15" name="TextBox 14"/>
          <p:cNvSpPr txBox="1"/>
          <p:nvPr/>
        </p:nvSpPr>
        <p:spPr>
          <a:xfrm>
            <a:off x="3093643" y="2212848"/>
            <a:ext cx="1645920" cy="228600"/>
          </a:xfrm>
          <a:prstGeom prst="rect">
            <a:avLst/>
          </a:prstGeom>
          <a:noFill/>
        </p:spPr>
        <p:txBody>
          <a:bodyPr wrap="square" lIns="0" rIns="0" tIns="0" bIns="0" anchor="t"/>
          <a:lstStyle/>
          <a:p>
            <a:pPr algn="l">
              <a:spcAft>
                <a:spcPts val="0"/>
              </a:spcAft>
            </a:pPr>
            <a:r>
              <a:rPr sz="1000" b="1" i="0" spc="120">
                <a:solidFill>
                  <a:srgbClr val="172033"/>
                </a:solidFill>
                <a:latin typeface="Arial"/>
              </a:rPr>
              <a:t>DOCUMENT PROCESSING</a:t>
            </a:r>
          </a:p>
        </p:txBody>
      </p:sp>
      <p:sp>
        <p:nvSpPr>
          <p:cNvPr id="16" name="Rounded Rectangle 15"/>
          <p:cNvSpPr/>
          <p:nvPr/>
        </p:nvSpPr>
        <p:spPr>
          <a:xfrm>
            <a:off x="3093643" y="2743200"/>
            <a:ext cx="1554480" cy="310896"/>
          </a:xfrm>
          <a:prstGeom prst="roundRect">
            <a:avLst>
              <a:gd name="adj" fmla="val 50000"/>
            </a:avLst>
          </a:prstGeom>
          <a:solidFill>
            <a:srgbClr val="F7FAFC"/>
          </a:solidFill>
          <a:ln w="9525">
            <a:solidFill>
              <a:srgbClr val="DCE3EC"/>
            </a:solidFill>
          </a:ln>
        </p:spPr>
        <p:txBody>
          <a:bodyPr rtlCol="0" anchor="ctr" wrap="square" lIns="0" rIns="0" tIns="0" bIns="0"/>
          <a:lstStyle/>
          <a:p>
            <a:pPr algn="ctr">
              <a:spcAft>
                <a:spcPts val="0"/>
              </a:spcAft>
            </a:pPr>
            <a:r>
              <a:rPr sz="1100" b="1" i="0">
                <a:solidFill>
                  <a:srgbClr val="172033"/>
                </a:solidFill>
                <a:latin typeface="Arial"/>
              </a:rPr>
              <a:t>pdfjs-dist</a:t>
            </a:r>
          </a:p>
        </p:txBody>
      </p:sp>
      <p:sp>
        <p:nvSpPr>
          <p:cNvPr id="17" name="Rounded Rectangle 16"/>
          <p:cNvSpPr/>
          <p:nvPr/>
        </p:nvSpPr>
        <p:spPr>
          <a:xfrm>
            <a:off x="3093643" y="3127248"/>
            <a:ext cx="1554480" cy="310896"/>
          </a:xfrm>
          <a:prstGeom prst="roundRect">
            <a:avLst>
              <a:gd name="adj" fmla="val 50000"/>
            </a:avLst>
          </a:prstGeom>
          <a:solidFill>
            <a:srgbClr val="F7FAFC"/>
          </a:solidFill>
          <a:ln w="9525">
            <a:solidFill>
              <a:srgbClr val="DCE3EC"/>
            </a:solidFill>
          </a:ln>
        </p:spPr>
        <p:txBody>
          <a:bodyPr rtlCol="0" anchor="ctr" wrap="square" lIns="0" rIns="0" tIns="0" bIns="0"/>
          <a:lstStyle/>
          <a:p>
            <a:pPr algn="ctr">
              <a:spcAft>
                <a:spcPts val="0"/>
              </a:spcAft>
            </a:pPr>
            <a:r>
              <a:rPr sz="1100" b="1" i="0">
                <a:solidFill>
                  <a:srgbClr val="172033"/>
                </a:solidFill>
                <a:latin typeface="Arial"/>
              </a:rPr>
              <a:t>Tesseract.js 6</a:t>
            </a:r>
          </a:p>
        </p:txBody>
      </p:sp>
      <p:sp>
        <p:nvSpPr>
          <p:cNvPr id="18" name="Rounded Rectangle 17"/>
          <p:cNvSpPr/>
          <p:nvPr/>
        </p:nvSpPr>
        <p:spPr>
          <a:xfrm>
            <a:off x="3093643" y="3511296"/>
            <a:ext cx="1554480" cy="310896"/>
          </a:xfrm>
          <a:prstGeom prst="roundRect">
            <a:avLst>
              <a:gd name="adj" fmla="val 50000"/>
            </a:avLst>
          </a:prstGeom>
          <a:solidFill>
            <a:srgbClr val="F7FAFC"/>
          </a:solidFill>
          <a:ln w="9525">
            <a:solidFill>
              <a:srgbClr val="DCE3EC"/>
            </a:solidFill>
          </a:ln>
        </p:spPr>
        <p:txBody>
          <a:bodyPr rtlCol="0" anchor="ctr" wrap="square" lIns="0" rIns="0" tIns="0" bIns="0"/>
          <a:lstStyle/>
          <a:p>
            <a:pPr algn="ctr">
              <a:spcAft>
                <a:spcPts val="0"/>
              </a:spcAft>
            </a:pPr>
            <a:r>
              <a:rPr sz="1100" b="1" i="0">
                <a:solidFill>
                  <a:srgbClr val="172033"/>
                </a:solidFill>
                <a:latin typeface="Arial"/>
              </a:rPr>
              <a:t>mammoth</a:t>
            </a:r>
          </a:p>
        </p:txBody>
      </p:sp>
      <p:sp>
        <p:nvSpPr>
          <p:cNvPr id="19" name="TextBox 18"/>
          <p:cNvSpPr txBox="1"/>
          <p:nvPr/>
        </p:nvSpPr>
        <p:spPr>
          <a:xfrm>
            <a:off x="3093643" y="4279392"/>
            <a:ext cx="1600200" cy="777240"/>
          </a:xfrm>
          <a:prstGeom prst="rect">
            <a:avLst/>
          </a:prstGeom>
          <a:noFill/>
        </p:spPr>
        <p:txBody>
          <a:bodyPr wrap="square" lIns="0" rIns="0" tIns="0" bIns="0" anchor="t"/>
          <a:lstStyle/>
          <a:p>
            <a:pPr algn="l">
              <a:lnSpc>
                <a:spcPct val="110000"/>
              </a:lnSpc>
              <a:spcAft>
                <a:spcPts val="0"/>
              </a:spcAft>
            </a:pPr>
            <a:r>
              <a:rPr sz="1100" b="0" i="0">
                <a:solidFill>
                  <a:srgbClr val="526176"/>
                </a:solidFill>
                <a:latin typeface="Arial"/>
              </a:rPr>
              <a:t>PDF text layer, on-device OCR and DOCX extraction in the browser.</a:t>
            </a:r>
          </a:p>
        </p:txBody>
      </p:sp>
      <p:sp>
        <p:nvSpPr>
          <p:cNvPr id="20" name="Rounded Rectangle 19"/>
          <p:cNvSpPr/>
          <p:nvPr/>
        </p:nvSpPr>
        <p:spPr>
          <a:xfrm>
            <a:off x="5090007" y="1828800"/>
            <a:ext cx="2011680" cy="3246120"/>
          </a:xfrm>
          <a:prstGeom prst="roundRect">
            <a:avLst>
              <a:gd name="adj" fmla="val 6363"/>
            </a:avLst>
          </a:prstGeom>
          <a:solidFill>
            <a:srgbClr val="FFFFFF"/>
          </a:solidFill>
          <a:ln w="9525">
            <a:solidFill>
              <a:srgbClr val="DCE3EC"/>
            </a:solidFill>
          </a:ln>
        </p:spPr>
        <p:txBody>
          <a:bodyPr rtlCol="0" anchor="ctr"/>
          <a:lstStyle/>
          <a:p/>
        </p:txBody>
      </p:sp>
      <p:sp>
        <p:nvSpPr>
          <p:cNvPr id="21" name="Rounded Rectangle 20"/>
          <p:cNvSpPr/>
          <p:nvPr/>
        </p:nvSpPr>
        <p:spPr>
          <a:xfrm>
            <a:off x="5318607" y="2075688"/>
            <a:ext cx="292608" cy="54864"/>
          </a:xfrm>
          <a:prstGeom prst="roundRect">
            <a:avLst>
              <a:gd name="adj" fmla="val 50000"/>
            </a:avLst>
          </a:prstGeom>
          <a:solidFill>
            <a:srgbClr val="19B6A4"/>
          </a:solidFill>
          <a:ln>
            <a:noFill/>
          </a:ln>
        </p:spPr>
        <p:txBody>
          <a:bodyPr rtlCol="0" anchor="ctr"/>
          <a:lstStyle/>
          <a:p/>
        </p:txBody>
      </p:sp>
      <p:sp>
        <p:nvSpPr>
          <p:cNvPr id="22" name="TextBox 21"/>
          <p:cNvSpPr txBox="1"/>
          <p:nvPr/>
        </p:nvSpPr>
        <p:spPr>
          <a:xfrm>
            <a:off x="5318607" y="2212848"/>
            <a:ext cx="1645920" cy="228600"/>
          </a:xfrm>
          <a:prstGeom prst="rect">
            <a:avLst/>
          </a:prstGeom>
          <a:noFill/>
        </p:spPr>
        <p:txBody>
          <a:bodyPr wrap="square" lIns="0" rIns="0" tIns="0" bIns="0" anchor="t"/>
          <a:lstStyle/>
          <a:p>
            <a:pPr algn="l">
              <a:spcAft>
                <a:spcPts val="0"/>
              </a:spcAft>
            </a:pPr>
            <a:r>
              <a:rPr sz="1000" b="1" i="0" spc="120">
                <a:solidFill>
                  <a:srgbClr val="172033"/>
                </a:solidFill>
                <a:latin typeface="Arial"/>
              </a:rPr>
              <a:t>DATA &amp; PERSISTENCE</a:t>
            </a:r>
          </a:p>
        </p:txBody>
      </p:sp>
      <p:sp>
        <p:nvSpPr>
          <p:cNvPr id="23" name="Rounded Rectangle 22"/>
          <p:cNvSpPr/>
          <p:nvPr/>
        </p:nvSpPr>
        <p:spPr>
          <a:xfrm>
            <a:off x="5318607" y="2743200"/>
            <a:ext cx="1554480" cy="310896"/>
          </a:xfrm>
          <a:prstGeom prst="roundRect">
            <a:avLst>
              <a:gd name="adj" fmla="val 50000"/>
            </a:avLst>
          </a:prstGeom>
          <a:solidFill>
            <a:srgbClr val="F7FAFC"/>
          </a:solidFill>
          <a:ln w="9525">
            <a:solidFill>
              <a:srgbClr val="DCE3EC"/>
            </a:solidFill>
          </a:ln>
        </p:spPr>
        <p:txBody>
          <a:bodyPr rtlCol="0" anchor="ctr" wrap="square" lIns="0" rIns="0" tIns="0" bIns="0"/>
          <a:lstStyle/>
          <a:p>
            <a:pPr algn="ctr">
              <a:spcAft>
                <a:spcPts val="0"/>
              </a:spcAft>
            </a:pPr>
            <a:r>
              <a:rPr sz="1100" b="1" i="0">
                <a:solidFill>
                  <a:srgbClr val="172033"/>
                </a:solidFill>
                <a:latin typeface="Arial"/>
              </a:rPr>
              <a:t>Dexie</a:t>
            </a:r>
          </a:p>
        </p:txBody>
      </p:sp>
      <p:sp>
        <p:nvSpPr>
          <p:cNvPr id="24" name="Rounded Rectangle 23"/>
          <p:cNvSpPr/>
          <p:nvPr/>
        </p:nvSpPr>
        <p:spPr>
          <a:xfrm>
            <a:off x="5318607" y="3127248"/>
            <a:ext cx="1554480" cy="310896"/>
          </a:xfrm>
          <a:prstGeom prst="roundRect">
            <a:avLst>
              <a:gd name="adj" fmla="val 50000"/>
            </a:avLst>
          </a:prstGeom>
          <a:solidFill>
            <a:srgbClr val="F7FAFC"/>
          </a:solidFill>
          <a:ln w="9525">
            <a:solidFill>
              <a:srgbClr val="DCE3EC"/>
            </a:solidFill>
          </a:ln>
        </p:spPr>
        <p:txBody>
          <a:bodyPr rtlCol="0" anchor="ctr" wrap="square" lIns="0" rIns="0" tIns="0" bIns="0"/>
          <a:lstStyle/>
          <a:p>
            <a:pPr algn="ctr">
              <a:spcAft>
                <a:spcPts val="0"/>
              </a:spcAft>
            </a:pPr>
            <a:r>
              <a:rPr sz="1100" b="1" i="0">
                <a:solidFill>
                  <a:srgbClr val="172033"/>
                </a:solidFill>
                <a:latin typeface="Arial"/>
              </a:rPr>
              <a:t>IndexedDB</a:t>
            </a:r>
          </a:p>
        </p:txBody>
      </p:sp>
      <p:sp>
        <p:nvSpPr>
          <p:cNvPr id="25" name="TextBox 24"/>
          <p:cNvSpPr txBox="1"/>
          <p:nvPr/>
        </p:nvSpPr>
        <p:spPr>
          <a:xfrm>
            <a:off x="5318607" y="4279392"/>
            <a:ext cx="1600200" cy="777240"/>
          </a:xfrm>
          <a:prstGeom prst="rect">
            <a:avLst/>
          </a:prstGeom>
          <a:noFill/>
        </p:spPr>
        <p:txBody>
          <a:bodyPr wrap="square" lIns="0" rIns="0" tIns="0" bIns="0" anchor="t"/>
          <a:lstStyle/>
          <a:p>
            <a:pPr algn="l">
              <a:lnSpc>
                <a:spcPct val="110000"/>
              </a:lnSpc>
              <a:spcAft>
                <a:spcPts val="0"/>
              </a:spcAft>
            </a:pPr>
            <a:r>
              <a:rPr sz="1100" b="0" i="0">
                <a:solidFill>
                  <a:srgbClr val="526176"/>
                </a:solidFill>
                <a:latin typeface="Arial"/>
              </a:rPr>
              <a:t>Local cases, original files, findings and an append-only audit log.</a:t>
            </a:r>
          </a:p>
        </p:txBody>
      </p:sp>
      <p:sp>
        <p:nvSpPr>
          <p:cNvPr id="26" name="Rounded Rectangle 25"/>
          <p:cNvSpPr/>
          <p:nvPr/>
        </p:nvSpPr>
        <p:spPr>
          <a:xfrm>
            <a:off x="7314971" y="1828800"/>
            <a:ext cx="2011680" cy="3246120"/>
          </a:xfrm>
          <a:prstGeom prst="roundRect">
            <a:avLst>
              <a:gd name="adj" fmla="val 6363"/>
            </a:avLst>
          </a:prstGeom>
          <a:solidFill>
            <a:srgbClr val="FFFFFF"/>
          </a:solidFill>
          <a:ln w="9525">
            <a:solidFill>
              <a:srgbClr val="DCE3EC"/>
            </a:solidFill>
          </a:ln>
        </p:spPr>
        <p:txBody>
          <a:bodyPr rtlCol="0" anchor="ctr"/>
          <a:lstStyle/>
          <a:p/>
        </p:txBody>
      </p:sp>
      <p:sp>
        <p:nvSpPr>
          <p:cNvPr id="27" name="Rounded Rectangle 26"/>
          <p:cNvSpPr/>
          <p:nvPr/>
        </p:nvSpPr>
        <p:spPr>
          <a:xfrm>
            <a:off x="7543571" y="2075688"/>
            <a:ext cx="292608" cy="54864"/>
          </a:xfrm>
          <a:prstGeom prst="roundRect">
            <a:avLst>
              <a:gd name="adj" fmla="val 50000"/>
            </a:avLst>
          </a:prstGeom>
          <a:solidFill>
            <a:srgbClr val="F2A65A"/>
          </a:solidFill>
          <a:ln>
            <a:noFill/>
          </a:ln>
        </p:spPr>
        <p:txBody>
          <a:bodyPr rtlCol="0" anchor="ctr"/>
          <a:lstStyle/>
          <a:p/>
        </p:txBody>
      </p:sp>
      <p:sp>
        <p:nvSpPr>
          <p:cNvPr id="28" name="TextBox 27"/>
          <p:cNvSpPr txBox="1"/>
          <p:nvPr/>
        </p:nvSpPr>
        <p:spPr>
          <a:xfrm>
            <a:off x="7543571" y="2212848"/>
            <a:ext cx="1645920" cy="228600"/>
          </a:xfrm>
          <a:prstGeom prst="rect">
            <a:avLst/>
          </a:prstGeom>
          <a:noFill/>
        </p:spPr>
        <p:txBody>
          <a:bodyPr wrap="square" lIns="0" rIns="0" tIns="0" bIns="0" anchor="t"/>
          <a:lstStyle/>
          <a:p>
            <a:pPr algn="l">
              <a:spcAft>
                <a:spcPts val="0"/>
              </a:spcAft>
            </a:pPr>
            <a:r>
              <a:rPr sz="1000" b="1" i="0" spc="120">
                <a:solidFill>
                  <a:srgbClr val="172033"/>
                </a:solidFill>
                <a:latin typeface="Arial"/>
              </a:rPr>
              <a:t>TESTING</a:t>
            </a:r>
          </a:p>
        </p:txBody>
      </p:sp>
      <p:sp>
        <p:nvSpPr>
          <p:cNvPr id="29" name="Rounded Rectangle 28"/>
          <p:cNvSpPr/>
          <p:nvPr/>
        </p:nvSpPr>
        <p:spPr>
          <a:xfrm>
            <a:off x="7543571" y="2743200"/>
            <a:ext cx="1554480" cy="310896"/>
          </a:xfrm>
          <a:prstGeom prst="roundRect">
            <a:avLst>
              <a:gd name="adj" fmla="val 50000"/>
            </a:avLst>
          </a:prstGeom>
          <a:solidFill>
            <a:srgbClr val="F7FAFC"/>
          </a:solidFill>
          <a:ln w="9525">
            <a:solidFill>
              <a:srgbClr val="DCE3EC"/>
            </a:solidFill>
          </a:ln>
        </p:spPr>
        <p:txBody>
          <a:bodyPr rtlCol="0" anchor="ctr" wrap="square" lIns="0" rIns="0" tIns="0" bIns="0"/>
          <a:lstStyle/>
          <a:p>
            <a:pPr algn="ctr">
              <a:spcAft>
                <a:spcPts val="0"/>
              </a:spcAft>
            </a:pPr>
            <a:r>
              <a:rPr sz="1100" b="1" i="0">
                <a:solidFill>
                  <a:srgbClr val="172033"/>
                </a:solidFill>
                <a:latin typeface="Arial"/>
              </a:rPr>
              <a:t>Vitest</a:t>
            </a:r>
          </a:p>
        </p:txBody>
      </p:sp>
      <p:sp>
        <p:nvSpPr>
          <p:cNvPr id="30" name="Rounded Rectangle 29"/>
          <p:cNvSpPr/>
          <p:nvPr/>
        </p:nvSpPr>
        <p:spPr>
          <a:xfrm>
            <a:off x="7543571" y="3127248"/>
            <a:ext cx="1554480" cy="310896"/>
          </a:xfrm>
          <a:prstGeom prst="roundRect">
            <a:avLst>
              <a:gd name="adj" fmla="val 50000"/>
            </a:avLst>
          </a:prstGeom>
          <a:solidFill>
            <a:srgbClr val="F7FAFC"/>
          </a:solidFill>
          <a:ln w="9525">
            <a:solidFill>
              <a:srgbClr val="DCE3EC"/>
            </a:solidFill>
          </a:ln>
        </p:spPr>
        <p:txBody>
          <a:bodyPr rtlCol="0" anchor="ctr" wrap="square" lIns="0" rIns="0" tIns="0" bIns="0"/>
          <a:lstStyle/>
          <a:p>
            <a:pPr algn="ctr">
              <a:spcAft>
                <a:spcPts val="0"/>
              </a:spcAft>
            </a:pPr>
            <a:r>
              <a:rPr sz="1100" b="1" i="0">
                <a:solidFill>
                  <a:srgbClr val="172033"/>
                </a:solidFill>
                <a:latin typeface="Arial"/>
              </a:rPr>
              <a:t>Playwright</a:t>
            </a:r>
          </a:p>
        </p:txBody>
      </p:sp>
      <p:sp>
        <p:nvSpPr>
          <p:cNvPr id="31" name="Rounded Rectangle 30"/>
          <p:cNvSpPr/>
          <p:nvPr/>
        </p:nvSpPr>
        <p:spPr>
          <a:xfrm>
            <a:off x="7543571" y="3511296"/>
            <a:ext cx="1554480" cy="310896"/>
          </a:xfrm>
          <a:prstGeom prst="roundRect">
            <a:avLst>
              <a:gd name="adj" fmla="val 50000"/>
            </a:avLst>
          </a:prstGeom>
          <a:solidFill>
            <a:srgbClr val="F7FAFC"/>
          </a:solidFill>
          <a:ln w="9525">
            <a:solidFill>
              <a:srgbClr val="DCE3EC"/>
            </a:solidFill>
          </a:ln>
        </p:spPr>
        <p:txBody>
          <a:bodyPr rtlCol="0" anchor="ctr" wrap="square" lIns="0" rIns="0" tIns="0" bIns="0"/>
          <a:lstStyle/>
          <a:p>
            <a:pPr algn="ctr">
              <a:spcAft>
                <a:spcPts val="0"/>
              </a:spcAft>
            </a:pPr>
            <a:r>
              <a:rPr sz="1100" b="1" i="0">
                <a:solidFill>
                  <a:srgbClr val="172033"/>
                </a:solidFill>
                <a:latin typeface="Arial"/>
              </a:rPr>
              <a:t>fake-indexeddb</a:t>
            </a:r>
          </a:p>
        </p:txBody>
      </p:sp>
      <p:sp>
        <p:nvSpPr>
          <p:cNvPr id="32" name="TextBox 31"/>
          <p:cNvSpPr txBox="1"/>
          <p:nvPr/>
        </p:nvSpPr>
        <p:spPr>
          <a:xfrm>
            <a:off x="7543571" y="4279392"/>
            <a:ext cx="1600200" cy="777240"/>
          </a:xfrm>
          <a:prstGeom prst="rect">
            <a:avLst/>
          </a:prstGeom>
          <a:noFill/>
        </p:spPr>
        <p:txBody>
          <a:bodyPr wrap="square" lIns="0" rIns="0" tIns="0" bIns="0" anchor="t"/>
          <a:lstStyle/>
          <a:p>
            <a:pPr algn="l">
              <a:lnSpc>
                <a:spcPct val="110000"/>
              </a:lnSpc>
              <a:spcAft>
                <a:spcPts val="0"/>
              </a:spcAft>
            </a:pPr>
            <a:r>
              <a:rPr sz="1100" b="0" i="0">
                <a:solidFill>
                  <a:srgbClr val="526176"/>
                </a:solidFill>
                <a:latin typeface="Arial"/>
              </a:rPr>
              <a:t>Unit, integration and end-to-end tests, incl. OCR and two-user flows.</a:t>
            </a:r>
          </a:p>
        </p:txBody>
      </p:sp>
      <p:sp>
        <p:nvSpPr>
          <p:cNvPr id="33" name="Rounded Rectangle 32"/>
          <p:cNvSpPr/>
          <p:nvPr/>
        </p:nvSpPr>
        <p:spPr>
          <a:xfrm>
            <a:off x="9539935" y="1828800"/>
            <a:ext cx="2011680" cy="3246120"/>
          </a:xfrm>
          <a:prstGeom prst="roundRect">
            <a:avLst>
              <a:gd name="adj" fmla="val 6363"/>
            </a:avLst>
          </a:prstGeom>
          <a:solidFill>
            <a:srgbClr val="FFFFFF"/>
          </a:solidFill>
          <a:ln w="9525">
            <a:solidFill>
              <a:srgbClr val="DCE3EC"/>
            </a:solidFill>
          </a:ln>
        </p:spPr>
        <p:txBody>
          <a:bodyPr rtlCol="0" anchor="ctr"/>
          <a:lstStyle/>
          <a:p/>
        </p:txBody>
      </p:sp>
      <p:sp>
        <p:nvSpPr>
          <p:cNvPr id="34" name="Rounded Rectangle 33"/>
          <p:cNvSpPr/>
          <p:nvPr/>
        </p:nvSpPr>
        <p:spPr>
          <a:xfrm>
            <a:off x="9768535" y="2075688"/>
            <a:ext cx="292608" cy="54864"/>
          </a:xfrm>
          <a:prstGeom prst="roundRect">
            <a:avLst>
              <a:gd name="adj" fmla="val 50000"/>
            </a:avLst>
          </a:prstGeom>
          <a:solidFill>
            <a:srgbClr val="526176"/>
          </a:solidFill>
          <a:ln>
            <a:noFill/>
          </a:ln>
        </p:spPr>
        <p:txBody>
          <a:bodyPr rtlCol="0" anchor="ctr"/>
          <a:lstStyle/>
          <a:p/>
        </p:txBody>
      </p:sp>
      <p:sp>
        <p:nvSpPr>
          <p:cNvPr id="35" name="TextBox 34"/>
          <p:cNvSpPr txBox="1"/>
          <p:nvPr/>
        </p:nvSpPr>
        <p:spPr>
          <a:xfrm>
            <a:off x="9768535" y="2212848"/>
            <a:ext cx="1645920" cy="228600"/>
          </a:xfrm>
          <a:prstGeom prst="rect">
            <a:avLst/>
          </a:prstGeom>
          <a:noFill/>
        </p:spPr>
        <p:txBody>
          <a:bodyPr wrap="square" lIns="0" rIns="0" tIns="0" bIns="0" anchor="t"/>
          <a:lstStyle/>
          <a:p>
            <a:pPr algn="l">
              <a:spcAft>
                <a:spcPts val="0"/>
              </a:spcAft>
            </a:pPr>
            <a:r>
              <a:rPr sz="1000" b="1" i="0" spc="120">
                <a:solidFill>
                  <a:srgbClr val="172033"/>
                </a:solidFill>
                <a:latin typeface="Arial"/>
              </a:rPr>
              <a:t>BUILD &amp; DELIVERY</a:t>
            </a:r>
          </a:p>
        </p:txBody>
      </p:sp>
      <p:sp>
        <p:nvSpPr>
          <p:cNvPr id="36" name="Rounded Rectangle 35"/>
          <p:cNvSpPr/>
          <p:nvPr/>
        </p:nvSpPr>
        <p:spPr>
          <a:xfrm>
            <a:off x="9768535" y="2743200"/>
            <a:ext cx="1554480" cy="310896"/>
          </a:xfrm>
          <a:prstGeom prst="roundRect">
            <a:avLst>
              <a:gd name="adj" fmla="val 50000"/>
            </a:avLst>
          </a:prstGeom>
          <a:solidFill>
            <a:srgbClr val="F7FAFC"/>
          </a:solidFill>
          <a:ln w="9525">
            <a:solidFill>
              <a:srgbClr val="DCE3EC"/>
            </a:solidFill>
          </a:ln>
        </p:spPr>
        <p:txBody>
          <a:bodyPr rtlCol="0" anchor="ctr" wrap="square" lIns="0" rIns="0" tIns="0" bIns="0"/>
          <a:lstStyle/>
          <a:p>
            <a:pPr algn="ctr">
              <a:spcAft>
                <a:spcPts val="0"/>
              </a:spcAft>
            </a:pPr>
            <a:r>
              <a:rPr sz="1100" b="1" i="0">
                <a:solidFill>
                  <a:srgbClr val="172033"/>
                </a:solidFill>
                <a:latin typeface="Arial"/>
              </a:rPr>
              <a:t>GitHub Actions</a:t>
            </a:r>
          </a:p>
        </p:txBody>
      </p:sp>
      <p:sp>
        <p:nvSpPr>
          <p:cNvPr id="37" name="Rounded Rectangle 36"/>
          <p:cNvSpPr/>
          <p:nvPr/>
        </p:nvSpPr>
        <p:spPr>
          <a:xfrm>
            <a:off x="9768535" y="3127248"/>
            <a:ext cx="1554480" cy="310896"/>
          </a:xfrm>
          <a:prstGeom prst="roundRect">
            <a:avLst>
              <a:gd name="adj" fmla="val 50000"/>
            </a:avLst>
          </a:prstGeom>
          <a:solidFill>
            <a:srgbClr val="F7FAFC"/>
          </a:solidFill>
          <a:ln w="9525">
            <a:solidFill>
              <a:srgbClr val="DCE3EC"/>
            </a:solidFill>
          </a:ln>
        </p:spPr>
        <p:txBody>
          <a:bodyPr rtlCol="0" anchor="ctr" wrap="square" lIns="0" rIns="0" tIns="0" bIns="0"/>
          <a:lstStyle/>
          <a:p>
            <a:pPr algn="ctr">
              <a:spcAft>
                <a:spcPts val="0"/>
              </a:spcAft>
            </a:pPr>
            <a:r>
              <a:rPr sz="1100" b="1" i="0">
                <a:solidFill>
                  <a:srgbClr val="172033"/>
                </a:solidFill>
                <a:latin typeface="Arial"/>
              </a:rPr>
              <a:t>GitHub Pages</a:t>
            </a:r>
          </a:p>
        </p:txBody>
      </p:sp>
      <p:sp>
        <p:nvSpPr>
          <p:cNvPr id="38" name="TextBox 37"/>
          <p:cNvSpPr txBox="1"/>
          <p:nvPr/>
        </p:nvSpPr>
        <p:spPr>
          <a:xfrm>
            <a:off x="9768535" y="4279392"/>
            <a:ext cx="1600200" cy="777240"/>
          </a:xfrm>
          <a:prstGeom prst="rect">
            <a:avLst/>
          </a:prstGeom>
          <a:noFill/>
        </p:spPr>
        <p:txBody>
          <a:bodyPr wrap="square" lIns="0" rIns="0" tIns="0" bIns="0" anchor="t"/>
          <a:lstStyle/>
          <a:p>
            <a:pPr algn="l">
              <a:lnSpc>
                <a:spcPct val="110000"/>
              </a:lnSpc>
              <a:spcAft>
                <a:spcPts val="0"/>
              </a:spcAft>
            </a:pPr>
            <a:r>
              <a:rPr sz="1100" b="0" i="0">
                <a:solidFill>
                  <a:srgbClr val="526176"/>
                </a:solidFill>
                <a:latin typeface="Arial"/>
              </a:rPr>
              <a:t>Each push type-checks, tests, builds, deploys and re-tests the live site.</a:t>
            </a:r>
          </a:p>
        </p:txBody>
      </p:sp>
      <p:sp>
        <p:nvSpPr>
          <p:cNvPr id="39" name="Rounded Rectangle 38"/>
          <p:cNvSpPr/>
          <p:nvPr/>
        </p:nvSpPr>
        <p:spPr>
          <a:xfrm>
            <a:off x="640080" y="5303520"/>
            <a:ext cx="10911535" cy="822960"/>
          </a:xfrm>
          <a:prstGeom prst="roundRect">
            <a:avLst>
              <a:gd name="adj" fmla="val 13333"/>
            </a:avLst>
          </a:prstGeom>
          <a:noFill/>
          <a:ln w="12700">
            <a:solidFill>
              <a:srgbClr val="526176"/>
            </a:solidFill>
            <a:prstDash val="dash"/>
          </a:ln>
        </p:spPr>
        <p:txBody>
          <a:bodyPr rtlCol="0" anchor="ctr"/>
          <a:lstStyle/>
          <a:p/>
        </p:txBody>
      </p:sp>
      <p:sp>
        <p:nvSpPr>
          <p:cNvPr id="40" name="TextBox 39"/>
          <p:cNvSpPr txBox="1"/>
          <p:nvPr/>
        </p:nvSpPr>
        <p:spPr>
          <a:xfrm>
            <a:off x="914400" y="5422392"/>
            <a:ext cx="5486400" cy="228600"/>
          </a:xfrm>
          <a:prstGeom prst="rect">
            <a:avLst/>
          </a:prstGeom>
          <a:noFill/>
        </p:spPr>
        <p:txBody>
          <a:bodyPr wrap="square" lIns="0" rIns="0" tIns="0" bIns="0" anchor="t"/>
          <a:lstStyle/>
          <a:p>
            <a:pPr algn="l">
              <a:spcAft>
                <a:spcPts val="0"/>
              </a:spcAft>
            </a:pPr>
            <a:r>
              <a:rPr sz="900" b="1" i="0" spc="120">
                <a:solidFill>
                  <a:srgbClr val="526176"/>
                </a:solidFill>
                <a:latin typeface="Arial"/>
              </a:rPr>
              <a:t>OPTIONAL SERVER LAYER · NOT PUBLICLY DEPLOYED</a:t>
            </a:r>
          </a:p>
        </p:txBody>
      </p:sp>
      <p:sp>
        <p:nvSpPr>
          <p:cNvPr id="41" name="TextBox 40"/>
          <p:cNvSpPr txBox="1"/>
          <p:nvPr/>
        </p:nvSpPr>
        <p:spPr>
          <a:xfrm>
            <a:off x="914400" y="5669280"/>
            <a:ext cx="10362895" cy="365760"/>
          </a:xfrm>
          <a:prstGeom prst="rect">
            <a:avLst/>
          </a:prstGeom>
          <a:noFill/>
        </p:spPr>
        <p:txBody>
          <a:bodyPr wrap="square" lIns="0" rIns="0" tIns="0" bIns="0" anchor="t"/>
          <a:lstStyle/>
          <a:p>
            <a:pPr algn="l">
              <a:spcAft>
                <a:spcPts val="0"/>
              </a:spcAft>
            </a:pPr>
            <a:r>
              <a:rPr sz="1250" b="1" i="0">
                <a:solidFill>
                  <a:srgbClr val="172033"/>
                </a:solidFill>
                <a:latin typeface="Arial"/>
              </a:rPr>
              <a:t>Node 22  ·  node:sqlite  ·  Anthropic SDK + Zod  ·  Docker / Render config</a:t>
            </a:r>
            <a:r>
              <a:rPr sz="1250" b="0" i="0">
                <a:solidFill>
                  <a:srgbClr val="526176"/>
                </a:solidFill>
                <a:latin typeface="Arial"/>
              </a:rPr>
              <a:t>   Adds sharing and AI only where configured.</a:t>
            </a:r>
          </a:p>
        </p:txBody>
      </p:sp>
      <p:sp>
        <p:nvSpPr>
          <p:cNvPr id="42" name="TextBox 41"/>
          <p:cNvSpPr txBox="1"/>
          <p:nvPr/>
        </p:nvSpPr>
        <p:spPr>
          <a:xfrm>
            <a:off x="640080" y="6400800"/>
            <a:ext cx="4572000" cy="201168"/>
          </a:xfrm>
          <a:prstGeom prst="rect">
            <a:avLst/>
          </a:prstGeom>
          <a:noFill/>
        </p:spPr>
        <p:txBody>
          <a:bodyPr wrap="square" lIns="0" rIns="0" tIns="0" bIns="0" anchor="t"/>
          <a:lstStyle/>
          <a:p>
            <a:pPr algn="l">
              <a:spcAft>
                <a:spcPts val="0"/>
              </a:spcAft>
            </a:pPr>
            <a:r>
              <a:rPr sz="950" b="1" i="0" spc="100">
                <a:solidFill>
                  <a:srgbClr val="526176"/>
                </a:solidFill>
                <a:latin typeface="Arial"/>
              </a:rPr>
              <a:t>CLINISCOPE</a:t>
            </a:r>
            <a:r>
              <a:rPr sz="950" b="0" i="0" spc="60">
                <a:solidFill>
                  <a:srgbClr val="526176"/>
                </a:solidFill>
                <a:latin typeface="Arial"/>
              </a:rPr>
              <a:t>   |   PS-11R3</a:t>
            </a:r>
          </a:p>
        </p:txBody>
      </p:sp>
      <p:sp>
        <p:nvSpPr>
          <p:cNvPr id="43" name="TextBox 42"/>
          <p:cNvSpPr txBox="1"/>
          <p:nvPr/>
        </p:nvSpPr>
        <p:spPr>
          <a:xfrm>
            <a:off x="10180015" y="6400800"/>
            <a:ext cx="1371600" cy="201168"/>
          </a:xfrm>
          <a:prstGeom prst="rect">
            <a:avLst/>
          </a:prstGeom>
          <a:noFill/>
        </p:spPr>
        <p:txBody>
          <a:bodyPr wrap="square" lIns="0" rIns="0" tIns="0" bIns="0" anchor="t"/>
          <a:lstStyle/>
          <a:p>
            <a:pPr algn="r">
              <a:spcAft>
                <a:spcPts val="0"/>
              </a:spcAft>
            </a:pPr>
            <a:r>
              <a:rPr sz="950" b="0" i="0" spc="60">
                <a:solidFill>
                  <a:srgbClr val="526176"/>
                </a:solidFill>
                <a:latin typeface="Arial"/>
              </a:rPr>
              <a:t>05 / 08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AFC"/>
        </a:solidFill>
        <a:effectLst/>
      </p:bgPr>
    </p:bg>
    <p:spTree>
      <p:nvGrpSpPr>
        <p:cNvPr id="1" name=""/>
        <p:cNvGrpSpPr/>
        <p:nvPr/>
      </p:nvGrpSpPr>
      <p:grpSpPr/>
      <p:sp>
        <p:nvSpPr>
          <p:cNvPr id="2" name="TextBox 1"/>
          <p:cNvSpPr txBox="1"/>
          <p:nvPr/>
        </p:nvSpPr>
        <p:spPr>
          <a:xfrm>
            <a:off x="640080" y="457200"/>
            <a:ext cx="7315200" cy="228600"/>
          </a:xfrm>
          <a:prstGeom prst="rect">
            <a:avLst/>
          </a:prstGeom>
          <a:noFill/>
        </p:spPr>
        <p:txBody>
          <a:bodyPr wrap="square" lIns="0" rIns="0" tIns="0" bIns="0" anchor="t"/>
          <a:lstStyle/>
          <a:p>
            <a:pPr algn="l">
              <a:spcAft>
                <a:spcPts val="0"/>
              </a:spcAft>
            </a:pPr>
            <a:r>
              <a:rPr sz="1050" b="1" i="0" spc="120">
                <a:solidFill>
                  <a:srgbClr val="19B6A4"/>
                </a:solidFill>
                <a:latin typeface="Arial"/>
              </a:rPr>
              <a:t>06  ·  FEASIBILITY &amp; VIABILITY</a:t>
            </a:r>
          </a:p>
        </p:txBody>
      </p:sp>
      <p:sp>
        <p:nvSpPr>
          <p:cNvPr id="3" name="Title"/>
          <p:cNvSpPr txBox="1"/>
          <p:nvPr/>
        </p:nvSpPr>
        <p:spPr>
          <a:xfrm>
            <a:off x="640080" y="749808"/>
            <a:ext cx="10911535" cy="548640"/>
          </a:xfrm>
          <a:prstGeom prst="rect">
            <a:avLst/>
          </a:prstGeom>
          <a:noFill/>
        </p:spPr>
        <p:txBody>
          <a:bodyPr wrap="square" lIns="0" rIns="0" tIns="0" bIns="0" anchor="t"/>
          <a:lstStyle/>
          <a:p>
            <a:pPr algn="l">
              <a:spcAft>
                <a:spcPts val="0"/>
              </a:spcAft>
            </a:pPr>
            <a:r>
              <a:rPr sz="2800" b="1" i="0">
                <a:solidFill>
                  <a:srgbClr val="172033"/>
                </a:solidFill>
                <a:latin typeface="Arial"/>
              </a:rPr>
              <a:t>A practical foundation with a clear path to extension</a:t>
            </a:r>
          </a:p>
        </p:txBody>
      </p:sp>
      <p:sp>
        <p:nvSpPr>
          <p:cNvPr id="4" name="Rounded Rectangle 3"/>
          <p:cNvSpPr/>
          <p:nvPr/>
        </p:nvSpPr>
        <p:spPr>
          <a:xfrm>
            <a:off x="640080" y="1600200"/>
            <a:ext cx="3474720" cy="3611880"/>
          </a:xfrm>
          <a:prstGeom prst="roundRect">
            <a:avLst>
              <a:gd name="adj" fmla="val 3684"/>
            </a:avLst>
          </a:prstGeom>
          <a:solidFill>
            <a:srgbClr val="FFFFFF"/>
          </a:solidFill>
          <a:ln w="9525">
            <a:solidFill>
              <a:srgbClr val="DCE3EC"/>
            </a:solidFill>
          </a:ln>
        </p:spPr>
        <p:txBody>
          <a:bodyPr rtlCol="0" anchor="ctr"/>
          <a:lstStyle/>
          <a:p/>
        </p:txBody>
      </p:sp>
      <p:sp>
        <p:nvSpPr>
          <p:cNvPr id="5" name="Rounded Rectangle 4"/>
          <p:cNvSpPr/>
          <p:nvPr/>
        </p:nvSpPr>
        <p:spPr>
          <a:xfrm>
            <a:off x="914400" y="1828800"/>
            <a:ext cx="1417320" cy="292608"/>
          </a:xfrm>
          <a:prstGeom prst="roundRect">
            <a:avLst>
              <a:gd name="adj" fmla="val 50000"/>
            </a:avLst>
          </a:prstGeom>
          <a:solidFill>
            <a:srgbClr val="E3F6F3"/>
          </a:solidFill>
          <a:ln>
            <a:noFill/>
          </a:ln>
        </p:spPr>
        <p:txBody>
          <a:bodyPr rtlCol="0" anchor="ctr" wrap="square" lIns="0" rIns="0" tIns="0" bIns="0"/>
          <a:lstStyle/>
          <a:p>
            <a:pPr algn="ctr">
              <a:spcAft>
                <a:spcPts val="0"/>
              </a:spcAft>
            </a:pPr>
            <a:r>
              <a:rPr sz="950" b="1" i="0">
                <a:solidFill>
                  <a:srgbClr val="0E6E63"/>
                </a:solidFill>
                <a:latin typeface="Arial"/>
              </a:rPr>
              <a:t>IMPLEMENTED</a:t>
            </a:r>
          </a:p>
        </p:txBody>
      </p:sp>
      <p:sp>
        <p:nvSpPr>
          <p:cNvPr id="6" name="TextBox 5"/>
          <p:cNvSpPr txBox="1"/>
          <p:nvPr/>
        </p:nvSpPr>
        <p:spPr>
          <a:xfrm>
            <a:off x="2450591" y="1865376"/>
            <a:ext cx="1554479" cy="274320"/>
          </a:xfrm>
          <a:prstGeom prst="rect">
            <a:avLst/>
          </a:prstGeom>
          <a:noFill/>
        </p:spPr>
        <p:txBody>
          <a:bodyPr wrap="square" lIns="0" rIns="0" tIns="0" bIns="0" anchor="t"/>
          <a:lstStyle/>
          <a:p>
            <a:pPr algn="l">
              <a:spcAft>
                <a:spcPts val="0"/>
              </a:spcAft>
            </a:pPr>
            <a:r>
              <a:rPr sz="1050" b="0" i="1">
                <a:solidFill>
                  <a:srgbClr val="526176"/>
                </a:solidFill>
                <a:latin typeface="Arial"/>
              </a:rPr>
              <a:t>in code today</a:t>
            </a:r>
          </a:p>
        </p:txBody>
      </p:sp>
      <p:sp>
        <p:nvSpPr>
          <p:cNvPr id="7" name="Rectangle 6"/>
          <p:cNvSpPr/>
          <p:nvPr/>
        </p:nvSpPr>
        <p:spPr>
          <a:xfrm>
            <a:off x="914400" y="2468880"/>
            <a:ext cx="82296" cy="82296"/>
          </a:xfrm>
          <a:prstGeom prst="rect">
            <a:avLst/>
          </a:prstGeom>
          <a:solidFill>
            <a:srgbClr val="19B6A4"/>
          </a:solidFill>
          <a:ln>
            <a:noFill/>
          </a:ln>
        </p:spPr>
        <p:txBody>
          <a:bodyPr rtlCol="0" anchor="ctr"/>
          <a:lstStyle/>
          <a:p/>
        </p:txBody>
      </p:sp>
      <p:sp>
        <p:nvSpPr>
          <p:cNvPr id="8" name="TextBox 7"/>
          <p:cNvSpPr txBox="1"/>
          <p:nvPr/>
        </p:nvSpPr>
        <p:spPr>
          <a:xfrm>
            <a:off x="1143000" y="2395728"/>
            <a:ext cx="2788920" cy="548640"/>
          </a:xfrm>
          <a:prstGeom prst="rect">
            <a:avLst/>
          </a:prstGeom>
          <a:noFill/>
        </p:spPr>
        <p:txBody>
          <a:bodyPr wrap="square" lIns="0" rIns="0" tIns="0" bIns="0" anchor="t"/>
          <a:lstStyle/>
          <a:p>
            <a:pPr algn="l">
              <a:spcAft>
                <a:spcPts val="0"/>
              </a:spcAft>
            </a:pPr>
            <a:r>
              <a:rPr sz="1250" b="1" i="0">
                <a:solidFill>
                  <a:srgbClr val="172033"/>
                </a:solidFill>
                <a:latin typeface="Arial"/>
              </a:rPr>
              <a:t>Ingestion: </a:t>
            </a:r>
            <a:r>
              <a:rPr sz="1250" b="0" i="0">
                <a:solidFill>
                  <a:srgbClr val="526176"/>
                </a:solidFill>
                <a:latin typeface="Arial"/>
              </a:rPr>
              <a:t>PDF, scans, images, TXT, DOCX</a:t>
            </a:r>
          </a:p>
        </p:txBody>
      </p:sp>
      <p:sp>
        <p:nvSpPr>
          <p:cNvPr id="9" name="Rectangle 8"/>
          <p:cNvSpPr/>
          <p:nvPr/>
        </p:nvSpPr>
        <p:spPr>
          <a:xfrm>
            <a:off x="914400" y="3017520"/>
            <a:ext cx="82296" cy="82296"/>
          </a:xfrm>
          <a:prstGeom prst="rect">
            <a:avLst/>
          </a:prstGeom>
          <a:solidFill>
            <a:srgbClr val="19B6A4"/>
          </a:solidFill>
          <a:ln>
            <a:noFill/>
          </a:ln>
        </p:spPr>
        <p:txBody>
          <a:bodyPr rtlCol="0" anchor="ctr"/>
          <a:lstStyle/>
          <a:p/>
        </p:txBody>
      </p:sp>
      <p:sp>
        <p:nvSpPr>
          <p:cNvPr id="10" name="TextBox 9"/>
          <p:cNvSpPr txBox="1"/>
          <p:nvPr/>
        </p:nvSpPr>
        <p:spPr>
          <a:xfrm>
            <a:off x="1143000" y="2944368"/>
            <a:ext cx="2788920" cy="548640"/>
          </a:xfrm>
          <a:prstGeom prst="rect">
            <a:avLst/>
          </a:prstGeom>
          <a:noFill/>
        </p:spPr>
        <p:txBody>
          <a:bodyPr wrap="square" lIns="0" rIns="0" tIns="0" bIns="0" anchor="t"/>
          <a:lstStyle/>
          <a:p>
            <a:pPr algn="l">
              <a:spcAft>
                <a:spcPts val="0"/>
              </a:spcAft>
            </a:pPr>
            <a:r>
              <a:rPr sz="1250" b="1" i="0">
                <a:solidFill>
                  <a:srgbClr val="172033"/>
                </a:solidFill>
                <a:latin typeface="Arial"/>
              </a:rPr>
              <a:t>Rules engine: </a:t>
            </a:r>
            <a:r>
              <a:rPr sz="1250" b="0" i="0">
                <a:solidFill>
                  <a:srgbClr val="526176"/>
                </a:solidFill>
                <a:latin typeface="Arial"/>
              </a:rPr>
              <a:t>statements and contradictions</a:t>
            </a:r>
          </a:p>
        </p:txBody>
      </p:sp>
      <p:sp>
        <p:nvSpPr>
          <p:cNvPr id="11" name="Rectangle 10"/>
          <p:cNvSpPr/>
          <p:nvPr/>
        </p:nvSpPr>
        <p:spPr>
          <a:xfrm>
            <a:off x="914400" y="3566160"/>
            <a:ext cx="82296" cy="82296"/>
          </a:xfrm>
          <a:prstGeom prst="rect">
            <a:avLst/>
          </a:prstGeom>
          <a:solidFill>
            <a:srgbClr val="19B6A4"/>
          </a:solidFill>
          <a:ln>
            <a:noFill/>
          </a:ln>
        </p:spPr>
        <p:txBody>
          <a:bodyPr rtlCol="0" anchor="ctr"/>
          <a:lstStyle/>
          <a:p/>
        </p:txBody>
      </p:sp>
      <p:sp>
        <p:nvSpPr>
          <p:cNvPr id="12" name="TextBox 11"/>
          <p:cNvSpPr txBox="1"/>
          <p:nvPr/>
        </p:nvSpPr>
        <p:spPr>
          <a:xfrm>
            <a:off x="1143000" y="3493008"/>
            <a:ext cx="2788920" cy="548640"/>
          </a:xfrm>
          <a:prstGeom prst="rect">
            <a:avLst/>
          </a:prstGeom>
          <a:noFill/>
        </p:spPr>
        <p:txBody>
          <a:bodyPr wrap="square" lIns="0" rIns="0" tIns="0" bIns="0" anchor="t"/>
          <a:lstStyle/>
          <a:p>
            <a:pPr algn="l">
              <a:spcAft>
                <a:spcPts val="0"/>
              </a:spcAft>
            </a:pPr>
            <a:r>
              <a:rPr sz="1250" b="1" i="0">
                <a:solidFill>
                  <a:srgbClr val="172033"/>
                </a:solidFill>
                <a:latin typeface="Arial"/>
              </a:rPr>
              <a:t>Evidence-linked </a:t>
            </a:r>
            <a:r>
              <a:rPr sz="1250" b="0" i="0">
                <a:solidFill>
                  <a:srgbClr val="526176"/>
                </a:solidFill>
                <a:latin typeface="Arial"/>
              </a:rPr>
              <a:t>findings with source view</a:t>
            </a:r>
          </a:p>
        </p:txBody>
      </p:sp>
      <p:sp>
        <p:nvSpPr>
          <p:cNvPr id="13" name="Rectangle 12"/>
          <p:cNvSpPr/>
          <p:nvPr/>
        </p:nvSpPr>
        <p:spPr>
          <a:xfrm>
            <a:off x="914400" y="4114800"/>
            <a:ext cx="82296" cy="82296"/>
          </a:xfrm>
          <a:prstGeom prst="rect">
            <a:avLst/>
          </a:prstGeom>
          <a:solidFill>
            <a:srgbClr val="19B6A4"/>
          </a:solidFill>
          <a:ln>
            <a:noFill/>
          </a:ln>
        </p:spPr>
        <p:txBody>
          <a:bodyPr rtlCol="0" anchor="ctr"/>
          <a:lstStyle/>
          <a:p/>
        </p:txBody>
      </p:sp>
      <p:sp>
        <p:nvSpPr>
          <p:cNvPr id="14" name="TextBox 13"/>
          <p:cNvSpPr txBox="1"/>
          <p:nvPr/>
        </p:nvSpPr>
        <p:spPr>
          <a:xfrm>
            <a:off x="1143000" y="4041648"/>
            <a:ext cx="2788920" cy="548640"/>
          </a:xfrm>
          <a:prstGeom prst="rect">
            <a:avLst/>
          </a:prstGeom>
          <a:noFill/>
        </p:spPr>
        <p:txBody>
          <a:bodyPr wrap="square" lIns="0" rIns="0" tIns="0" bIns="0" anchor="t"/>
          <a:lstStyle/>
          <a:p>
            <a:pPr algn="l">
              <a:spcAft>
                <a:spcPts val="0"/>
              </a:spcAft>
            </a:pPr>
            <a:r>
              <a:rPr sz="1250" b="1" i="0">
                <a:solidFill>
                  <a:srgbClr val="172033"/>
                </a:solidFill>
                <a:latin typeface="Arial"/>
              </a:rPr>
              <a:t>Review: </a:t>
            </a:r>
            <a:r>
              <a:rPr sz="1250" b="0" i="0">
                <a:solidFill>
                  <a:srgbClr val="526176"/>
                </a:solidFill>
                <a:latin typeface="Arial"/>
              </a:rPr>
              <a:t>queue, reasons, audit log</a:t>
            </a:r>
          </a:p>
        </p:txBody>
      </p:sp>
      <p:sp>
        <p:nvSpPr>
          <p:cNvPr id="15" name="Rectangle 14"/>
          <p:cNvSpPr/>
          <p:nvPr/>
        </p:nvSpPr>
        <p:spPr>
          <a:xfrm>
            <a:off x="914400" y="4663440"/>
            <a:ext cx="82296" cy="82296"/>
          </a:xfrm>
          <a:prstGeom prst="rect">
            <a:avLst/>
          </a:prstGeom>
          <a:solidFill>
            <a:srgbClr val="19B6A4"/>
          </a:solidFill>
          <a:ln>
            <a:noFill/>
          </a:ln>
        </p:spPr>
        <p:txBody>
          <a:bodyPr rtlCol="0" anchor="ctr"/>
          <a:lstStyle/>
          <a:p/>
        </p:txBody>
      </p:sp>
      <p:sp>
        <p:nvSpPr>
          <p:cNvPr id="16" name="TextBox 15"/>
          <p:cNvSpPr txBox="1"/>
          <p:nvPr/>
        </p:nvSpPr>
        <p:spPr>
          <a:xfrm>
            <a:off x="1143000" y="4590288"/>
            <a:ext cx="2788920" cy="548640"/>
          </a:xfrm>
          <a:prstGeom prst="rect">
            <a:avLst/>
          </a:prstGeom>
          <a:noFill/>
        </p:spPr>
        <p:txBody>
          <a:bodyPr wrap="square" lIns="0" rIns="0" tIns="0" bIns="0" anchor="t"/>
          <a:lstStyle/>
          <a:p>
            <a:pPr algn="l">
              <a:spcAft>
                <a:spcPts val="0"/>
              </a:spcAft>
            </a:pPr>
            <a:r>
              <a:rPr sz="1250" b="1" i="0">
                <a:solidFill>
                  <a:srgbClr val="172033"/>
                </a:solidFill>
                <a:latin typeface="Arial"/>
              </a:rPr>
              <a:t>Optional </a:t>
            </a:r>
            <a:r>
              <a:rPr sz="1250" b="0" i="0">
                <a:solidFill>
                  <a:srgbClr val="526176"/>
                </a:solidFill>
                <a:latin typeface="Arial"/>
              </a:rPr>
              <a:t>shared-workspace API and AI layer</a:t>
            </a:r>
          </a:p>
        </p:txBody>
      </p:sp>
      <p:cxnSp>
        <p:nvCxnSpPr>
          <p:cNvPr id="17" name="Connector 16"/>
          <p:cNvCxnSpPr/>
          <p:nvPr/>
        </p:nvCxnSpPr>
        <p:spPr>
          <a:xfrm>
            <a:off x="4178808" y="3401568"/>
            <a:ext cx="115671" cy="0"/>
          </a:xfrm>
          <a:prstGeom prst="line">
            <a:avLst/>
          </a:prstGeom>
          <a:ln w="15875">
            <a:solidFill>
              <a:srgbClr val="526176"/>
            </a:solidFill>
            <a:tailEnd type="triangle" w="med" len="med"/>
          </a:ln>
        </p:spPr>
      </p:cxnSp>
      <p:sp>
        <p:nvSpPr>
          <p:cNvPr id="18" name="Rounded Rectangle 17"/>
          <p:cNvSpPr/>
          <p:nvPr/>
        </p:nvSpPr>
        <p:spPr>
          <a:xfrm>
            <a:off x="4358487" y="1600200"/>
            <a:ext cx="3474720" cy="3611880"/>
          </a:xfrm>
          <a:prstGeom prst="roundRect">
            <a:avLst>
              <a:gd name="adj" fmla="val 3684"/>
            </a:avLst>
          </a:prstGeom>
          <a:solidFill>
            <a:srgbClr val="FFFFFF"/>
          </a:solidFill>
          <a:ln w="9525">
            <a:solidFill>
              <a:srgbClr val="DCE3EC"/>
            </a:solidFill>
          </a:ln>
        </p:spPr>
        <p:txBody>
          <a:bodyPr rtlCol="0" anchor="ctr"/>
          <a:lstStyle/>
          <a:p/>
        </p:txBody>
      </p:sp>
      <p:sp>
        <p:nvSpPr>
          <p:cNvPr id="19" name="Rounded Rectangle 18"/>
          <p:cNvSpPr/>
          <p:nvPr/>
        </p:nvSpPr>
        <p:spPr>
          <a:xfrm>
            <a:off x="4632807" y="1828800"/>
            <a:ext cx="1417320" cy="292608"/>
          </a:xfrm>
          <a:prstGeom prst="roundRect">
            <a:avLst>
              <a:gd name="adj" fmla="val 50000"/>
            </a:avLst>
          </a:prstGeom>
          <a:solidFill>
            <a:srgbClr val="EAF2FF"/>
          </a:solidFill>
          <a:ln>
            <a:noFill/>
          </a:ln>
        </p:spPr>
        <p:txBody>
          <a:bodyPr rtlCol="0" anchor="ctr" wrap="square" lIns="0" rIns="0" tIns="0" bIns="0"/>
          <a:lstStyle/>
          <a:p>
            <a:pPr algn="ctr">
              <a:spcAft>
                <a:spcPts val="0"/>
              </a:spcAft>
            </a:pPr>
            <a:r>
              <a:rPr sz="950" b="1" i="0">
                <a:solidFill>
                  <a:srgbClr val="1F4E9C"/>
                </a:solidFill>
                <a:latin typeface="Arial"/>
              </a:rPr>
              <a:t>VALIDATED</a:t>
            </a:r>
          </a:p>
        </p:txBody>
      </p:sp>
      <p:sp>
        <p:nvSpPr>
          <p:cNvPr id="20" name="TextBox 19"/>
          <p:cNvSpPr txBox="1"/>
          <p:nvPr/>
        </p:nvSpPr>
        <p:spPr>
          <a:xfrm>
            <a:off x="6168999" y="1865376"/>
            <a:ext cx="1554479" cy="274320"/>
          </a:xfrm>
          <a:prstGeom prst="rect">
            <a:avLst/>
          </a:prstGeom>
          <a:noFill/>
        </p:spPr>
        <p:txBody>
          <a:bodyPr wrap="square" lIns="0" rIns="0" tIns="0" bIns="0" anchor="t"/>
          <a:lstStyle/>
          <a:p>
            <a:pPr algn="l">
              <a:spcAft>
                <a:spcPts val="0"/>
              </a:spcAft>
            </a:pPr>
            <a:r>
              <a:rPr sz="1050" b="0" i="1">
                <a:solidFill>
                  <a:srgbClr val="526176"/>
                </a:solidFill>
                <a:latin typeface="Arial"/>
              </a:rPr>
              <a:t>by automated tests only</a:t>
            </a:r>
          </a:p>
        </p:txBody>
      </p:sp>
      <p:sp>
        <p:nvSpPr>
          <p:cNvPr id="21" name="Rectangle 20"/>
          <p:cNvSpPr/>
          <p:nvPr/>
        </p:nvSpPr>
        <p:spPr>
          <a:xfrm>
            <a:off x="4632807" y="2468880"/>
            <a:ext cx="82296" cy="82296"/>
          </a:xfrm>
          <a:prstGeom prst="rect">
            <a:avLst/>
          </a:prstGeom>
          <a:solidFill>
            <a:srgbClr val="4C8DFF"/>
          </a:solidFill>
          <a:ln>
            <a:noFill/>
          </a:ln>
        </p:spPr>
        <p:txBody>
          <a:bodyPr rtlCol="0" anchor="ctr"/>
          <a:lstStyle/>
          <a:p/>
        </p:txBody>
      </p:sp>
      <p:sp>
        <p:nvSpPr>
          <p:cNvPr id="22" name="TextBox 21"/>
          <p:cNvSpPr txBox="1"/>
          <p:nvPr/>
        </p:nvSpPr>
        <p:spPr>
          <a:xfrm>
            <a:off x="4861407" y="2395728"/>
            <a:ext cx="2788920" cy="548640"/>
          </a:xfrm>
          <a:prstGeom prst="rect">
            <a:avLst/>
          </a:prstGeom>
          <a:noFill/>
        </p:spPr>
        <p:txBody>
          <a:bodyPr wrap="square" lIns="0" rIns="0" tIns="0" bIns="0" anchor="t"/>
          <a:lstStyle/>
          <a:p>
            <a:pPr algn="l">
              <a:spcAft>
                <a:spcPts val="0"/>
              </a:spcAft>
            </a:pPr>
            <a:r>
              <a:rPr sz="1250" b="1" i="0">
                <a:solidFill>
                  <a:srgbClr val="172033"/>
                </a:solidFill>
                <a:latin typeface="Arial"/>
              </a:rPr>
              <a:t>75 unit and integration </a:t>
            </a:r>
            <a:r>
              <a:rPr sz="1250" b="0" i="0">
                <a:solidFill>
                  <a:srgbClr val="526176"/>
                </a:solidFill>
                <a:latin typeface="Arial"/>
              </a:rPr>
              <a:t>tests pass</a:t>
            </a:r>
          </a:p>
        </p:txBody>
      </p:sp>
      <p:sp>
        <p:nvSpPr>
          <p:cNvPr id="23" name="Rectangle 22"/>
          <p:cNvSpPr/>
          <p:nvPr/>
        </p:nvSpPr>
        <p:spPr>
          <a:xfrm>
            <a:off x="4632807" y="3017520"/>
            <a:ext cx="82296" cy="82296"/>
          </a:xfrm>
          <a:prstGeom prst="rect">
            <a:avLst/>
          </a:prstGeom>
          <a:solidFill>
            <a:srgbClr val="4C8DFF"/>
          </a:solidFill>
          <a:ln>
            <a:noFill/>
          </a:ln>
        </p:spPr>
        <p:txBody>
          <a:bodyPr rtlCol="0" anchor="ctr"/>
          <a:lstStyle/>
          <a:p/>
        </p:txBody>
      </p:sp>
      <p:sp>
        <p:nvSpPr>
          <p:cNvPr id="24" name="TextBox 23"/>
          <p:cNvSpPr txBox="1"/>
          <p:nvPr/>
        </p:nvSpPr>
        <p:spPr>
          <a:xfrm>
            <a:off x="4861407" y="2944368"/>
            <a:ext cx="2788920" cy="548640"/>
          </a:xfrm>
          <a:prstGeom prst="rect">
            <a:avLst/>
          </a:prstGeom>
          <a:noFill/>
        </p:spPr>
        <p:txBody>
          <a:bodyPr wrap="square" lIns="0" rIns="0" tIns="0" bIns="0" anchor="t"/>
          <a:lstStyle/>
          <a:p>
            <a:pPr algn="l">
              <a:spcAft>
                <a:spcPts val="0"/>
              </a:spcAft>
            </a:pPr>
            <a:r>
              <a:rPr sz="1250" b="1" i="0">
                <a:solidFill>
                  <a:srgbClr val="172033"/>
                </a:solidFill>
                <a:latin typeface="Arial"/>
              </a:rPr>
              <a:t>12 end-to-end </a:t>
            </a:r>
            <a:r>
              <a:rPr sz="1250" b="0" i="0">
                <a:solidFill>
                  <a:srgbClr val="526176"/>
                </a:solidFill>
                <a:latin typeface="Arial"/>
              </a:rPr>
              <a:t>tests pass (Playwright)</a:t>
            </a:r>
          </a:p>
        </p:txBody>
      </p:sp>
      <p:sp>
        <p:nvSpPr>
          <p:cNvPr id="25" name="Rectangle 24"/>
          <p:cNvSpPr/>
          <p:nvPr/>
        </p:nvSpPr>
        <p:spPr>
          <a:xfrm>
            <a:off x="4632807" y="3566160"/>
            <a:ext cx="82296" cy="82296"/>
          </a:xfrm>
          <a:prstGeom prst="rect">
            <a:avLst/>
          </a:prstGeom>
          <a:solidFill>
            <a:srgbClr val="4C8DFF"/>
          </a:solidFill>
          <a:ln>
            <a:noFill/>
          </a:ln>
        </p:spPr>
        <p:txBody>
          <a:bodyPr rtlCol="0" anchor="ctr"/>
          <a:lstStyle/>
          <a:p/>
        </p:txBody>
      </p:sp>
      <p:sp>
        <p:nvSpPr>
          <p:cNvPr id="26" name="TextBox 25"/>
          <p:cNvSpPr txBox="1"/>
          <p:nvPr/>
        </p:nvSpPr>
        <p:spPr>
          <a:xfrm>
            <a:off x="4861407" y="3493008"/>
            <a:ext cx="2788920" cy="548640"/>
          </a:xfrm>
          <a:prstGeom prst="rect">
            <a:avLst/>
          </a:prstGeom>
          <a:noFill/>
        </p:spPr>
        <p:txBody>
          <a:bodyPr wrap="square" lIns="0" rIns="0" tIns="0" bIns="0" anchor="t"/>
          <a:lstStyle/>
          <a:p>
            <a:pPr algn="l">
              <a:spcAft>
                <a:spcPts val="0"/>
              </a:spcAft>
            </a:pPr>
            <a:r>
              <a:rPr sz="1250" b="1" i="0">
                <a:solidFill>
                  <a:srgbClr val="172033"/>
                </a:solidFill>
                <a:latin typeface="Arial"/>
              </a:rPr>
              <a:t>Type-check and build </a:t>
            </a:r>
            <a:r>
              <a:rPr sz="1250" b="0" i="0">
                <a:solidFill>
                  <a:srgbClr val="526176"/>
                </a:solidFill>
                <a:latin typeface="Arial"/>
              </a:rPr>
              <a:t>pass in CI</a:t>
            </a:r>
          </a:p>
        </p:txBody>
      </p:sp>
      <p:sp>
        <p:nvSpPr>
          <p:cNvPr id="27" name="Rectangle 26"/>
          <p:cNvSpPr/>
          <p:nvPr/>
        </p:nvSpPr>
        <p:spPr>
          <a:xfrm>
            <a:off x="4632807" y="4114800"/>
            <a:ext cx="82296" cy="82296"/>
          </a:xfrm>
          <a:prstGeom prst="rect">
            <a:avLst/>
          </a:prstGeom>
          <a:solidFill>
            <a:srgbClr val="4C8DFF"/>
          </a:solidFill>
          <a:ln>
            <a:noFill/>
          </a:ln>
        </p:spPr>
        <p:txBody>
          <a:bodyPr rtlCol="0" anchor="ctr"/>
          <a:lstStyle/>
          <a:p/>
        </p:txBody>
      </p:sp>
      <p:sp>
        <p:nvSpPr>
          <p:cNvPr id="28" name="TextBox 27"/>
          <p:cNvSpPr txBox="1"/>
          <p:nvPr/>
        </p:nvSpPr>
        <p:spPr>
          <a:xfrm>
            <a:off x="4861407" y="4041648"/>
            <a:ext cx="2788920" cy="548640"/>
          </a:xfrm>
          <a:prstGeom prst="rect">
            <a:avLst/>
          </a:prstGeom>
          <a:noFill/>
        </p:spPr>
        <p:txBody>
          <a:bodyPr wrap="square" lIns="0" rIns="0" tIns="0" bIns="0" anchor="t"/>
          <a:lstStyle/>
          <a:p>
            <a:pPr algn="l">
              <a:spcAft>
                <a:spcPts val="0"/>
              </a:spcAft>
            </a:pPr>
            <a:r>
              <a:rPr sz="1250" b="1" i="0">
                <a:solidFill>
                  <a:srgbClr val="172033"/>
                </a:solidFill>
                <a:latin typeface="Arial"/>
              </a:rPr>
              <a:t>Live site </a:t>
            </a:r>
            <a:r>
              <a:rPr sz="1250" b="0" i="0">
                <a:solidFill>
                  <a:srgbClr val="526176"/>
                </a:solidFill>
                <a:latin typeface="Arial"/>
              </a:rPr>
              <a:t>re-tested after deploy</a:t>
            </a:r>
          </a:p>
        </p:txBody>
      </p:sp>
      <p:sp>
        <p:nvSpPr>
          <p:cNvPr id="29" name="Rectangle 28"/>
          <p:cNvSpPr/>
          <p:nvPr/>
        </p:nvSpPr>
        <p:spPr>
          <a:xfrm>
            <a:off x="4632807" y="4663440"/>
            <a:ext cx="82296" cy="82296"/>
          </a:xfrm>
          <a:prstGeom prst="rect">
            <a:avLst/>
          </a:prstGeom>
          <a:solidFill>
            <a:srgbClr val="4C8DFF"/>
          </a:solidFill>
          <a:ln>
            <a:noFill/>
          </a:ln>
        </p:spPr>
        <p:txBody>
          <a:bodyPr rtlCol="0" anchor="ctr"/>
          <a:lstStyle/>
          <a:p/>
        </p:txBody>
      </p:sp>
      <p:sp>
        <p:nvSpPr>
          <p:cNvPr id="30" name="TextBox 29"/>
          <p:cNvSpPr txBox="1"/>
          <p:nvPr/>
        </p:nvSpPr>
        <p:spPr>
          <a:xfrm>
            <a:off x="4861407" y="4590288"/>
            <a:ext cx="2788920" cy="548640"/>
          </a:xfrm>
          <a:prstGeom prst="rect">
            <a:avLst/>
          </a:prstGeom>
          <a:noFill/>
        </p:spPr>
        <p:txBody>
          <a:bodyPr wrap="square" lIns="0" rIns="0" tIns="0" bIns="0" anchor="t"/>
          <a:lstStyle/>
          <a:p>
            <a:pPr algn="l">
              <a:spcAft>
                <a:spcPts val="0"/>
              </a:spcAft>
            </a:pPr>
            <a:r>
              <a:rPr sz="1250" b="1" i="0">
                <a:solidFill>
                  <a:srgbClr val="172033"/>
                </a:solidFill>
                <a:latin typeface="Arial"/>
              </a:rPr>
              <a:t>No clinical validation </a:t>
            </a:r>
            <a:r>
              <a:rPr sz="1250" b="0" i="0">
                <a:solidFill>
                  <a:srgbClr val="526176"/>
                </a:solidFill>
                <a:latin typeface="Arial"/>
              </a:rPr>
              <a:t>yet</a:t>
            </a:r>
          </a:p>
        </p:txBody>
      </p:sp>
      <p:cxnSp>
        <p:nvCxnSpPr>
          <p:cNvPr id="31" name="Connector 30"/>
          <p:cNvCxnSpPr/>
          <p:nvPr/>
        </p:nvCxnSpPr>
        <p:spPr>
          <a:xfrm>
            <a:off x="7897215" y="3401568"/>
            <a:ext cx="115672" cy="0"/>
          </a:xfrm>
          <a:prstGeom prst="line">
            <a:avLst/>
          </a:prstGeom>
          <a:ln w="15875">
            <a:solidFill>
              <a:srgbClr val="526176"/>
            </a:solidFill>
            <a:tailEnd type="triangle" w="med" len="med"/>
          </a:ln>
        </p:spPr>
      </p:cxnSp>
      <p:sp>
        <p:nvSpPr>
          <p:cNvPr id="32" name="Rounded Rectangle 31"/>
          <p:cNvSpPr/>
          <p:nvPr/>
        </p:nvSpPr>
        <p:spPr>
          <a:xfrm>
            <a:off x="8076895" y="1600200"/>
            <a:ext cx="3474720" cy="3611880"/>
          </a:xfrm>
          <a:prstGeom prst="roundRect">
            <a:avLst>
              <a:gd name="adj" fmla="val 3684"/>
            </a:avLst>
          </a:prstGeom>
          <a:solidFill>
            <a:srgbClr val="FFFFFF"/>
          </a:solidFill>
          <a:ln w="12700">
            <a:solidFill>
              <a:srgbClr val="526176"/>
            </a:solidFill>
            <a:prstDash val="dash"/>
          </a:ln>
        </p:spPr>
        <p:txBody>
          <a:bodyPr rtlCol="0" anchor="ctr"/>
          <a:lstStyle/>
          <a:p/>
        </p:txBody>
      </p:sp>
      <p:sp>
        <p:nvSpPr>
          <p:cNvPr id="33" name="Rounded Rectangle 32"/>
          <p:cNvSpPr/>
          <p:nvPr/>
        </p:nvSpPr>
        <p:spPr>
          <a:xfrm>
            <a:off x="8351215" y="1828800"/>
            <a:ext cx="1417320" cy="292608"/>
          </a:xfrm>
          <a:prstGeom prst="roundRect">
            <a:avLst>
              <a:gd name="adj" fmla="val 50000"/>
            </a:avLst>
          </a:prstGeom>
          <a:solidFill>
            <a:srgbClr val="EEF1F5"/>
          </a:solidFill>
          <a:ln>
            <a:noFill/>
          </a:ln>
        </p:spPr>
        <p:txBody>
          <a:bodyPr rtlCol="0" anchor="ctr" wrap="square" lIns="0" rIns="0" tIns="0" bIns="0"/>
          <a:lstStyle/>
          <a:p>
            <a:pPr algn="ctr">
              <a:spcAft>
                <a:spcPts val="0"/>
              </a:spcAft>
            </a:pPr>
            <a:r>
              <a:rPr sz="950" b="1" i="0">
                <a:solidFill>
                  <a:srgbClr val="526176"/>
                </a:solidFill>
                <a:latin typeface="Arial"/>
              </a:rPr>
              <a:t>PLANNED</a:t>
            </a:r>
          </a:p>
        </p:txBody>
      </p:sp>
      <p:sp>
        <p:nvSpPr>
          <p:cNvPr id="34" name="TextBox 33"/>
          <p:cNvSpPr txBox="1"/>
          <p:nvPr/>
        </p:nvSpPr>
        <p:spPr>
          <a:xfrm>
            <a:off x="9887407" y="1865376"/>
            <a:ext cx="1554479" cy="274320"/>
          </a:xfrm>
          <a:prstGeom prst="rect">
            <a:avLst/>
          </a:prstGeom>
          <a:noFill/>
        </p:spPr>
        <p:txBody>
          <a:bodyPr wrap="square" lIns="0" rIns="0" tIns="0" bIns="0" anchor="t"/>
          <a:lstStyle/>
          <a:p>
            <a:pPr algn="l">
              <a:spcAft>
                <a:spcPts val="0"/>
              </a:spcAft>
            </a:pPr>
            <a:r>
              <a:rPr sz="1050" b="0" i="1">
                <a:solidFill>
                  <a:srgbClr val="526176"/>
                </a:solidFill>
                <a:latin typeface="Arial"/>
              </a:rPr>
              <a:t>next steps</a:t>
            </a:r>
          </a:p>
        </p:txBody>
      </p:sp>
      <p:sp>
        <p:nvSpPr>
          <p:cNvPr id="35" name="Rectangle 34"/>
          <p:cNvSpPr/>
          <p:nvPr/>
        </p:nvSpPr>
        <p:spPr>
          <a:xfrm>
            <a:off x="8351215" y="2468880"/>
            <a:ext cx="82296" cy="82296"/>
          </a:xfrm>
          <a:prstGeom prst="rect">
            <a:avLst/>
          </a:prstGeom>
          <a:solidFill>
            <a:srgbClr val="526176"/>
          </a:solidFill>
          <a:ln>
            <a:noFill/>
          </a:ln>
        </p:spPr>
        <p:txBody>
          <a:bodyPr rtlCol="0" anchor="ctr"/>
          <a:lstStyle/>
          <a:p/>
        </p:txBody>
      </p:sp>
      <p:sp>
        <p:nvSpPr>
          <p:cNvPr id="36" name="TextBox 35"/>
          <p:cNvSpPr txBox="1"/>
          <p:nvPr/>
        </p:nvSpPr>
        <p:spPr>
          <a:xfrm>
            <a:off x="8579815" y="2395728"/>
            <a:ext cx="2788920" cy="548640"/>
          </a:xfrm>
          <a:prstGeom prst="rect">
            <a:avLst/>
          </a:prstGeom>
          <a:noFill/>
        </p:spPr>
        <p:txBody>
          <a:bodyPr wrap="square" lIns="0" rIns="0" tIns="0" bIns="0" anchor="t"/>
          <a:lstStyle/>
          <a:p>
            <a:pPr algn="l">
              <a:spcAft>
                <a:spcPts val="0"/>
              </a:spcAft>
            </a:pPr>
            <a:r>
              <a:rPr sz="1250" b="1" i="0">
                <a:solidFill>
                  <a:srgbClr val="172033"/>
                </a:solidFill>
                <a:latin typeface="Arial"/>
              </a:rPr>
              <a:t>Evaluate </a:t>
            </a:r>
            <a:r>
              <a:rPr sz="1250" b="0" i="0">
                <a:solidFill>
                  <a:srgbClr val="526176"/>
                </a:solidFill>
                <a:latin typeface="Arial"/>
              </a:rPr>
              <a:t>on carefully reviewed examples</a:t>
            </a:r>
          </a:p>
        </p:txBody>
      </p:sp>
      <p:sp>
        <p:nvSpPr>
          <p:cNvPr id="37" name="Rectangle 36"/>
          <p:cNvSpPr/>
          <p:nvPr/>
        </p:nvSpPr>
        <p:spPr>
          <a:xfrm>
            <a:off x="8351215" y="3017520"/>
            <a:ext cx="82296" cy="82296"/>
          </a:xfrm>
          <a:prstGeom prst="rect">
            <a:avLst/>
          </a:prstGeom>
          <a:solidFill>
            <a:srgbClr val="526176"/>
          </a:solidFill>
          <a:ln>
            <a:noFill/>
          </a:ln>
        </p:spPr>
        <p:txBody>
          <a:bodyPr rtlCol="0" anchor="ctr"/>
          <a:lstStyle/>
          <a:p/>
        </p:txBody>
      </p:sp>
      <p:sp>
        <p:nvSpPr>
          <p:cNvPr id="38" name="TextBox 37"/>
          <p:cNvSpPr txBox="1"/>
          <p:nvPr/>
        </p:nvSpPr>
        <p:spPr>
          <a:xfrm>
            <a:off x="8579815" y="2944368"/>
            <a:ext cx="2788920" cy="548640"/>
          </a:xfrm>
          <a:prstGeom prst="rect">
            <a:avLst/>
          </a:prstGeom>
          <a:noFill/>
        </p:spPr>
        <p:txBody>
          <a:bodyPr wrap="square" lIns="0" rIns="0" tIns="0" bIns="0" anchor="t"/>
          <a:lstStyle/>
          <a:p>
            <a:pPr algn="l">
              <a:spcAft>
                <a:spcPts val="0"/>
              </a:spcAft>
            </a:pPr>
            <a:r>
              <a:rPr sz="1250" b="1" i="0">
                <a:solidFill>
                  <a:srgbClr val="172033"/>
                </a:solidFill>
                <a:latin typeface="Arial"/>
              </a:rPr>
              <a:t>Measure </a:t>
            </a:r>
            <a:r>
              <a:rPr sz="1250" b="0" i="0">
                <a:solidFill>
                  <a:srgbClr val="526176"/>
                </a:solidFill>
                <a:latin typeface="Arial"/>
              </a:rPr>
              <a:t>false positives and misses</a:t>
            </a:r>
          </a:p>
        </p:txBody>
      </p:sp>
      <p:sp>
        <p:nvSpPr>
          <p:cNvPr id="39" name="Rectangle 38"/>
          <p:cNvSpPr/>
          <p:nvPr/>
        </p:nvSpPr>
        <p:spPr>
          <a:xfrm>
            <a:off x="8351215" y="3566160"/>
            <a:ext cx="82296" cy="82296"/>
          </a:xfrm>
          <a:prstGeom prst="rect">
            <a:avLst/>
          </a:prstGeom>
          <a:solidFill>
            <a:srgbClr val="526176"/>
          </a:solidFill>
          <a:ln>
            <a:noFill/>
          </a:ln>
        </p:spPr>
        <p:txBody>
          <a:bodyPr rtlCol="0" anchor="ctr"/>
          <a:lstStyle/>
          <a:p/>
        </p:txBody>
      </p:sp>
      <p:sp>
        <p:nvSpPr>
          <p:cNvPr id="40" name="TextBox 39"/>
          <p:cNvSpPr txBox="1"/>
          <p:nvPr/>
        </p:nvSpPr>
        <p:spPr>
          <a:xfrm>
            <a:off x="8579815" y="3493008"/>
            <a:ext cx="2788920" cy="548640"/>
          </a:xfrm>
          <a:prstGeom prst="rect">
            <a:avLst/>
          </a:prstGeom>
          <a:noFill/>
        </p:spPr>
        <p:txBody>
          <a:bodyPr wrap="square" lIns="0" rIns="0" tIns="0" bIns="0" anchor="t"/>
          <a:lstStyle/>
          <a:p>
            <a:pPr algn="l">
              <a:spcAft>
                <a:spcPts val="0"/>
              </a:spcAft>
            </a:pPr>
            <a:r>
              <a:rPr sz="1250" b="1" i="0">
                <a:solidFill>
                  <a:srgbClr val="172033"/>
                </a:solidFill>
                <a:latin typeface="Arial"/>
              </a:rPr>
              <a:t>Run AI </a:t>
            </a:r>
            <a:r>
              <a:rPr sz="1250" b="0" i="0">
                <a:solidFill>
                  <a:srgbClr val="526176"/>
                </a:solidFill>
                <a:latin typeface="Arial"/>
              </a:rPr>
              <a:t>against a live model</a:t>
            </a:r>
          </a:p>
        </p:txBody>
      </p:sp>
      <p:sp>
        <p:nvSpPr>
          <p:cNvPr id="41" name="Rectangle 40"/>
          <p:cNvSpPr/>
          <p:nvPr/>
        </p:nvSpPr>
        <p:spPr>
          <a:xfrm>
            <a:off x="8351215" y="4114800"/>
            <a:ext cx="82296" cy="82296"/>
          </a:xfrm>
          <a:prstGeom prst="rect">
            <a:avLst/>
          </a:prstGeom>
          <a:solidFill>
            <a:srgbClr val="526176"/>
          </a:solidFill>
          <a:ln>
            <a:noFill/>
          </a:ln>
        </p:spPr>
        <p:txBody>
          <a:bodyPr rtlCol="0" anchor="ctr"/>
          <a:lstStyle/>
          <a:p/>
        </p:txBody>
      </p:sp>
      <p:sp>
        <p:nvSpPr>
          <p:cNvPr id="42" name="TextBox 41"/>
          <p:cNvSpPr txBox="1"/>
          <p:nvPr/>
        </p:nvSpPr>
        <p:spPr>
          <a:xfrm>
            <a:off x="8579815" y="4041648"/>
            <a:ext cx="2788920" cy="548640"/>
          </a:xfrm>
          <a:prstGeom prst="rect">
            <a:avLst/>
          </a:prstGeom>
          <a:noFill/>
        </p:spPr>
        <p:txBody>
          <a:bodyPr wrap="square" lIns="0" rIns="0" tIns="0" bIns="0" anchor="t"/>
          <a:lstStyle/>
          <a:p>
            <a:pPr algn="l">
              <a:spcAft>
                <a:spcPts val="0"/>
              </a:spcAft>
            </a:pPr>
            <a:r>
              <a:rPr sz="1250" b="1" i="0">
                <a:solidFill>
                  <a:srgbClr val="172033"/>
                </a:solidFill>
                <a:latin typeface="Arial"/>
              </a:rPr>
              <a:t>Host the API </a:t>
            </a:r>
            <a:r>
              <a:rPr sz="1250" b="0" i="0">
                <a:solidFill>
                  <a:srgbClr val="526176"/>
                </a:solidFill>
                <a:latin typeface="Arial"/>
              </a:rPr>
              <a:t>with secure access</a:t>
            </a:r>
          </a:p>
        </p:txBody>
      </p:sp>
      <p:sp>
        <p:nvSpPr>
          <p:cNvPr id="43" name="Rectangle 42"/>
          <p:cNvSpPr/>
          <p:nvPr/>
        </p:nvSpPr>
        <p:spPr>
          <a:xfrm>
            <a:off x="8351215" y="4663440"/>
            <a:ext cx="82296" cy="82296"/>
          </a:xfrm>
          <a:prstGeom prst="rect">
            <a:avLst/>
          </a:prstGeom>
          <a:solidFill>
            <a:srgbClr val="526176"/>
          </a:solidFill>
          <a:ln>
            <a:noFill/>
          </a:ln>
        </p:spPr>
        <p:txBody>
          <a:bodyPr rtlCol="0" anchor="ctr"/>
          <a:lstStyle/>
          <a:p/>
        </p:txBody>
      </p:sp>
      <p:sp>
        <p:nvSpPr>
          <p:cNvPr id="44" name="TextBox 43"/>
          <p:cNvSpPr txBox="1"/>
          <p:nvPr/>
        </p:nvSpPr>
        <p:spPr>
          <a:xfrm>
            <a:off x="8579815" y="4590288"/>
            <a:ext cx="2788920" cy="548640"/>
          </a:xfrm>
          <a:prstGeom prst="rect">
            <a:avLst/>
          </a:prstGeom>
          <a:noFill/>
        </p:spPr>
        <p:txBody>
          <a:bodyPr wrap="square" lIns="0" rIns="0" tIns="0" bIns="0" anchor="t"/>
          <a:lstStyle/>
          <a:p>
            <a:pPr algn="l">
              <a:spcAft>
                <a:spcPts val="0"/>
              </a:spcAft>
            </a:pPr>
            <a:r>
              <a:rPr sz="1250" b="1" i="0">
                <a:solidFill>
                  <a:srgbClr val="172033"/>
                </a:solidFill>
                <a:latin typeface="Arial"/>
              </a:rPr>
              <a:t>Improve </a:t>
            </a:r>
            <a:r>
              <a:rPr sz="1250" b="0" i="0">
                <a:solidFill>
                  <a:srgbClr val="526176"/>
                </a:solidFill>
                <a:latin typeface="Arial"/>
              </a:rPr>
              <a:t>complex and tabular documents</a:t>
            </a:r>
          </a:p>
        </p:txBody>
      </p:sp>
      <p:sp>
        <p:nvSpPr>
          <p:cNvPr id="45" name="Rounded Rectangle 44"/>
          <p:cNvSpPr/>
          <p:nvPr/>
        </p:nvSpPr>
        <p:spPr>
          <a:xfrm>
            <a:off x="640080" y="5440680"/>
            <a:ext cx="10911535" cy="777240"/>
          </a:xfrm>
          <a:prstGeom prst="roundRect">
            <a:avLst>
              <a:gd name="adj" fmla="val 16470"/>
            </a:avLst>
          </a:prstGeom>
          <a:solidFill>
            <a:srgbClr val="0B1220"/>
          </a:solidFill>
          <a:ln>
            <a:noFill/>
          </a:ln>
        </p:spPr>
        <p:txBody>
          <a:bodyPr rtlCol="0" anchor="ctr"/>
          <a:lstStyle/>
          <a:p/>
        </p:txBody>
      </p:sp>
      <p:sp>
        <p:nvSpPr>
          <p:cNvPr id="46" name="Oval 45"/>
          <p:cNvSpPr/>
          <p:nvPr/>
        </p:nvSpPr>
        <p:spPr>
          <a:xfrm>
            <a:off x="978407" y="5756148"/>
            <a:ext cx="146304" cy="146304"/>
          </a:xfrm>
          <a:prstGeom prst="ellipse">
            <a:avLst/>
          </a:prstGeom>
          <a:solidFill>
            <a:srgbClr val="F2A65A"/>
          </a:solidFill>
          <a:ln>
            <a:noFill/>
          </a:ln>
        </p:spPr>
        <p:txBody>
          <a:bodyPr rtlCol="0" anchor="ctr"/>
          <a:lstStyle/>
          <a:p/>
        </p:txBody>
      </p:sp>
      <p:sp>
        <p:nvSpPr>
          <p:cNvPr id="47" name="TextBox 46"/>
          <p:cNvSpPr txBox="1"/>
          <p:nvPr/>
        </p:nvSpPr>
        <p:spPr>
          <a:xfrm>
            <a:off x="1325880" y="5554980"/>
            <a:ext cx="2743200" cy="228600"/>
          </a:xfrm>
          <a:prstGeom prst="rect">
            <a:avLst/>
          </a:prstGeom>
          <a:noFill/>
        </p:spPr>
        <p:txBody>
          <a:bodyPr wrap="square" lIns="0" rIns="0" tIns="0" bIns="0" anchor="t"/>
          <a:lstStyle/>
          <a:p>
            <a:pPr algn="l">
              <a:spcAft>
                <a:spcPts val="0"/>
              </a:spcAft>
            </a:pPr>
            <a:r>
              <a:rPr sz="950" b="1" i="0" spc="120">
                <a:solidFill>
                  <a:srgbClr val="19B6A4"/>
                </a:solidFill>
                <a:latin typeface="Arial"/>
              </a:rPr>
              <a:t>KEY POINT</a:t>
            </a:r>
          </a:p>
        </p:txBody>
      </p:sp>
      <p:sp>
        <p:nvSpPr>
          <p:cNvPr id="48" name="TextBox 47"/>
          <p:cNvSpPr txBox="1"/>
          <p:nvPr/>
        </p:nvSpPr>
        <p:spPr>
          <a:xfrm>
            <a:off x="1325880" y="5783580"/>
            <a:ext cx="9905695" cy="411480"/>
          </a:xfrm>
          <a:prstGeom prst="rect">
            <a:avLst/>
          </a:prstGeom>
          <a:noFill/>
        </p:spPr>
        <p:txBody>
          <a:bodyPr wrap="square" lIns="0" rIns="0" tIns="0" bIns="0" anchor="t"/>
          <a:lstStyle/>
          <a:p>
            <a:pPr algn="l">
              <a:spcAft>
                <a:spcPts val="0"/>
              </a:spcAft>
            </a:pPr>
            <a:r>
              <a:rPr sz="1700" b="1" i="0">
                <a:solidFill>
                  <a:srgbClr val="F8FAFC"/>
                </a:solidFill>
                <a:latin typeface="Arial"/>
              </a:rPr>
              <a:t>Present in code is not tested, and tested is not clinically validated.</a:t>
            </a:r>
          </a:p>
        </p:txBody>
      </p:sp>
      <p:sp>
        <p:nvSpPr>
          <p:cNvPr id="49" name="TextBox 48"/>
          <p:cNvSpPr txBox="1"/>
          <p:nvPr/>
        </p:nvSpPr>
        <p:spPr>
          <a:xfrm>
            <a:off x="640080" y="6400800"/>
            <a:ext cx="4572000" cy="201168"/>
          </a:xfrm>
          <a:prstGeom prst="rect">
            <a:avLst/>
          </a:prstGeom>
          <a:noFill/>
        </p:spPr>
        <p:txBody>
          <a:bodyPr wrap="square" lIns="0" rIns="0" tIns="0" bIns="0" anchor="t"/>
          <a:lstStyle/>
          <a:p>
            <a:pPr algn="l">
              <a:spcAft>
                <a:spcPts val="0"/>
              </a:spcAft>
            </a:pPr>
            <a:r>
              <a:rPr sz="950" b="1" i="0" spc="100">
                <a:solidFill>
                  <a:srgbClr val="526176"/>
                </a:solidFill>
                <a:latin typeface="Arial"/>
              </a:rPr>
              <a:t>CLINISCOPE</a:t>
            </a:r>
            <a:r>
              <a:rPr sz="950" b="0" i="0" spc="60">
                <a:solidFill>
                  <a:srgbClr val="526176"/>
                </a:solidFill>
                <a:latin typeface="Arial"/>
              </a:rPr>
              <a:t>   |   PS-11R3</a:t>
            </a:r>
          </a:p>
        </p:txBody>
      </p:sp>
      <p:sp>
        <p:nvSpPr>
          <p:cNvPr id="50" name="TextBox 49"/>
          <p:cNvSpPr txBox="1"/>
          <p:nvPr/>
        </p:nvSpPr>
        <p:spPr>
          <a:xfrm>
            <a:off x="10180015" y="6400800"/>
            <a:ext cx="1371600" cy="201168"/>
          </a:xfrm>
          <a:prstGeom prst="rect">
            <a:avLst/>
          </a:prstGeom>
          <a:noFill/>
        </p:spPr>
        <p:txBody>
          <a:bodyPr wrap="square" lIns="0" rIns="0" tIns="0" bIns="0" anchor="t"/>
          <a:lstStyle/>
          <a:p>
            <a:pPr algn="r">
              <a:spcAft>
                <a:spcPts val="0"/>
              </a:spcAft>
            </a:pPr>
            <a:r>
              <a:rPr sz="950" b="0" i="0" spc="60">
                <a:solidFill>
                  <a:srgbClr val="526176"/>
                </a:solidFill>
                <a:latin typeface="Arial"/>
              </a:rPr>
              <a:t>06 / 08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AFC"/>
        </a:solidFill>
        <a:effectLst/>
      </p:bgPr>
    </p:bg>
    <p:spTree>
      <p:nvGrpSpPr>
        <p:cNvPr id="1" name=""/>
        <p:cNvGrpSpPr/>
        <p:nvPr/>
      </p:nvGrpSpPr>
      <p:grpSpPr/>
      <p:sp>
        <p:nvSpPr>
          <p:cNvPr id="2" name="TextBox 1"/>
          <p:cNvSpPr txBox="1"/>
          <p:nvPr/>
        </p:nvSpPr>
        <p:spPr>
          <a:xfrm>
            <a:off x="640080" y="457200"/>
            <a:ext cx="7315200" cy="228600"/>
          </a:xfrm>
          <a:prstGeom prst="rect">
            <a:avLst/>
          </a:prstGeom>
          <a:noFill/>
        </p:spPr>
        <p:txBody>
          <a:bodyPr wrap="square" lIns="0" rIns="0" tIns="0" bIns="0" anchor="t"/>
          <a:lstStyle/>
          <a:p>
            <a:pPr algn="l">
              <a:spcAft>
                <a:spcPts val="0"/>
              </a:spcAft>
            </a:pPr>
            <a:r>
              <a:rPr sz="1050" b="1" i="0" spc="120">
                <a:solidFill>
                  <a:srgbClr val="19B6A4"/>
                </a:solidFill>
                <a:latin typeface="Arial"/>
              </a:rPr>
              <a:t>07  ·  SUSTAINABILITY, SCALABILITY &amp; IMPACT</a:t>
            </a:r>
          </a:p>
        </p:txBody>
      </p:sp>
      <p:sp>
        <p:nvSpPr>
          <p:cNvPr id="3" name="Title"/>
          <p:cNvSpPr txBox="1"/>
          <p:nvPr/>
        </p:nvSpPr>
        <p:spPr>
          <a:xfrm>
            <a:off x="640080" y="749808"/>
            <a:ext cx="10911535" cy="548640"/>
          </a:xfrm>
          <a:prstGeom prst="rect">
            <a:avLst/>
          </a:prstGeom>
          <a:noFill/>
        </p:spPr>
        <p:txBody>
          <a:bodyPr wrap="square" lIns="0" rIns="0" tIns="0" bIns="0" anchor="t"/>
          <a:lstStyle/>
          <a:p>
            <a:pPr algn="l">
              <a:spcAft>
                <a:spcPts val="0"/>
              </a:spcAft>
            </a:pPr>
            <a:r>
              <a:rPr sz="2800" b="1" i="0">
                <a:solidFill>
                  <a:srgbClr val="172033"/>
                </a:solidFill>
                <a:latin typeface="Arial"/>
              </a:rPr>
              <a:t>Designed to grow responsibly with clinical review needs</a:t>
            </a:r>
          </a:p>
        </p:txBody>
      </p:sp>
      <p:sp>
        <p:nvSpPr>
          <p:cNvPr id="4" name="Rounded Rectangle 3"/>
          <p:cNvSpPr/>
          <p:nvPr/>
        </p:nvSpPr>
        <p:spPr>
          <a:xfrm>
            <a:off x="640080" y="1600200"/>
            <a:ext cx="3474720" cy="2606040"/>
          </a:xfrm>
          <a:prstGeom prst="roundRect">
            <a:avLst>
              <a:gd name="adj" fmla="val 4912"/>
            </a:avLst>
          </a:prstGeom>
          <a:solidFill>
            <a:srgbClr val="FFFFFF"/>
          </a:solidFill>
          <a:ln w="9525">
            <a:solidFill>
              <a:srgbClr val="DCE3EC"/>
            </a:solidFill>
          </a:ln>
        </p:spPr>
        <p:txBody>
          <a:bodyPr rtlCol="0" anchor="ctr"/>
          <a:lstStyle/>
          <a:p/>
        </p:txBody>
      </p:sp>
      <p:sp>
        <p:nvSpPr>
          <p:cNvPr id="5" name="Oval 4"/>
          <p:cNvSpPr/>
          <p:nvPr/>
        </p:nvSpPr>
        <p:spPr>
          <a:xfrm>
            <a:off x="914400" y="1810512"/>
            <a:ext cx="384048" cy="384048"/>
          </a:xfrm>
          <a:prstGeom prst="ellipse">
            <a:avLst/>
          </a:prstGeom>
          <a:solidFill>
            <a:srgbClr val="19B6A4"/>
          </a:solidFill>
          <a:ln>
            <a:noFill/>
          </a:ln>
        </p:spPr>
        <p:txBody>
          <a:bodyPr rtlCol="0" anchor="ctr" wrap="square" lIns="0" rIns="0" tIns="0" bIns="0"/>
          <a:lstStyle/>
          <a:p>
            <a:pPr algn="ctr">
              <a:spcAft>
                <a:spcPts val="0"/>
              </a:spcAft>
            </a:pPr>
            <a:r>
              <a:rPr sz="1200" b="1" i="0">
                <a:solidFill>
                  <a:srgbClr val="F8FAFC"/>
                </a:solidFill>
                <a:latin typeface="Arial"/>
              </a:rPr>
              <a:t>1</a:t>
            </a:r>
          </a:p>
        </p:txBody>
      </p:sp>
      <p:sp>
        <p:nvSpPr>
          <p:cNvPr id="6" name="TextBox 5"/>
          <p:cNvSpPr txBox="1"/>
          <p:nvPr/>
        </p:nvSpPr>
        <p:spPr>
          <a:xfrm>
            <a:off x="1417319" y="1810512"/>
            <a:ext cx="2560320" cy="228600"/>
          </a:xfrm>
          <a:prstGeom prst="rect">
            <a:avLst/>
          </a:prstGeom>
          <a:noFill/>
        </p:spPr>
        <p:txBody>
          <a:bodyPr wrap="square" lIns="0" rIns="0" tIns="0" bIns="0" anchor="t"/>
          <a:lstStyle/>
          <a:p>
            <a:pPr algn="l">
              <a:spcAft>
                <a:spcPts val="0"/>
              </a:spcAft>
            </a:pPr>
            <a:r>
              <a:rPr sz="1450" b="1" i="0">
                <a:solidFill>
                  <a:srgbClr val="172033"/>
                </a:solidFill>
                <a:latin typeface="Arial"/>
              </a:rPr>
              <a:t>Current foundation</a:t>
            </a:r>
          </a:p>
        </p:txBody>
      </p:sp>
      <p:sp>
        <p:nvSpPr>
          <p:cNvPr id="7" name="TextBox 6"/>
          <p:cNvSpPr txBox="1"/>
          <p:nvPr/>
        </p:nvSpPr>
        <p:spPr>
          <a:xfrm>
            <a:off x="1417319" y="2048256"/>
            <a:ext cx="2560320" cy="228600"/>
          </a:xfrm>
          <a:prstGeom prst="rect">
            <a:avLst/>
          </a:prstGeom>
          <a:noFill/>
        </p:spPr>
        <p:txBody>
          <a:bodyPr wrap="square" lIns="0" rIns="0" tIns="0" bIns="0" anchor="t"/>
          <a:lstStyle/>
          <a:p>
            <a:pPr algn="l">
              <a:spcAft>
                <a:spcPts val="0"/>
              </a:spcAft>
            </a:pPr>
            <a:r>
              <a:rPr sz="850" b="1" i="0" spc="100">
                <a:solidFill>
                  <a:srgbClr val="19B6A4"/>
                </a:solidFill>
                <a:latin typeface="Arial"/>
              </a:rPr>
              <a:t>IMPLEMENTED</a:t>
            </a:r>
          </a:p>
        </p:txBody>
      </p:sp>
      <p:sp>
        <p:nvSpPr>
          <p:cNvPr id="8" name="Rectangle 7"/>
          <p:cNvSpPr/>
          <p:nvPr/>
        </p:nvSpPr>
        <p:spPr>
          <a:xfrm>
            <a:off x="932688" y="2560320"/>
            <a:ext cx="73152" cy="73152"/>
          </a:xfrm>
          <a:prstGeom prst="rect">
            <a:avLst/>
          </a:prstGeom>
          <a:solidFill>
            <a:srgbClr val="19B6A4"/>
          </a:solidFill>
          <a:ln>
            <a:noFill/>
          </a:ln>
        </p:spPr>
        <p:txBody>
          <a:bodyPr rtlCol="0" anchor="ctr"/>
          <a:lstStyle/>
          <a:p/>
        </p:txBody>
      </p:sp>
      <p:sp>
        <p:nvSpPr>
          <p:cNvPr id="9" name="TextBox 8"/>
          <p:cNvSpPr txBox="1"/>
          <p:nvPr/>
        </p:nvSpPr>
        <p:spPr>
          <a:xfrm>
            <a:off x="1143000" y="2487168"/>
            <a:ext cx="2788920" cy="365760"/>
          </a:xfrm>
          <a:prstGeom prst="rect">
            <a:avLst/>
          </a:prstGeom>
          <a:noFill/>
        </p:spPr>
        <p:txBody>
          <a:bodyPr wrap="square" lIns="0" rIns="0" tIns="0" bIns="0" anchor="t"/>
          <a:lstStyle/>
          <a:p>
            <a:pPr algn="l">
              <a:spcAft>
                <a:spcPts val="0"/>
              </a:spcAft>
            </a:pPr>
            <a:r>
              <a:rPr sz="1200" b="0" i="0">
                <a:solidFill>
                  <a:srgbClr val="526176"/>
                </a:solidFill>
                <a:latin typeface="Arial"/>
              </a:rPr>
              <a:t>Conflicting statements in one queue</a:t>
            </a:r>
          </a:p>
        </p:txBody>
      </p:sp>
      <p:sp>
        <p:nvSpPr>
          <p:cNvPr id="10" name="Rectangle 9"/>
          <p:cNvSpPr/>
          <p:nvPr/>
        </p:nvSpPr>
        <p:spPr>
          <a:xfrm>
            <a:off x="932688" y="2944368"/>
            <a:ext cx="73152" cy="73152"/>
          </a:xfrm>
          <a:prstGeom prst="rect">
            <a:avLst/>
          </a:prstGeom>
          <a:solidFill>
            <a:srgbClr val="19B6A4"/>
          </a:solidFill>
          <a:ln>
            <a:noFill/>
          </a:ln>
        </p:spPr>
        <p:txBody>
          <a:bodyPr rtlCol="0" anchor="ctr"/>
          <a:lstStyle/>
          <a:p/>
        </p:txBody>
      </p:sp>
      <p:sp>
        <p:nvSpPr>
          <p:cNvPr id="11" name="TextBox 10"/>
          <p:cNvSpPr txBox="1"/>
          <p:nvPr/>
        </p:nvSpPr>
        <p:spPr>
          <a:xfrm>
            <a:off x="1143000" y="2871216"/>
            <a:ext cx="2788920" cy="365760"/>
          </a:xfrm>
          <a:prstGeom prst="rect">
            <a:avLst/>
          </a:prstGeom>
          <a:noFill/>
        </p:spPr>
        <p:txBody>
          <a:bodyPr wrap="square" lIns="0" rIns="0" tIns="0" bIns="0" anchor="t"/>
          <a:lstStyle/>
          <a:p>
            <a:pPr algn="l">
              <a:spcAft>
                <a:spcPts val="0"/>
              </a:spcAft>
            </a:pPr>
            <a:r>
              <a:rPr sz="1200" b="0" i="0">
                <a:solidFill>
                  <a:srgbClr val="526176"/>
                </a:solidFill>
                <a:latin typeface="Arial"/>
              </a:rPr>
              <a:t>Navigation to the exact source</a:t>
            </a:r>
          </a:p>
        </p:txBody>
      </p:sp>
      <p:sp>
        <p:nvSpPr>
          <p:cNvPr id="12" name="Rectangle 11"/>
          <p:cNvSpPr/>
          <p:nvPr/>
        </p:nvSpPr>
        <p:spPr>
          <a:xfrm>
            <a:off x="932688" y="3328416"/>
            <a:ext cx="73152" cy="73152"/>
          </a:xfrm>
          <a:prstGeom prst="rect">
            <a:avLst/>
          </a:prstGeom>
          <a:solidFill>
            <a:srgbClr val="19B6A4"/>
          </a:solidFill>
          <a:ln>
            <a:noFill/>
          </a:ln>
        </p:spPr>
        <p:txBody>
          <a:bodyPr rtlCol="0" anchor="ctr"/>
          <a:lstStyle/>
          <a:p/>
        </p:txBody>
      </p:sp>
      <p:sp>
        <p:nvSpPr>
          <p:cNvPr id="13" name="TextBox 12"/>
          <p:cNvSpPr txBox="1"/>
          <p:nvPr/>
        </p:nvSpPr>
        <p:spPr>
          <a:xfrm>
            <a:off x="1143000" y="3255264"/>
            <a:ext cx="2788920" cy="365760"/>
          </a:xfrm>
          <a:prstGeom prst="rect">
            <a:avLst/>
          </a:prstGeom>
          <a:noFill/>
        </p:spPr>
        <p:txBody>
          <a:bodyPr wrap="square" lIns="0" rIns="0" tIns="0" bIns="0" anchor="t"/>
          <a:lstStyle/>
          <a:p>
            <a:pPr algn="l">
              <a:spcAft>
                <a:spcPts val="0"/>
              </a:spcAft>
            </a:pPr>
            <a:r>
              <a:rPr sz="1200" b="0" i="0">
                <a:solidFill>
                  <a:srgbClr val="526176"/>
                </a:solidFill>
                <a:latin typeface="Arial"/>
              </a:rPr>
              <a:t>Findings organized for investigation</a:t>
            </a:r>
          </a:p>
        </p:txBody>
      </p:sp>
      <p:sp>
        <p:nvSpPr>
          <p:cNvPr id="14" name="Rectangle 13"/>
          <p:cNvSpPr/>
          <p:nvPr/>
        </p:nvSpPr>
        <p:spPr>
          <a:xfrm>
            <a:off x="932688" y="3712463"/>
            <a:ext cx="73152" cy="73152"/>
          </a:xfrm>
          <a:prstGeom prst="rect">
            <a:avLst/>
          </a:prstGeom>
          <a:solidFill>
            <a:srgbClr val="19B6A4"/>
          </a:solidFill>
          <a:ln>
            <a:noFill/>
          </a:ln>
        </p:spPr>
        <p:txBody>
          <a:bodyPr rtlCol="0" anchor="ctr"/>
          <a:lstStyle/>
          <a:p/>
        </p:txBody>
      </p:sp>
      <p:sp>
        <p:nvSpPr>
          <p:cNvPr id="15" name="TextBox 14"/>
          <p:cNvSpPr txBox="1"/>
          <p:nvPr/>
        </p:nvSpPr>
        <p:spPr>
          <a:xfrm>
            <a:off x="1143000" y="3639312"/>
            <a:ext cx="2788920" cy="365760"/>
          </a:xfrm>
          <a:prstGeom prst="rect">
            <a:avLst/>
          </a:prstGeom>
          <a:noFill/>
        </p:spPr>
        <p:txBody>
          <a:bodyPr wrap="square" lIns="0" rIns="0" tIns="0" bIns="0" anchor="t"/>
          <a:lstStyle/>
          <a:p>
            <a:pPr algn="l">
              <a:spcAft>
                <a:spcPts val="0"/>
              </a:spcAft>
            </a:pPr>
            <a:r>
              <a:rPr sz="1200" b="0" i="0">
                <a:solidFill>
                  <a:srgbClr val="526176"/>
                </a:solidFill>
                <a:latin typeface="Arial"/>
              </a:rPr>
              <a:t>Audited reviewer decisions</a:t>
            </a:r>
          </a:p>
        </p:txBody>
      </p:sp>
      <p:cxnSp>
        <p:nvCxnSpPr>
          <p:cNvPr id="16" name="Connector 15"/>
          <p:cNvCxnSpPr/>
          <p:nvPr/>
        </p:nvCxnSpPr>
        <p:spPr>
          <a:xfrm>
            <a:off x="4178808" y="2898648"/>
            <a:ext cx="115671" cy="0"/>
          </a:xfrm>
          <a:prstGeom prst="line">
            <a:avLst/>
          </a:prstGeom>
          <a:ln w="15875">
            <a:solidFill>
              <a:srgbClr val="526176"/>
            </a:solidFill>
            <a:tailEnd type="triangle" w="med" len="med"/>
          </a:ln>
        </p:spPr>
      </p:cxnSp>
      <p:sp>
        <p:nvSpPr>
          <p:cNvPr id="17" name="Rounded Rectangle 16"/>
          <p:cNvSpPr/>
          <p:nvPr/>
        </p:nvSpPr>
        <p:spPr>
          <a:xfrm>
            <a:off x="4358487" y="1600200"/>
            <a:ext cx="3474720" cy="2606040"/>
          </a:xfrm>
          <a:prstGeom prst="roundRect">
            <a:avLst>
              <a:gd name="adj" fmla="val 4912"/>
            </a:avLst>
          </a:prstGeom>
          <a:solidFill>
            <a:srgbClr val="FFFFFF"/>
          </a:solidFill>
          <a:ln w="9525">
            <a:solidFill>
              <a:srgbClr val="DCE3EC"/>
            </a:solidFill>
          </a:ln>
        </p:spPr>
        <p:txBody>
          <a:bodyPr rtlCol="0" anchor="ctr"/>
          <a:lstStyle/>
          <a:p/>
        </p:txBody>
      </p:sp>
      <p:sp>
        <p:nvSpPr>
          <p:cNvPr id="18" name="Oval 17"/>
          <p:cNvSpPr/>
          <p:nvPr/>
        </p:nvSpPr>
        <p:spPr>
          <a:xfrm>
            <a:off x="4632807" y="1810512"/>
            <a:ext cx="384048" cy="384048"/>
          </a:xfrm>
          <a:prstGeom prst="ellipse">
            <a:avLst/>
          </a:prstGeom>
          <a:solidFill>
            <a:srgbClr val="4C8DFF"/>
          </a:solidFill>
          <a:ln>
            <a:noFill/>
          </a:ln>
        </p:spPr>
        <p:txBody>
          <a:bodyPr rtlCol="0" anchor="ctr" wrap="square" lIns="0" rIns="0" tIns="0" bIns="0"/>
          <a:lstStyle/>
          <a:p>
            <a:pPr algn="ctr">
              <a:spcAft>
                <a:spcPts val="0"/>
              </a:spcAft>
            </a:pPr>
            <a:r>
              <a:rPr sz="1200" b="1" i="0">
                <a:solidFill>
                  <a:srgbClr val="F8FAFC"/>
                </a:solidFill>
                <a:latin typeface="Arial"/>
              </a:rPr>
              <a:t>2</a:t>
            </a:r>
          </a:p>
        </p:txBody>
      </p:sp>
      <p:sp>
        <p:nvSpPr>
          <p:cNvPr id="19" name="TextBox 18"/>
          <p:cNvSpPr txBox="1"/>
          <p:nvPr/>
        </p:nvSpPr>
        <p:spPr>
          <a:xfrm>
            <a:off x="5135727" y="1810512"/>
            <a:ext cx="2560320" cy="228600"/>
          </a:xfrm>
          <a:prstGeom prst="rect">
            <a:avLst/>
          </a:prstGeom>
          <a:noFill/>
        </p:spPr>
        <p:txBody>
          <a:bodyPr wrap="square" lIns="0" rIns="0" tIns="0" bIns="0" anchor="t"/>
          <a:lstStyle/>
          <a:p>
            <a:pPr algn="l">
              <a:spcAft>
                <a:spcPts val="0"/>
              </a:spcAft>
            </a:pPr>
            <a:r>
              <a:rPr sz="1450" b="1" i="0">
                <a:solidFill>
                  <a:srgbClr val="172033"/>
                </a:solidFill>
                <a:latin typeface="Arial"/>
              </a:rPr>
              <a:t>Validation &amp; extension</a:t>
            </a:r>
          </a:p>
        </p:txBody>
      </p:sp>
      <p:sp>
        <p:nvSpPr>
          <p:cNvPr id="20" name="TextBox 19"/>
          <p:cNvSpPr txBox="1"/>
          <p:nvPr/>
        </p:nvSpPr>
        <p:spPr>
          <a:xfrm>
            <a:off x="5135727" y="2048256"/>
            <a:ext cx="2560320" cy="228600"/>
          </a:xfrm>
          <a:prstGeom prst="rect">
            <a:avLst/>
          </a:prstGeom>
          <a:noFill/>
        </p:spPr>
        <p:txBody>
          <a:bodyPr wrap="square" lIns="0" rIns="0" tIns="0" bIns="0" anchor="t"/>
          <a:lstStyle/>
          <a:p>
            <a:pPr algn="l">
              <a:spcAft>
                <a:spcPts val="0"/>
              </a:spcAft>
            </a:pPr>
            <a:r>
              <a:rPr sz="850" b="1" i="0" spc="100">
                <a:solidFill>
                  <a:srgbClr val="4C8DFF"/>
                </a:solidFill>
                <a:latin typeface="Arial"/>
              </a:rPr>
              <a:t>FUTURE WORK</a:t>
            </a:r>
          </a:p>
        </p:txBody>
      </p:sp>
      <p:sp>
        <p:nvSpPr>
          <p:cNvPr id="21" name="Rectangle 20"/>
          <p:cNvSpPr/>
          <p:nvPr/>
        </p:nvSpPr>
        <p:spPr>
          <a:xfrm>
            <a:off x="4651095" y="2560320"/>
            <a:ext cx="73152" cy="73152"/>
          </a:xfrm>
          <a:prstGeom prst="rect">
            <a:avLst/>
          </a:prstGeom>
          <a:solidFill>
            <a:srgbClr val="4C8DFF"/>
          </a:solidFill>
          <a:ln>
            <a:noFill/>
          </a:ln>
        </p:spPr>
        <p:txBody>
          <a:bodyPr rtlCol="0" anchor="ctr"/>
          <a:lstStyle/>
          <a:p/>
        </p:txBody>
      </p:sp>
      <p:sp>
        <p:nvSpPr>
          <p:cNvPr id="22" name="TextBox 21"/>
          <p:cNvSpPr txBox="1"/>
          <p:nvPr/>
        </p:nvSpPr>
        <p:spPr>
          <a:xfrm>
            <a:off x="4861407" y="2487168"/>
            <a:ext cx="2788920" cy="365760"/>
          </a:xfrm>
          <a:prstGeom prst="rect">
            <a:avLst/>
          </a:prstGeom>
          <a:noFill/>
        </p:spPr>
        <p:txBody>
          <a:bodyPr wrap="square" lIns="0" rIns="0" tIns="0" bIns="0" anchor="t"/>
          <a:lstStyle/>
          <a:p>
            <a:pPr algn="l">
              <a:spcAft>
                <a:spcPts val="0"/>
              </a:spcAft>
            </a:pPr>
            <a:r>
              <a:rPr sz="1200" b="0" i="0">
                <a:solidFill>
                  <a:srgbClr val="526176"/>
                </a:solidFill>
                <a:latin typeface="Arial"/>
              </a:rPr>
              <a:t>Evaluation on curated test sets</a:t>
            </a:r>
          </a:p>
        </p:txBody>
      </p:sp>
      <p:sp>
        <p:nvSpPr>
          <p:cNvPr id="23" name="Rectangle 22"/>
          <p:cNvSpPr/>
          <p:nvPr/>
        </p:nvSpPr>
        <p:spPr>
          <a:xfrm>
            <a:off x="4651095" y="2944368"/>
            <a:ext cx="73152" cy="73152"/>
          </a:xfrm>
          <a:prstGeom prst="rect">
            <a:avLst/>
          </a:prstGeom>
          <a:solidFill>
            <a:srgbClr val="4C8DFF"/>
          </a:solidFill>
          <a:ln>
            <a:noFill/>
          </a:ln>
        </p:spPr>
        <p:txBody>
          <a:bodyPr rtlCol="0" anchor="ctr"/>
          <a:lstStyle/>
          <a:p/>
        </p:txBody>
      </p:sp>
      <p:sp>
        <p:nvSpPr>
          <p:cNvPr id="24" name="TextBox 23"/>
          <p:cNvSpPr txBox="1"/>
          <p:nvPr/>
        </p:nvSpPr>
        <p:spPr>
          <a:xfrm>
            <a:off x="4861407" y="2871216"/>
            <a:ext cx="2788920" cy="365760"/>
          </a:xfrm>
          <a:prstGeom prst="rect">
            <a:avLst/>
          </a:prstGeom>
          <a:noFill/>
        </p:spPr>
        <p:txBody>
          <a:bodyPr wrap="square" lIns="0" rIns="0" tIns="0" bIns="0" anchor="t"/>
          <a:lstStyle/>
          <a:p>
            <a:pPr algn="l">
              <a:spcAft>
                <a:spcPts val="0"/>
              </a:spcAft>
            </a:pPr>
            <a:r>
              <a:rPr sz="1200" b="0" i="0">
                <a:solidFill>
                  <a:srgbClr val="526176"/>
                </a:solidFill>
                <a:latin typeface="Arial"/>
              </a:rPr>
              <a:t>Live-model AI with evidence checks</a:t>
            </a:r>
          </a:p>
        </p:txBody>
      </p:sp>
      <p:sp>
        <p:nvSpPr>
          <p:cNvPr id="25" name="Rectangle 24"/>
          <p:cNvSpPr/>
          <p:nvPr/>
        </p:nvSpPr>
        <p:spPr>
          <a:xfrm>
            <a:off x="4651095" y="3328416"/>
            <a:ext cx="73152" cy="73152"/>
          </a:xfrm>
          <a:prstGeom prst="rect">
            <a:avLst/>
          </a:prstGeom>
          <a:solidFill>
            <a:srgbClr val="4C8DFF"/>
          </a:solidFill>
          <a:ln>
            <a:noFill/>
          </a:ln>
        </p:spPr>
        <p:txBody>
          <a:bodyPr rtlCol="0" anchor="ctr"/>
          <a:lstStyle/>
          <a:p/>
        </p:txBody>
      </p:sp>
      <p:sp>
        <p:nvSpPr>
          <p:cNvPr id="26" name="TextBox 25"/>
          <p:cNvSpPr txBox="1"/>
          <p:nvPr/>
        </p:nvSpPr>
        <p:spPr>
          <a:xfrm>
            <a:off x="4861407" y="3255264"/>
            <a:ext cx="2788920" cy="365760"/>
          </a:xfrm>
          <a:prstGeom prst="rect">
            <a:avLst/>
          </a:prstGeom>
          <a:noFill/>
        </p:spPr>
        <p:txBody>
          <a:bodyPr wrap="square" lIns="0" rIns="0" tIns="0" bIns="0" anchor="t"/>
          <a:lstStyle/>
          <a:p>
            <a:pPr algn="l">
              <a:spcAft>
                <a:spcPts val="0"/>
              </a:spcAft>
            </a:pPr>
            <a:r>
              <a:rPr sz="1200" b="0" i="0">
                <a:solidFill>
                  <a:srgbClr val="526176"/>
                </a:solidFill>
                <a:latin typeface="Arial"/>
              </a:rPr>
              <a:t>Hosted, secure multi-user review</a:t>
            </a:r>
          </a:p>
        </p:txBody>
      </p:sp>
      <p:sp>
        <p:nvSpPr>
          <p:cNvPr id="27" name="Rectangle 26"/>
          <p:cNvSpPr/>
          <p:nvPr/>
        </p:nvSpPr>
        <p:spPr>
          <a:xfrm>
            <a:off x="4651095" y="3712463"/>
            <a:ext cx="73152" cy="73152"/>
          </a:xfrm>
          <a:prstGeom prst="rect">
            <a:avLst/>
          </a:prstGeom>
          <a:solidFill>
            <a:srgbClr val="4C8DFF"/>
          </a:solidFill>
          <a:ln>
            <a:noFill/>
          </a:ln>
        </p:spPr>
        <p:txBody>
          <a:bodyPr rtlCol="0" anchor="ctr"/>
          <a:lstStyle/>
          <a:p/>
        </p:txBody>
      </p:sp>
      <p:sp>
        <p:nvSpPr>
          <p:cNvPr id="28" name="TextBox 27"/>
          <p:cNvSpPr txBox="1"/>
          <p:nvPr/>
        </p:nvSpPr>
        <p:spPr>
          <a:xfrm>
            <a:off x="4861407" y="3639312"/>
            <a:ext cx="2788920" cy="365760"/>
          </a:xfrm>
          <a:prstGeom prst="rect">
            <a:avLst/>
          </a:prstGeom>
          <a:noFill/>
        </p:spPr>
        <p:txBody>
          <a:bodyPr wrap="square" lIns="0" rIns="0" tIns="0" bIns="0" anchor="t"/>
          <a:lstStyle/>
          <a:p>
            <a:pPr algn="l">
              <a:spcAft>
                <a:spcPts val="0"/>
              </a:spcAft>
            </a:pPr>
            <a:r>
              <a:rPr sz="1200" b="0" i="0">
                <a:solidFill>
                  <a:srgbClr val="526176"/>
                </a:solidFill>
                <a:latin typeface="Arial"/>
              </a:rPr>
              <a:t>More formats and vocabulary</a:t>
            </a:r>
          </a:p>
        </p:txBody>
      </p:sp>
      <p:cxnSp>
        <p:nvCxnSpPr>
          <p:cNvPr id="29" name="Connector 28"/>
          <p:cNvCxnSpPr/>
          <p:nvPr/>
        </p:nvCxnSpPr>
        <p:spPr>
          <a:xfrm>
            <a:off x="7897215" y="2898648"/>
            <a:ext cx="115672" cy="0"/>
          </a:xfrm>
          <a:prstGeom prst="line">
            <a:avLst/>
          </a:prstGeom>
          <a:ln w="15875">
            <a:solidFill>
              <a:srgbClr val="526176"/>
            </a:solidFill>
            <a:tailEnd type="triangle" w="med" len="med"/>
          </a:ln>
        </p:spPr>
      </p:cxnSp>
      <p:sp>
        <p:nvSpPr>
          <p:cNvPr id="30" name="Rounded Rectangle 29"/>
          <p:cNvSpPr/>
          <p:nvPr/>
        </p:nvSpPr>
        <p:spPr>
          <a:xfrm>
            <a:off x="8076895" y="1600200"/>
            <a:ext cx="3474720" cy="2606040"/>
          </a:xfrm>
          <a:prstGeom prst="roundRect">
            <a:avLst>
              <a:gd name="adj" fmla="val 4912"/>
            </a:avLst>
          </a:prstGeom>
          <a:solidFill>
            <a:srgbClr val="FFFFFF"/>
          </a:solidFill>
          <a:ln w="12700">
            <a:solidFill>
              <a:srgbClr val="526176"/>
            </a:solidFill>
            <a:prstDash val="dash"/>
          </a:ln>
        </p:spPr>
        <p:txBody>
          <a:bodyPr rtlCol="0" anchor="ctr"/>
          <a:lstStyle/>
          <a:p/>
        </p:txBody>
      </p:sp>
      <p:sp>
        <p:nvSpPr>
          <p:cNvPr id="31" name="Oval 30"/>
          <p:cNvSpPr/>
          <p:nvPr/>
        </p:nvSpPr>
        <p:spPr>
          <a:xfrm>
            <a:off x="8351215" y="1810512"/>
            <a:ext cx="384048" cy="384048"/>
          </a:xfrm>
          <a:prstGeom prst="ellipse">
            <a:avLst/>
          </a:prstGeom>
          <a:solidFill>
            <a:srgbClr val="526176"/>
          </a:solidFill>
          <a:ln>
            <a:noFill/>
          </a:ln>
        </p:spPr>
        <p:txBody>
          <a:bodyPr rtlCol="0" anchor="ctr" wrap="square" lIns="0" rIns="0" tIns="0" bIns="0"/>
          <a:lstStyle/>
          <a:p>
            <a:pPr algn="ctr">
              <a:spcAft>
                <a:spcPts val="0"/>
              </a:spcAft>
            </a:pPr>
            <a:r>
              <a:rPr sz="1200" b="1" i="0">
                <a:solidFill>
                  <a:srgbClr val="F8FAFC"/>
                </a:solidFill>
                <a:latin typeface="Arial"/>
              </a:rPr>
              <a:t>3</a:t>
            </a:r>
          </a:p>
        </p:txBody>
      </p:sp>
      <p:sp>
        <p:nvSpPr>
          <p:cNvPr id="32" name="TextBox 31"/>
          <p:cNvSpPr txBox="1"/>
          <p:nvPr/>
        </p:nvSpPr>
        <p:spPr>
          <a:xfrm>
            <a:off x="8854135" y="1810512"/>
            <a:ext cx="2560320" cy="228600"/>
          </a:xfrm>
          <a:prstGeom prst="rect">
            <a:avLst/>
          </a:prstGeom>
          <a:noFill/>
        </p:spPr>
        <p:txBody>
          <a:bodyPr wrap="square" lIns="0" rIns="0" tIns="0" bIns="0" anchor="t"/>
          <a:lstStyle/>
          <a:p>
            <a:pPr algn="l">
              <a:spcAft>
                <a:spcPts val="0"/>
              </a:spcAft>
            </a:pPr>
            <a:r>
              <a:rPr sz="1450" b="1" i="0">
                <a:solidFill>
                  <a:srgbClr val="172033"/>
                </a:solidFill>
                <a:latin typeface="Arial"/>
              </a:rPr>
              <a:t>Potential broader adoption</a:t>
            </a:r>
          </a:p>
        </p:txBody>
      </p:sp>
      <p:sp>
        <p:nvSpPr>
          <p:cNvPr id="33" name="TextBox 32"/>
          <p:cNvSpPr txBox="1"/>
          <p:nvPr/>
        </p:nvSpPr>
        <p:spPr>
          <a:xfrm>
            <a:off x="8854135" y="2048256"/>
            <a:ext cx="2560320" cy="228600"/>
          </a:xfrm>
          <a:prstGeom prst="rect">
            <a:avLst/>
          </a:prstGeom>
          <a:noFill/>
        </p:spPr>
        <p:txBody>
          <a:bodyPr wrap="square" lIns="0" rIns="0" tIns="0" bIns="0" anchor="t"/>
          <a:lstStyle/>
          <a:p>
            <a:pPr algn="l">
              <a:spcAft>
                <a:spcPts val="0"/>
              </a:spcAft>
            </a:pPr>
            <a:r>
              <a:rPr sz="850" b="1" i="0" spc="100">
                <a:solidFill>
                  <a:srgbClr val="526176"/>
                </a:solidFill>
                <a:latin typeface="Arial"/>
              </a:rPr>
              <a:t>ONLY IF EVALUATION SUPPORTS IT</a:t>
            </a:r>
          </a:p>
        </p:txBody>
      </p:sp>
      <p:sp>
        <p:nvSpPr>
          <p:cNvPr id="34" name="Rectangle 33"/>
          <p:cNvSpPr/>
          <p:nvPr/>
        </p:nvSpPr>
        <p:spPr>
          <a:xfrm>
            <a:off x="8369503" y="2560320"/>
            <a:ext cx="73152" cy="73152"/>
          </a:xfrm>
          <a:prstGeom prst="rect">
            <a:avLst/>
          </a:prstGeom>
          <a:solidFill>
            <a:srgbClr val="526176"/>
          </a:solidFill>
          <a:ln>
            <a:noFill/>
          </a:ln>
        </p:spPr>
        <p:txBody>
          <a:bodyPr rtlCol="0" anchor="ctr"/>
          <a:lstStyle/>
          <a:p/>
        </p:txBody>
      </p:sp>
      <p:sp>
        <p:nvSpPr>
          <p:cNvPr id="35" name="TextBox 34"/>
          <p:cNvSpPr txBox="1"/>
          <p:nvPr/>
        </p:nvSpPr>
        <p:spPr>
          <a:xfrm>
            <a:off x="8579815" y="2487168"/>
            <a:ext cx="2788920" cy="365760"/>
          </a:xfrm>
          <a:prstGeom prst="rect">
            <a:avLst/>
          </a:prstGeom>
          <a:noFill/>
        </p:spPr>
        <p:txBody>
          <a:bodyPr wrap="square" lIns="0" rIns="0" tIns="0" bIns="0" anchor="t"/>
          <a:lstStyle/>
          <a:p>
            <a:pPr algn="l">
              <a:spcAft>
                <a:spcPts val="0"/>
              </a:spcAft>
            </a:pPr>
            <a:r>
              <a:rPr sz="1200" b="0" i="0">
                <a:solidFill>
                  <a:srgbClr val="526176"/>
                </a:solidFill>
                <a:latin typeface="Arial"/>
              </a:rPr>
              <a:t>Integration with record systems</a:t>
            </a:r>
          </a:p>
        </p:txBody>
      </p:sp>
      <p:sp>
        <p:nvSpPr>
          <p:cNvPr id="36" name="Rectangle 35"/>
          <p:cNvSpPr/>
          <p:nvPr/>
        </p:nvSpPr>
        <p:spPr>
          <a:xfrm>
            <a:off x="8369503" y="2944368"/>
            <a:ext cx="73152" cy="73152"/>
          </a:xfrm>
          <a:prstGeom prst="rect">
            <a:avLst/>
          </a:prstGeom>
          <a:solidFill>
            <a:srgbClr val="526176"/>
          </a:solidFill>
          <a:ln>
            <a:noFill/>
          </a:ln>
        </p:spPr>
        <p:txBody>
          <a:bodyPr rtlCol="0" anchor="ctr"/>
          <a:lstStyle/>
          <a:p/>
        </p:txBody>
      </p:sp>
      <p:sp>
        <p:nvSpPr>
          <p:cNvPr id="37" name="TextBox 36"/>
          <p:cNvSpPr txBox="1"/>
          <p:nvPr/>
        </p:nvSpPr>
        <p:spPr>
          <a:xfrm>
            <a:off x="8579815" y="2871216"/>
            <a:ext cx="2788920" cy="365760"/>
          </a:xfrm>
          <a:prstGeom prst="rect">
            <a:avLst/>
          </a:prstGeom>
          <a:noFill/>
        </p:spPr>
        <p:txBody>
          <a:bodyPr wrap="square" lIns="0" rIns="0" tIns="0" bIns="0" anchor="t"/>
          <a:lstStyle/>
          <a:p>
            <a:pPr algn="l">
              <a:spcAft>
                <a:spcPts val="0"/>
              </a:spcAft>
            </a:pPr>
            <a:r>
              <a:rPr sz="1200" b="0" i="0">
                <a:solidFill>
                  <a:srgbClr val="526176"/>
                </a:solidFill>
                <a:latin typeface="Arial"/>
              </a:rPr>
              <a:t>Pilots after required approvals</a:t>
            </a:r>
          </a:p>
        </p:txBody>
      </p:sp>
      <p:sp>
        <p:nvSpPr>
          <p:cNvPr id="38" name="Rectangle 37"/>
          <p:cNvSpPr/>
          <p:nvPr/>
        </p:nvSpPr>
        <p:spPr>
          <a:xfrm>
            <a:off x="8369503" y="3328416"/>
            <a:ext cx="73152" cy="73152"/>
          </a:xfrm>
          <a:prstGeom prst="rect">
            <a:avLst/>
          </a:prstGeom>
          <a:solidFill>
            <a:srgbClr val="526176"/>
          </a:solidFill>
          <a:ln>
            <a:noFill/>
          </a:ln>
        </p:spPr>
        <p:txBody>
          <a:bodyPr rtlCol="0" anchor="ctr"/>
          <a:lstStyle/>
          <a:p/>
        </p:txBody>
      </p:sp>
      <p:sp>
        <p:nvSpPr>
          <p:cNvPr id="39" name="TextBox 38"/>
          <p:cNvSpPr txBox="1"/>
          <p:nvPr/>
        </p:nvSpPr>
        <p:spPr>
          <a:xfrm>
            <a:off x="8579815" y="3255264"/>
            <a:ext cx="2788920" cy="365760"/>
          </a:xfrm>
          <a:prstGeom prst="rect">
            <a:avLst/>
          </a:prstGeom>
          <a:noFill/>
        </p:spPr>
        <p:txBody>
          <a:bodyPr wrap="square" lIns="0" rIns="0" tIns="0" bIns="0" anchor="t"/>
          <a:lstStyle/>
          <a:p>
            <a:pPr algn="l">
              <a:spcAft>
                <a:spcPts val="0"/>
              </a:spcAft>
            </a:pPr>
            <a:r>
              <a:rPr sz="1200" b="0" i="0">
                <a:solidFill>
                  <a:srgbClr val="526176"/>
                </a:solidFill>
                <a:latin typeface="Arial"/>
              </a:rPr>
              <a:t>Monitored use with oversight</a:t>
            </a:r>
          </a:p>
        </p:txBody>
      </p:sp>
      <p:sp>
        <p:nvSpPr>
          <p:cNvPr id="40" name="TextBox 39"/>
          <p:cNvSpPr txBox="1"/>
          <p:nvPr/>
        </p:nvSpPr>
        <p:spPr>
          <a:xfrm>
            <a:off x="640080" y="4416552"/>
            <a:ext cx="5486400" cy="228600"/>
          </a:xfrm>
          <a:prstGeom prst="rect">
            <a:avLst/>
          </a:prstGeom>
          <a:noFill/>
        </p:spPr>
        <p:txBody>
          <a:bodyPr wrap="square" lIns="0" rIns="0" tIns="0" bIns="0" anchor="t"/>
          <a:lstStyle/>
          <a:p>
            <a:pPr algn="l">
              <a:spcAft>
                <a:spcPts val="0"/>
              </a:spcAft>
            </a:pPr>
            <a:r>
              <a:rPr sz="1000" b="1" i="0" spc="120">
                <a:solidFill>
                  <a:srgbClr val="172033"/>
                </a:solidFill>
                <a:latin typeface="Arial"/>
              </a:rPr>
              <a:t>RESPONSIBLE SCALING REQUIRES</a:t>
            </a:r>
          </a:p>
        </p:txBody>
      </p:sp>
      <p:sp>
        <p:nvSpPr>
          <p:cNvPr id="41" name="Rounded Rectangle 40"/>
          <p:cNvSpPr/>
          <p:nvPr/>
        </p:nvSpPr>
        <p:spPr>
          <a:xfrm>
            <a:off x="640080" y="4709160"/>
            <a:ext cx="761205" cy="329184"/>
          </a:xfrm>
          <a:prstGeom prst="roundRect">
            <a:avLst>
              <a:gd name="adj" fmla="val 50000"/>
            </a:avLst>
          </a:prstGeom>
          <a:solidFill>
            <a:srgbClr val="FFFFFF"/>
          </a:solidFill>
          <a:ln w="9525">
            <a:solidFill>
              <a:srgbClr val="DCE3EC"/>
            </a:solidFill>
          </a:ln>
        </p:spPr>
        <p:txBody>
          <a:bodyPr rtlCol="0" anchor="ctr" wrap="square" lIns="0" rIns="0" tIns="0" bIns="0"/>
          <a:lstStyle/>
          <a:p>
            <a:pPr algn="ctr">
              <a:spcAft>
                <a:spcPts val="0"/>
              </a:spcAft>
            </a:pPr>
            <a:r>
              <a:rPr sz="1000" b="0" i="0">
                <a:solidFill>
                  <a:srgbClr val="172033"/>
                </a:solidFill>
                <a:latin typeface="Arial"/>
              </a:rPr>
              <a:t>Privacy</a:t>
            </a:r>
          </a:p>
        </p:txBody>
      </p:sp>
      <p:sp>
        <p:nvSpPr>
          <p:cNvPr id="42" name="Rounded Rectangle 41"/>
          <p:cNvSpPr/>
          <p:nvPr/>
        </p:nvSpPr>
        <p:spPr>
          <a:xfrm>
            <a:off x="1492725" y="4709160"/>
            <a:ext cx="1233345" cy="329184"/>
          </a:xfrm>
          <a:prstGeom prst="roundRect">
            <a:avLst>
              <a:gd name="adj" fmla="val 50000"/>
            </a:avLst>
          </a:prstGeom>
          <a:solidFill>
            <a:srgbClr val="FFFFFF"/>
          </a:solidFill>
          <a:ln w="9525">
            <a:solidFill>
              <a:srgbClr val="DCE3EC"/>
            </a:solidFill>
          </a:ln>
        </p:spPr>
        <p:txBody>
          <a:bodyPr rtlCol="0" anchor="ctr" wrap="square" lIns="0" rIns="0" tIns="0" bIns="0"/>
          <a:lstStyle/>
          <a:p>
            <a:pPr algn="ctr">
              <a:spcAft>
                <a:spcPts val="0"/>
              </a:spcAft>
            </a:pPr>
            <a:r>
              <a:rPr sz="1000" b="0" i="0">
                <a:solidFill>
                  <a:srgbClr val="172033"/>
                </a:solidFill>
                <a:latin typeface="Arial"/>
              </a:rPr>
              <a:t>Access control</a:t>
            </a:r>
          </a:p>
        </p:txBody>
      </p:sp>
      <p:sp>
        <p:nvSpPr>
          <p:cNvPr id="43" name="Rounded Rectangle 42"/>
          <p:cNvSpPr/>
          <p:nvPr/>
        </p:nvSpPr>
        <p:spPr>
          <a:xfrm>
            <a:off x="2817510" y="4709160"/>
            <a:ext cx="1300794" cy="329184"/>
          </a:xfrm>
          <a:prstGeom prst="roundRect">
            <a:avLst>
              <a:gd name="adj" fmla="val 50000"/>
            </a:avLst>
          </a:prstGeom>
          <a:solidFill>
            <a:srgbClr val="FFFFFF"/>
          </a:solidFill>
          <a:ln w="9525">
            <a:solidFill>
              <a:srgbClr val="DCE3EC"/>
            </a:solidFill>
          </a:ln>
        </p:spPr>
        <p:txBody>
          <a:bodyPr rtlCol="0" anchor="ctr" wrap="square" lIns="0" rIns="0" tIns="0" bIns="0"/>
          <a:lstStyle/>
          <a:p>
            <a:pPr algn="ctr">
              <a:spcAft>
                <a:spcPts val="0"/>
              </a:spcAft>
            </a:pPr>
            <a:r>
              <a:rPr sz="1000" b="0" i="0">
                <a:solidFill>
                  <a:srgbClr val="172033"/>
                </a:solidFill>
                <a:latin typeface="Arial"/>
              </a:rPr>
              <a:t>Data protection</a:t>
            </a:r>
          </a:p>
        </p:txBody>
      </p:sp>
      <p:sp>
        <p:nvSpPr>
          <p:cNvPr id="44" name="Rounded Rectangle 43"/>
          <p:cNvSpPr/>
          <p:nvPr/>
        </p:nvSpPr>
        <p:spPr>
          <a:xfrm>
            <a:off x="4209744" y="4709160"/>
            <a:ext cx="1098448" cy="329184"/>
          </a:xfrm>
          <a:prstGeom prst="roundRect">
            <a:avLst>
              <a:gd name="adj" fmla="val 50000"/>
            </a:avLst>
          </a:prstGeom>
          <a:solidFill>
            <a:srgbClr val="FFFFFF"/>
          </a:solidFill>
          <a:ln w="9525">
            <a:solidFill>
              <a:srgbClr val="DCE3EC"/>
            </a:solidFill>
          </a:ln>
        </p:spPr>
        <p:txBody>
          <a:bodyPr rtlCol="0" anchor="ctr" wrap="square" lIns="0" rIns="0" tIns="0" bIns="0"/>
          <a:lstStyle/>
          <a:p>
            <a:pPr algn="ctr">
              <a:spcAft>
                <a:spcPts val="0"/>
              </a:spcAft>
            </a:pPr>
            <a:r>
              <a:rPr sz="1000" b="0" i="0">
                <a:solidFill>
                  <a:srgbClr val="172033"/>
                </a:solidFill>
                <a:latin typeface="Arial"/>
              </a:rPr>
              <a:t>Auditability</a:t>
            </a:r>
          </a:p>
        </p:txBody>
      </p:sp>
      <p:sp>
        <p:nvSpPr>
          <p:cNvPr id="45" name="Rounded Rectangle 44"/>
          <p:cNvSpPr/>
          <p:nvPr/>
        </p:nvSpPr>
        <p:spPr>
          <a:xfrm>
            <a:off x="5399633" y="4709160"/>
            <a:ext cx="1570588" cy="329184"/>
          </a:xfrm>
          <a:prstGeom prst="roundRect">
            <a:avLst>
              <a:gd name="adj" fmla="val 50000"/>
            </a:avLst>
          </a:prstGeom>
          <a:solidFill>
            <a:srgbClr val="FFFFFF"/>
          </a:solidFill>
          <a:ln w="9525">
            <a:solidFill>
              <a:srgbClr val="DCE3EC"/>
            </a:solidFill>
          </a:ln>
        </p:spPr>
        <p:txBody>
          <a:bodyPr rtlCol="0" anchor="ctr" wrap="square" lIns="0" rIns="0" tIns="0" bIns="0"/>
          <a:lstStyle/>
          <a:p>
            <a:pPr algn="ctr">
              <a:spcAft>
                <a:spcPts val="0"/>
              </a:spcAft>
            </a:pPr>
            <a:r>
              <a:rPr sz="1000" b="0" i="0">
                <a:solidFill>
                  <a:srgbClr val="172033"/>
                </a:solidFill>
                <a:latin typeface="Arial"/>
              </a:rPr>
              <a:t>Clinical evaluation</a:t>
            </a:r>
          </a:p>
        </p:txBody>
      </p:sp>
      <p:sp>
        <p:nvSpPr>
          <p:cNvPr id="46" name="Rounded Rectangle 45"/>
          <p:cNvSpPr/>
          <p:nvPr/>
        </p:nvSpPr>
        <p:spPr>
          <a:xfrm>
            <a:off x="7061661" y="4709160"/>
            <a:ext cx="1300794" cy="329184"/>
          </a:xfrm>
          <a:prstGeom prst="roundRect">
            <a:avLst>
              <a:gd name="adj" fmla="val 50000"/>
            </a:avLst>
          </a:prstGeom>
          <a:solidFill>
            <a:srgbClr val="FFFFFF"/>
          </a:solidFill>
          <a:ln w="9525">
            <a:solidFill>
              <a:srgbClr val="DCE3EC"/>
            </a:solidFill>
          </a:ln>
        </p:spPr>
        <p:txBody>
          <a:bodyPr rtlCol="0" anchor="ctr" wrap="square" lIns="0" rIns="0" tIns="0" bIns="0"/>
          <a:lstStyle/>
          <a:p>
            <a:pPr algn="ctr">
              <a:spcAft>
                <a:spcPts val="0"/>
              </a:spcAft>
            </a:pPr>
            <a:r>
              <a:rPr sz="1000" b="0" i="0">
                <a:solidFill>
                  <a:srgbClr val="172033"/>
                </a:solidFill>
                <a:latin typeface="Arial"/>
              </a:rPr>
              <a:t>Human oversight</a:t>
            </a:r>
          </a:p>
        </p:txBody>
      </p:sp>
      <p:sp>
        <p:nvSpPr>
          <p:cNvPr id="47" name="Rounded Rectangle 46"/>
          <p:cNvSpPr/>
          <p:nvPr/>
        </p:nvSpPr>
        <p:spPr>
          <a:xfrm>
            <a:off x="8453895" y="4709160"/>
            <a:ext cx="1638036" cy="329184"/>
          </a:xfrm>
          <a:prstGeom prst="roundRect">
            <a:avLst>
              <a:gd name="adj" fmla="val 50000"/>
            </a:avLst>
          </a:prstGeom>
          <a:solidFill>
            <a:srgbClr val="FFFFFF"/>
          </a:solidFill>
          <a:ln w="9525">
            <a:solidFill>
              <a:srgbClr val="DCE3EC"/>
            </a:solidFill>
          </a:ln>
        </p:spPr>
        <p:txBody>
          <a:bodyPr rtlCol="0" anchor="ctr" wrap="square" lIns="0" rIns="0" tIns="0" bIns="0"/>
          <a:lstStyle/>
          <a:p>
            <a:pPr algn="ctr">
              <a:spcAft>
                <a:spcPts val="0"/>
              </a:spcAft>
            </a:pPr>
            <a:r>
              <a:rPr sz="1000" b="0" i="0">
                <a:solidFill>
                  <a:srgbClr val="172033"/>
                </a:solidFill>
                <a:latin typeface="Arial"/>
              </a:rPr>
              <a:t>Uncertainty handling</a:t>
            </a:r>
          </a:p>
        </p:txBody>
      </p:sp>
      <p:sp>
        <p:nvSpPr>
          <p:cNvPr id="48" name="Rounded Rectangle 47"/>
          <p:cNvSpPr/>
          <p:nvPr/>
        </p:nvSpPr>
        <p:spPr>
          <a:xfrm>
            <a:off x="10183372" y="4709160"/>
            <a:ext cx="1368242" cy="329184"/>
          </a:xfrm>
          <a:prstGeom prst="roundRect">
            <a:avLst>
              <a:gd name="adj" fmla="val 50000"/>
            </a:avLst>
          </a:prstGeom>
          <a:solidFill>
            <a:srgbClr val="FFFFFF"/>
          </a:solidFill>
          <a:ln w="9525">
            <a:solidFill>
              <a:srgbClr val="DCE3EC"/>
            </a:solidFill>
          </a:ln>
        </p:spPr>
        <p:txBody>
          <a:bodyPr rtlCol="0" anchor="ctr" wrap="square" lIns="0" rIns="0" tIns="0" bIns="0"/>
          <a:lstStyle/>
          <a:p>
            <a:pPr algn="ctr">
              <a:spcAft>
                <a:spcPts val="0"/>
              </a:spcAft>
            </a:pPr>
            <a:r>
              <a:rPr sz="1000" b="0" i="0">
                <a:solidFill>
                  <a:srgbClr val="172033"/>
                </a:solidFill>
                <a:latin typeface="Arial"/>
              </a:rPr>
              <a:t>Error monitoring</a:t>
            </a:r>
          </a:p>
        </p:txBody>
      </p:sp>
      <p:sp>
        <p:nvSpPr>
          <p:cNvPr id="49" name="Rounded Rectangle 48"/>
          <p:cNvSpPr/>
          <p:nvPr/>
        </p:nvSpPr>
        <p:spPr>
          <a:xfrm>
            <a:off x="640080" y="5303520"/>
            <a:ext cx="10911535" cy="868680"/>
          </a:xfrm>
          <a:prstGeom prst="roundRect">
            <a:avLst>
              <a:gd name="adj" fmla="val 14736"/>
            </a:avLst>
          </a:prstGeom>
          <a:solidFill>
            <a:srgbClr val="0B1220"/>
          </a:solidFill>
          <a:ln>
            <a:noFill/>
          </a:ln>
        </p:spPr>
        <p:txBody>
          <a:bodyPr rtlCol="0" anchor="ctr"/>
          <a:lstStyle/>
          <a:p/>
        </p:txBody>
      </p:sp>
      <p:sp>
        <p:nvSpPr>
          <p:cNvPr id="50" name="Oval 49"/>
          <p:cNvSpPr/>
          <p:nvPr/>
        </p:nvSpPr>
        <p:spPr>
          <a:xfrm>
            <a:off x="978407" y="5664707"/>
            <a:ext cx="146304" cy="146304"/>
          </a:xfrm>
          <a:prstGeom prst="ellipse">
            <a:avLst/>
          </a:prstGeom>
          <a:solidFill>
            <a:srgbClr val="F2A65A"/>
          </a:solidFill>
          <a:ln>
            <a:noFill/>
          </a:ln>
        </p:spPr>
        <p:txBody>
          <a:bodyPr rtlCol="0" anchor="ctr"/>
          <a:lstStyle/>
          <a:p/>
        </p:txBody>
      </p:sp>
      <p:sp>
        <p:nvSpPr>
          <p:cNvPr id="51" name="TextBox 50"/>
          <p:cNvSpPr txBox="1"/>
          <p:nvPr/>
        </p:nvSpPr>
        <p:spPr>
          <a:xfrm>
            <a:off x="1325880" y="5463540"/>
            <a:ext cx="2743200" cy="228600"/>
          </a:xfrm>
          <a:prstGeom prst="rect">
            <a:avLst/>
          </a:prstGeom>
          <a:noFill/>
        </p:spPr>
        <p:txBody>
          <a:bodyPr wrap="square" lIns="0" rIns="0" tIns="0" bIns="0" anchor="t"/>
          <a:lstStyle/>
          <a:p>
            <a:pPr algn="l">
              <a:spcAft>
                <a:spcPts val="0"/>
              </a:spcAft>
            </a:pPr>
            <a:r>
              <a:rPr sz="950" b="1" i="0" spc="120">
                <a:solidFill>
                  <a:srgbClr val="19B6A4"/>
                </a:solidFill>
                <a:latin typeface="Arial"/>
              </a:rPr>
              <a:t>IMPACT</a:t>
            </a:r>
          </a:p>
        </p:txBody>
      </p:sp>
      <p:sp>
        <p:nvSpPr>
          <p:cNvPr id="52" name="TextBox 51"/>
          <p:cNvSpPr txBox="1"/>
          <p:nvPr/>
        </p:nvSpPr>
        <p:spPr>
          <a:xfrm>
            <a:off x="1325880" y="5692140"/>
            <a:ext cx="9905695" cy="411480"/>
          </a:xfrm>
          <a:prstGeom prst="rect">
            <a:avLst/>
          </a:prstGeom>
          <a:noFill/>
        </p:spPr>
        <p:txBody>
          <a:bodyPr wrap="square" lIns="0" rIns="0" tIns="0" bIns="0" anchor="t"/>
          <a:lstStyle/>
          <a:p>
            <a:pPr algn="l">
              <a:spcAft>
                <a:spcPts val="0"/>
              </a:spcAft>
            </a:pPr>
            <a:r>
              <a:rPr sz="1800" b="1" i="0">
                <a:solidFill>
                  <a:srgbClr val="F8FAFC"/>
                </a:solidFill>
                <a:latin typeface="Arial"/>
              </a:rPr>
              <a:t>Potential impact must be demonstrated through evaluation, not assumed.</a:t>
            </a:r>
          </a:p>
        </p:txBody>
      </p:sp>
      <p:sp>
        <p:nvSpPr>
          <p:cNvPr id="53" name="TextBox 52"/>
          <p:cNvSpPr txBox="1"/>
          <p:nvPr/>
        </p:nvSpPr>
        <p:spPr>
          <a:xfrm>
            <a:off x="640080" y="6400800"/>
            <a:ext cx="4572000" cy="201168"/>
          </a:xfrm>
          <a:prstGeom prst="rect">
            <a:avLst/>
          </a:prstGeom>
          <a:noFill/>
        </p:spPr>
        <p:txBody>
          <a:bodyPr wrap="square" lIns="0" rIns="0" tIns="0" bIns="0" anchor="t"/>
          <a:lstStyle/>
          <a:p>
            <a:pPr algn="l">
              <a:spcAft>
                <a:spcPts val="0"/>
              </a:spcAft>
            </a:pPr>
            <a:r>
              <a:rPr sz="950" b="1" i="0" spc="100">
                <a:solidFill>
                  <a:srgbClr val="526176"/>
                </a:solidFill>
                <a:latin typeface="Arial"/>
              </a:rPr>
              <a:t>CLINISCOPE</a:t>
            </a:r>
            <a:r>
              <a:rPr sz="950" b="0" i="0" spc="60">
                <a:solidFill>
                  <a:srgbClr val="526176"/>
                </a:solidFill>
                <a:latin typeface="Arial"/>
              </a:rPr>
              <a:t>   |   PS-11R3</a:t>
            </a:r>
          </a:p>
        </p:txBody>
      </p:sp>
      <p:sp>
        <p:nvSpPr>
          <p:cNvPr id="54" name="TextBox 53"/>
          <p:cNvSpPr txBox="1"/>
          <p:nvPr/>
        </p:nvSpPr>
        <p:spPr>
          <a:xfrm>
            <a:off x="10180015" y="6400800"/>
            <a:ext cx="1371600" cy="201168"/>
          </a:xfrm>
          <a:prstGeom prst="rect">
            <a:avLst/>
          </a:prstGeom>
          <a:noFill/>
        </p:spPr>
        <p:txBody>
          <a:bodyPr wrap="square" lIns="0" rIns="0" tIns="0" bIns="0" anchor="t"/>
          <a:lstStyle/>
          <a:p>
            <a:pPr algn="r">
              <a:spcAft>
                <a:spcPts val="0"/>
              </a:spcAft>
            </a:pPr>
            <a:r>
              <a:rPr sz="950" b="0" i="0" spc="60">
                <a:solidFill>
                  <a:srgbClr val="526176"/>
                </a:solidFill>
                <a:latin typeface="Arial"/>
              </a:rPr>
              <a:t>07 / 08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640080" y="566928"/>
            <a:ext cx="7315200" cy="228600"/>
          </a:xfrm>
          <a:prstGeom prst="rect">
            <a:avLst/>
          </a:prstGeom>
          <a:noFill/>
        </p:spPr>
        <p:txBody>
          <a:bodyPr wrap="square" lIns="0" rIns="0" tIns="0" bIns="0" anchor="t"/>
          <a:lstStyle/>
          <a:p>
            <a:pPr algn="l">
              <a:spcAft>
                <a:spcPts val="0"/>
              </a:spcAft>
            </a:pPr>
            <a:r>
              <a:rPr sz="1100" b="1" i="0" spc="120">
                <a:solidFill>
                  <a:srgbClr val="19B6A4"/>
                </a:solidFill>
                <a:latin typeface="Arial"/>
              </a:rPr>
              <a:t>08  ·  CONCLUSION</a:t>
            </a:r>
          </a:p>
        </p:txBody>
      </p:sp>
      <p:sp>
        <p:nvSpPr>
          <p:cNvPr id="3" name="Title"/>
          <p:cNvSpPr txBox="1"/>
          <p:nvPr/>
        </p:nvSpPr>
        <p:spPr>
          <a:xfrm>
            <a:off x="640080" y="914400"/>
            <a:ext cx="6583680" cy="1280160"/>
          </a:xfrm>
          <a:prstGeom prst="rect">
            <a:avLst/>
          </a:prstGeom>
          <a:noFill/>
        </p:spPr>
        <p:txBody>
          <a:bodyPr wrap="square" lIns="0" rIns="0" tIns="0" bIns="0" anchor="t"/>
          <a:lstStyle/>
          <a:p>
            <a:pPr algn="l">
              <a:lnSpc>
                <a:spcPct val="105000"/>
              </a:lnSpc>
              <a:spcAft>
                <a:spcPts val="0"/>
              </a:spcAft>
            </a:pPr>
            <a:r>
              <a:rPr sz="3600" b="1" i="0">
                <a:solidFill>
                  <a:srgbClr val="F8FAFC"/>
                </a:solidFill>
                <a:latin typeface="Arial"/>
              </a:rPr>
              <a:t>From scattered records to traceable contradictions</a:t>
            </a:r>
          </a:p>
        </p:txBody>
      </p:sp>
      <p:sp>
        <p:nvSpPr>
          <p:cNvPr id="4" name="Oval 3"/>
          <p:cNvSpPr/>
          <p:nvPr/>
        </p:nvSpPr>
        <p:spPr>
          <a:xfrm>
            <a:off x="640080" y="2514600"/>
            <a:ext cx="420624" cy="420624"/>
          </a:xfrm>
          <a:prstGeom prst="ellipse">
            <a:avLst/>
          </a:prstGeom>
          <a:solidFill>
            <a:srgbClr val="F2A65A"/>
          </a:solidFill>
          <a:ln>
            <a:noFill/>
          </a:ln>
        </p:spPr>
        <p:txBody>
          <a:bodyPr rtlCol="0" anchor="ctr" wrap="square" lIns="0" rIns="0" tIns="0" bIns="0"/>
          <a:lstStyle/>
          <a:p>
            <a:pPr algn="ctr">
              <a:spcAft>
                <a:spcPts val="0"/>
              </a:spcAft>
            </a:pPr>
            <a:r>
              <a:rPr sz="1400" b="1" i="0">
                <a:solidFill>
                  <a:srgbClr val="0B1220"/>
                </a:solidFill>
                <a:latin typeface="Arial"/>
              </a:rPr>
              <a:t>1</a:t>
            </a:r>
          </a:p>
        </p:txBody>
      </p:sp>
      <p:sp>
        <p:nvSpPr>
          <p:cNvPr id="5" name="TextBox 4"/>
          <p:cNvSpPr txBox="1"/>
          <p:nvPr/>
        </p:nvSpPr>
        <p:spPr>
          <a:xfrm>
            <a:off x="640080" y="3063240"/>
            <a:ext cx="2011680" cy="365760"/>
          </a:xfrm>
          <a:prstGeom prst="rect">
            <a:avLst/>
          </a:prstGeom>
          <a:noFill/>
        </p:spPr>
        <p:txBody>
          <a:bodyPr wrap="square" lIns="0" rIns="0" tIns="0" bIns="0" anchor="t"/>
          <a:lstStyle/>
          <a:p>
            <a:pPr algn="l">
              <a:spcAft>
                <a:spcPts val="0"/>
              </a:spcAft>
            </a:pPr>
            <a:r>
              <a:rPr sz="1700" b="1" i="0" spc="100">
                <a:solidFill>
                  <a:srgbClr val="F8FAFC"/>
                </a:solidFill>
                <a:latin typeface="Arial"/>
              </a:rPr>
              <a:t>IDENTIFY</a:t>
            </a:r>
          </a:p>
        </p:txBody>
      </p:sp>
      <p:sp>
        <p:nvSpPr>
          <p:cNvPr id="6" name="TextBox 5"/>
          <p:cNvSpPr txBox="1"/>
          <p:nvPr/>
        </p:nvSpPr>
        <p:spPr>
          <a:xfrm>
            <a:off x="640080" y="3429000"/>
            <a:ext cx="2011680" cy="731520"/>
          </a:xfrm>
          <a:prstGeom prst="rect">
            <a:avLst/>
          </a:prstGeom>
          <a:noFill/>
        </p:spPr>
        <p:txBody>
          <a:bodyPr wrap="square" lIns="0" rIns="0" tIns="0" bIns="0" anchor="t"/>
          <a:lstStyle/>
          <a:p>
            <a:pPr algn="l">
              <a:lnSpc>
                <a:spcPct val="112000"/>
              </a:lnSpc>
              <a:spcAft>
                <a:spcPts val="0"/>
              </a:spcAft>
            </a:pPr>
            <a:r>
              <a:rPr sz="1300" b="0" i="0">
                <a:solidFill>
                  <a:srgbClr val="B8C4D6"/>
                </a:solidFill>
                <a:latin typeface="Arial"/>
              </a:rPr>
              <a:t>Surface potentially conflicting statements.</a:t>
            </a:r>
          </a:p>
        </p:txBody>
      </p:sp>
      <p:sp>
        <p:nvSpPr>
          <p:cNvPr id="7" name="Oval 6"/>
          <p:cNvSpPr/>
          <p:nvPr/>
        </p:nvSpPr>
        <p:spPr>
          <a:xfrm>
            <a:off x="2852928" y="2514600"/>
            <a:ext cx="420624" cy="420624"/>
          </a:xfrm>
          <a:prstGeom prst="ellipse">
            <a:avLst/>
          </a:prstGeom>
          <a:solidFill>
            <a:srgbClr val="82B7FF"/>
          </a:solidFill>
          <a:ln>
            <a:noFill/>
          </a:ln>
        </p:spPr>
        <p:txBody>
          <a:bodyPr rtlCol="0" anchor="ctr" wrap="square" lIns="0" rIns="0" tIns="0" bIns="0"/>
          <a:lstStyle/>
          <a:p>
            <a:pPr algn="ctr">
              <a:spcAft>
                <a:spcPts val="0"/>
              </a:spcAft>
            </a:pPr>
            <a:r>
              <a:rPr sz="1400" b="1" i="0">
                <a:solidFill>
                  <a:srgbClr val="0B1220"/>
                </a:solidFill>
                <a:latin typeface="Arial"/>
              </a:rPr>
              <a:t>2</a:t>
            </a:r>
          </a:p>
        </p:txBody>
      </p:sp>
      <p:sp>
        <p:nvSpPr>
          <p:cNvPr id="8" name="TextBox 7"/>
          <p:cNvSpPr txBox="1"/>
          <p:nvPr/>
        </p:nvSpPr>
        <p:spPr>
          <a:xfrm>
            <a:off x="2852928" y="3063240"/>
            <a:ext cx="2011680" cy="365760"/>
          </a:xfrm>
          <a:prstGeom prst="rect">
            <a:avLst/>
          </a:prstGeom>
          <a:noFill/>
        </p:spPr>
        <p:txBody>
          <a:bodyPr wrap="square" lIns="0" rIns="0" tIns="0" bIns="0" anchor="t"/>
          <a:lstStyle/>
          <a:p>
            <a:pPr algn="l">
              <a:spcAft>
                <a:spcPts val="0"/>
              </a:spcAft>
            </a:pPr>
            <a:r>
              <a:rPr sz="1700" b="1" i="0" spc="100">
                <a:solidFill>
                  <a:srgbClr val="F8FAFC"/>
                </a:solidFill>
                <a:latin typeface="Arial"/>
              </a:rPr>
              <a:t>TRACE</a:t>
            </a:r>
          </a:p>
        </p:txBody>
      </p:sp>
      <p:sp>
        <p:nvSpPr>
          <p:cNvPr id="9" name="TextBox 8"/>
          <p:cNvSpPr txBox="1"/>
          <p:nvPr/>
        </p:nvSpPr>
        <p:spPr>
          <a:xfrm>
            <a:off x="2852928" y="3429000"/>
            <a:ext cx="2011680" cy="731520"/>
          </a:xfrm>
          <a:prstGeom prst="rect">
            <a:avLst/>
          </a:prstGeom>
          <a:noFill/>
        </p:spPr>
        <p:txBody>
          <a:bodyPr wrap="square" lIns="0" rIns="0" tIns="0" bIns="0" anchor="t"/>
          <a:lstStyle/>
          <a:p>
            <a:pPr algn="l">
              <a:lnSpc>
                <a:spcPct val="112000"/>
              </a:lnSpc>
              <a:spcAft>
                <a:spcPts val="0"/>
              </a:spcAft>
            </a:pPr>
            <a:r>
              <a:rPr sz="1300" b="0" i="0">
                <a:solidFill>
                  <a:srgbClr val="B8C4D6"/>
                </a:solidFill>
                <a:latin typeface="Arial"/>
              </a:rPr>
              <a:t>Connect findings to their source evidence.</a:t>
            </a:r>
          </a:p>
        </p:txBody>
      </p:sp>
      <p:sp>
        <p:nvSpPr>
          <p:cNvPr id="10" name="Oval 9"/>
          <p:cNvSpPr/>
          <p:nvPr/>
        </p:nvSpPr>
        <p:spPr>
          <a:xfrm>
            <a:off x="5065776" y="2514600"/>
            <a:ext cx="420624" cy="420624"/>
          </a:xfrm>
          <a:prstGeom prst="ellipse">
            <a:avLst/>
          </a:prstGeom>
          <a:solidFill>
            <a:srgbClr val="19B6A4"/>
          </a:solidFill>
          <a:ln>
            <a:noFill/>
          </a:ln>
        </p:spPr>
        <p:txBody>
          <a:bodyPr rtlCol="0" anchor="ctr" wrap="square" lIns="0" rIns="0" tIns="0" bIns="0"/>
          <a:lstStyle/>
          <a:p>
            <a:pPr algn="ctr">
              <a:spcAft>
                <a:spcPts val="0"/>
              </a:spcAft>
            </a:pPr>
            <a:r>
              <a:rPr sz="1400" b="1" i="0">
                <a:solidFill>
                  <a:srgbClr val="0B1220"/>
                </a:solidFill>
                <a:latin typeface="Arial"/>
              </a:rPr>
              <a:t>3</a:t>
            </a:r>
          </a:p>
        </p:txBody>
      </p:sp>
      <p:sp>
        <p:nvSpPr>
          <p:cNvPr id="11" name="TextBox 10"/>
          <p:cNvSpPr txBox="1"/>
          <p:nvPr/>
        </p:nvSpPr>
        <p:spPr>
          <a:xfrm>
            <a:off x="5065776" y="3063240"/>
            <a:ext cx="2011680" cy="365760"/>
          </a:xfrm>
          <a:prstGeom prst="rect">
            <a:avLst/>
          </a:prstGeom>
          <a:noFill/>
        </p:spPr>
        <p:txBody>
          <a:bodyPr wrap="square" lIns="0" rIns="0" tIns="0" bIns="0" anchor="t"/>
          <a:lstStyle/>
          <a:p>
            <a:pPr algn="l">
              <a:spcAft>
                <a:spcPts val="0"/>
              </a:spcAft>
            </a:pPr>
            <a:r>
              <a:rPr sz="1700" b="1" i="0" spc="100">
                <a:solidFill>
                  <a:srgbClr val="F8FAFC"/>
                </a:solidFill>
                <a:latin typeface="Arial"/>
              </a:rPr>
              <a:t>REVIEW</a:t>
            </a:r>
          </a:p>
        </p:txBody>
      </p:sp>
      <p:sp>
        <p:nvSpPr>
          <p:cNvPr id="12" name="TextBox 11"/>
          <p:cNvSpPr txBox="1"/>
          <p:nvPr/>
        </p:nvSpPr>
        <p:spPr>
          <a:xfrm>
            <a:off x="5065776" y="3429000"/>
            <a:ext cx="2011680" cy="731520"/>
          </a:xfrm>
          <a:prstGeom prst="rect">
            <a:avLst/>
          </a:prstGeom>
          <a:noFill/>
        </p:spPr>
        <p:txBody>
          <a:bodyPr wrap="square" lIns="0" rIns="0" tIns="0" bIns="0" anchor="t"/>
          <a:lstStyle/>
          <a:p>
            <a:pPr algn="l">
              <a:lnSpc>
                <a:spcPct val="112000"/>
              </a:lnSpc>
              <a:spcAft>
                <a:spcPts val="0"/>
              </a:spcAft>
            </a:pPr>
            <a:r>
              <a:rPr sz="1300" b="0" i="0">
                <a:solidFill>
                  <a:srgbClr val="B8C4D6"/>
                </a:solidFill>
                <a:latin typeface="Arial"/>
              </a:rPr>
              <a:t>Help humans investigate and decide.</a:t>
            </a:r>
          </a:p>
        </p:txBody>
      </p:sp>
      <p:sp>
        <p:nvSpPr>
          <p:cNvPr id="13" name="TextBox 12"/>
          <p:cNvSpPr txBox="1"/>
          <p:nvPr/>
        </p:nvSpPr>
        <p:spPr>
          <a:xfrm>
            <a:off x="640080" y="4480560"/>
            <a:ext cx="6858000" cy="457200"/>
          </a:xfrm>
          <a:prstGeom prst="rect">
            <a:avLst/>
          </a:prstGeom>
          <a:noFill/>
        </p:spPr>
        <p:txBody>
          <a:bodyPr wrap="square" lIns="0" rIns="0" tIns="0" bIns="0" anchor="t"/>
          <a:lstStyle/>
          <a:p>
            <a:pPr algn="l">
              <a:spcAft>
                <a:spcPts val="0"/>
              </a:spcAft>
            </a:pPr>
            <a:r>
              <a:rPr sz="1800" b="1" i="0">
                <a:solidFill>
                  <a:srgbClr val="F2A65A"/>
                </a:solidFill>
                <a:latin typeface="Arial"/>
              </a:rPr>
              <a:t>Find the conflict. </a:t>
            </a:r>
            <a:r>
              <a:rPr sz="1800" b="1" i="0">
                <a:solidFill>
                  <a:srgbClr val="82B7FF"/>
                </a:solidFill>
                <a:latin typeface="Arial"/>
              </a:rPr>
              <a:t>Trace the evidence. </a:t>
            </a:r>
            <a:r>
              <a:rPr sz="1800" b="1" i="0">
                <a:solidFill>
                  <a:srgbClr val="19B6A4"/>
                </a:solidFill>
                <a:latin typeface="Arial"/>
              </a:rPr>
              <a:t>Keep humans in control.</a:t>
            </a:r>
          </a:p>
        </p:txBody>
      </p:sp>
      <p:sp>
        <p:nvSpPr>
          <p:cNvPr id="14" name="Rectangle 13"/>
          <p:cNvSpPr/>
          <p:nvPr/>
        </p:nvSpPr>
        <p:spPr>
          <a:xfrm>
            <a:off x="640080" y="5166360"/>
            <a:ext cx="6400800" cy="10972"/>
          </a:xfrm>
          <a:prstGeom prst="rect">
            <a:avLst/>
          </a:prstGeom>
          <a:solidFill>
            <a:srgbClr val="27364A"/>
          </a:solidFill>
          <a:ln>
            <a:noFill/>
          </a:ln>
        </p:spPr>
        <p:txBody>
          <a:bodyPr rtlCol="0" anchor="ctr"/>
          <a:lstStyle/>
          <a:p/>
        </p:txBody>
      </p:sp>
      <p:sp>
        <p:nvSpPr>
          <p:cNvPr id="15" name="TextBox 14"/>
          <p:cNvSpPr txBox="1"/>
          <p:nvPr/>
        </p:nvSpPr>
        <p:spPr>
          <a:xfrm>
            <a:off x="640080" y="5303520"/>
            <a:ext cx="6583680" cy="274320"/>
          </a:xfrm>
          <a:prstGeom prst="rect">
            <a:avLst/>
          </a:prstGeom>
          <a:noFill/>
        </p:spPr>
        <p:txBody>
          <a:bodyPr wrap="square" lIns="0" rIns="0" tIns="0" bIns="0" anchor="t"/>
          <a:lstStyle/>
          <a:p>
            <a:pPr algn="l">
              <a:spcAft>
                <a:spcPts val="0"/>
              </a:spcAft>
            </a:pPr>
            <a:r>
              <a:rPr sz="1200" b="1" i="0" spc="150">
                <a:solidFill>
                  <a:srgbClr val="F8FAFC"/>
                </a:solidFill>
                <a:latin typeface="Arial"/>
              </a:rPr>
              <a:t>CLINISCOPE</a:t>
            </a:r>
            <a:r>
              <a:rPr sz="1200" b="0" i="0">
                <a:solidFill>
                  <a:srgbClr val="B8C4D6"/>
                </a:solidFill>
                <a:latin typeface="Arial"/>
              </a:rPr>
              <a:t>   PS-11R3 · Healthcare Record Contradiction Detector</a:t>
            </a:r>
          </a:p>
        </p:txBody>
      </p:sp>
      <p:sp>
        <p:nvSpPr>
          <p:cNvPr id="16" name="TextBox 15"/>
          <p:cNvSpPr txBox="1"/>
          <p:nvPr/>
        </p:nvSpPr>
        <p:spPr>
          <a:xfrm>
            <a:off x="640080" y="5623560"/>
            <a:ext cx="6766560" cy="457200"/>
          </a:xfrm>
          <a:prstGeom prst="rect">
            <a:avLst/>
          </a:prstGeom>
          <a:noFill/>
        </p:spPr>
        <p:txBody>
          <a:bodyPr wrap="square" lIns="0" rIns="0" tIns="0" bIns="0" anchor="t"/>
          <a:lstStyle/>
          <a:p>
            <a:pPr algn="l">
              <a:spcAft>
                <a:spcPts val="200"/>
              </a:spcAft>
            </a:pPr>
            <a:r>
              <a:rPr sz="1050" b="1" i="0">
                <a:solidFill>
                  <a:srgbClr val="19B6A4"/>
                </a:solidFill>
                <a:latin typeface="Arial"/>
              </a:rPr>
              <a:t>Code   </a:t>
            </a:r>
            <a:r>
              <a:rPr sz="1050" b="0" i="0">
                <a:solidFill>
                  <a:srgbClr val="B8C4D6"/>
                </a:solidFill>
                <a:latin typeface="Arial"/>
              </a:rPr>
              <a:t>github.com/anirudhleetcode-max/cliniscope-healthcare-contradiction-detector</a:t>
            </a:r>
          </a:p>
          <a:p>
            <a:pPr algn="l">
              <a:spcAft>
                <a:spcPts val="200"/>
              </a:spcAft>
            </a:pPr>
            <a:r>
              <a:rPr sz="1050" b="1" i="0">
                <a:solidFill>
                  <a:srgbClr val="19B6A4"/>
                </a:solidFill>
                <a:latin typeface="Arial"/>
              </a:rPr>
              <a:t>Live demo   </a:t>
            </a:r>
            <a:r>
              <a:rPr sz="1050" b="0" i="0">
                <a:solidFill>
                  <a:srgbClr val="B8C4D6"/>
                </a:solidFill>
                <a:latin typeface="Arial"/>
              </a:rPr>
              <a:t>anirudhleetcode-max.github.io/cliniscope-healthcare-contradiction-detector</a:t>
            </a:r>
          </a:p>
        </p:txBody>
      </p:sp>
      <p:sp>
        <p:nvSpPr>
          <p:cNvPr id="17" name="Rounded Rectangle 16"/>
          <p:cNvSpPr/>
          <p:nvPr/>
        </p:nvSpPr>
        <p:spPr>
          <a:xfrm>
            <a:off x="7589520" y="1051560"/>
            <a:ext cx="1828800" cy="2606040"/>
          </a:xfrm>
          <a:prstGeom prst="roundRect">
            <a:avLst>
              <a:gd name="adj" fmla="val 6000"/>
            </a:avLst>
          </a:prstGeom>
          <a:solidFill>
            <a:srgbClr val="111C2E"/>
          </a:solidFill>
          <a:ln w="9525">
            <a:solidFill>
              <a:srgbClr val="27364A"/>
            </a:solidFill>
          </a:ln>
        </p:spPr>
        <p:txBody>
          <a:bodyPr rtlCol="0" anchor="ctr"/>
          <a:lstStyle/>
          <a:p/>
        </p:txBody>
      </p:sp>
      <p:sp>
        <p:nvSpPr>
          <p:cNvPr id="18" name="TextBox 17"/>
          <p:cNvSpPr txBox="1"/>
          <p:nvPr/>
        </p:nvSpPr>
        <p:spPr>
          <a:xfrm>
            <a:off x="7772400" y="1234439"/>
            <a:ext cx="1463040" cy="228600"/>
          </a:xfrm>
          <a:prstGeom prst="rect">
            <a:avLst/>
          </a:prstGeom>
          <a:noFill/>
        </p:spPr>
        <p:txBody>
          <a:bodyPr wrap="square" lIns="0" rIns="0" tIns="0" bIns="0" anchor="t"/>
          <a:lstStyle/>
          <a:p>
            <a:pPr algn="l">
              <a:spcAft>
                <a:spcPts val="0"/>
              </a:spcAft>
            </a:pPr>
            <a:r>
              <a:rPr sz="900" b="1" i="0" spc="120">
                <a:solidFill>
                  <a:srgbClr val="F8FAFC"/>
                </a:solidFill>
                <a:latin typeface="Arial"/>
              </a:rPr>
              <a:t>RECORD A</a:t>
            </a:r>
          </a:p>
        </p:txBody>
      </p:sp>
      <p:sp>
        <p:nvSpPr>
          <p:cNvPr id="19" name="TextBox 18"/>
          <p:cNvSpPr txBox="1"/>
          <p:nvPr/>
        </p:nvSpPr>
        <p:spPr>
          <a:xfrm>
            <a:off x="7772400" y="1463039"/>
            <a:ext cx="1463040" cy="182880"/>
          </a:xfrm>
          <a:prstGeom prst="rect">
            <a:avLst/>
          </a:prstGeom>
          <a:noFill/>
        </p:spPr>
        <p:txBody>
          <a:bodyPr wrap="square" lIns="0" rIns="0" tIns="0" bIns="0" anchor="t"/>
          <a:lstStyle/>
          <a:p>
            <a:pPr algn="l">
              <a:spcAft>
                <a:spcPts val="0"/>
              </a:spcAft>
            </a:pPr>
            <a:r>
              <a:rPr sz="850" b="0" i="0">
                <a:solidFill>
                  <a:srgbClr val="B8C4D6"/>
                </a:solidFill>
                <a:latin typeface="Arial"/>
              </a:rPr>
              <a:t>Source 1</a:t>
            </a:r>
          </a:p>
        </p:txBody>
      </p:sp>
      <p:sp>
        <p:nvSpPr>
          <p:cNvPr id="20" name="Rounded Rectangle 19"/>
          <p:cNvSpPr/>
          <p:nvPr/>
        </p:nvSpPr>
        <p:spPr>
          <a:xfrm>
            <a:off x="7772400" y="1883664"/>
            <a:ext cx="1316736" cy="73152"/>
          </a:xfrm>
          <a:prstGeom prst="roundRect">
            <a:avLst>
              <a:gd name="adj" fmla="val 50000"/>
            </a:avLst>
          </a:prstGeom>
          <a:solidFill>
            <a:srgbClr val="27364A"/>
          </a:solidFill>
          <a:ln>
            <a:noFill/>
          </a:ln>
        </p:spPr>
        <p:txBody>
          <a:bodyPr rtlCol="0" anchor="ctr"/>
          <a:lstStyle/>
          <a:p/>
        </p:txBody>
      </p:sp>
      <p:sp>
        <p:nvSpPr>
          <p:cNvPr id="21" name="Rounded Rectangle 20"/>
          <p:cNvSpPr/>
          <p:nvPr/>
        </p:nvSpPr>
        <p:spPr>
          <a:xfrm>
            <a:off x="7772400" y="2231136"/>
            <a:ext cx="1053388" cy="73152"/>
          </a:xfrm>
          <a:prstGeom prst="roundRect">
            <a:avLst>
              <a:gd name="adj" fmla="val 50000"/>
            </a:avLst>
          </a:prstGeom>
          <a:solidFill>
            <a:srgbClr val="27364A"/>
          </a:solidFill>
          <a:ln>
            <a:noFill/>
          </a:ln>
        </p:spPr>
        <p:txBody>
          <a:bodyPr rtlCol="0" anchor="ctr"/>
          <a:lstStyle/>
          <a:p/>
        </p:txBody>
      </p:sp>
      <p:sp>
        <p:nvSpPr>
          <p:cNvPr id="22" name="Rounded Rectangle 21"/>
          <p:cNvSpPr/>
          <p:nvPr/>
        </p:nvSpPr>
        <p:spPr>
          <a:xfrm>
            <a:off x="7717536" y="2459736"/>
            <a:ext cx="1572768" cy="329184"/>
          </a:xfrm>
          <a:prstGeom prst="roundRect">
            <a:avLst>
              <a:gd name="adj" fmla="val 16666"/>
            </a:avLst>
          </a:prstGeom>
          <a:solidFill>
            <a:srgbClr val="82B7FF">
              <a:alpha val="22000"/>
            </a:srgbClr>
          </a:solidFill>
          <a:ln>
            <a:noFill/>
          </a:ln>
        </p:spPr>
        <p:txBody>
          <a:bodyPr rtlCol="0" anchor="ctr"/>
          <a:lstStyle/>
          <a:p/>
        </p:txBody>
      </p:sp>
      <p:sp>
        <p:nvSpPr>
          <p:cNvPr id="23" name="Rectangle 22"/>
          <p:cNvSpPr/>
          <p:nvPr/>
        </p:nvSpPr>
        <p:spPr>
          <a:xfrm>
            <a:off x="7717536" y="2459736"/>
            <a:ext cx="45720" cy="329184"/>
          </a:xfrm>
          <a:prstGeom prst="rect">
            <a:avLst/>
          </a:prstGeom>
          <a:solidFill>
            <a:srgbClr val="82B7FF"/>
          </a:solidFill>
          <a:ln>
            <a:noFill/>
          </a:ln>
        </p:spPr>
        <p:txBody>
          <a:bodyPr rtlCol="0" anchor="ctr"/>
          <a:lstStyle/>
          <a:p/>
        </p:txBody>
      </p:sp>
      <p:sp>
        <p:nvSpPr>
          <p:cNvPr id="24" name="TextBox 23"/>
          <p:cNvSpPr txBox="1"/>
          <p:nvPr/>
        </p:nvSpPr>
        <p:spPr>
          <a:xfrm>
            <a:off x="7845552" y="2459736"/>
            <a:ext cx="1417320" cy="329184"/>
          </a:xfrm>
          <a:prstGeom prst="rect">
            <a:avLst/>
          </a:prstGeom>
          <a:noFill/>
        </p:spPr>
        <p:txBody>
          <a:bodyPr wrap="square" lIns="0" rIns="0" tIns="0" bIns="0" anchor="ctr"/>
          <a:lstStyle/>
          <a:p>
            <a:pPr algn="l">
              <a:spcAft>
                <a:spcPts val="0"/>
              </a:spcAft>
            </a:pPr>
            <a:r>
              <a:rPr sz="950" b="1" i="0">
                <a:solidFill>
                  <a:srgbClr val="F8FAFC"/>
                </a:solidFill>
                <a:latin typeface="Arial"/>
              </a:rPr>
              <a:t>Statement A</a:t>
            </a:r>
          </a:p>
        </p:txBody>
      </p:sp>
      <p:sp>
        <p:nvSpPr>
          <p:cNvPr id="25" name="Rounded Rectangle 24"/>
          <p:cNvSpPr/>
          <p:nvPr/>
        </p:nvSpPr>
        <p:spPr>
          <a:xfrm>
            <a:off x="7772400" y="2926079"/>
            <a:ext cx="877824" cy="73152"/>
          </a:xfrm>
          <a:prstGeom prst="roundRect">
            <a:avLst>
              <a:gd name="adj" fmla="val 50000"/>
            </a:avLst>
          </a:prstGeom>
          <a:solidFill>
            <a:srgbClr val="27364A"/>
          </a:solidFill>
          <a:ln>
            <a:noFill/>
          </a:ln>
        </p:spPr>
        <p:txBody>
          <a:bodyPr rtlCol="0" anchor="ctr"/>
          <a:lstStyle/>
          <a:p/>
        </p:txBody>
      </p:sp>
      <p:sp>
        <p:nvSpPr>
          <p:cNvPr id="26" name="Rounded Rectangle 25"/>
          <p:cNvSpPr/>
          <p:nvPr/>
        </p:nvSpPr>
        <p:spPr>
          <a:xfrm>
            <a:off x="7772400" y="3273551"/>
            <a:ext cx="1141171" cy="73152"/>
          </a:xfrm>
          <a:prstGeom prst="roundRect">
            <a:avLst>
              <a:gd name="adj" fmla="val 50000"/>
            </a:avLst>
          </a:prstGeom>
          <a:solidFill>
            <a:srgbClr val="27364A"/>
          </a:solidFill>
          <a:ln>
            <a:noFill/>
          </a:ln>
        </p:spPr>
        <p:txBody>
          <a:bodyPr rtlCol="0" anchor="ctr"/>
          <a:lstStyle/>
          <a:p/>
        </p:txBody>
      </p:sp>
      <p:sp>
        <p:nvSpPr>
          <p:cNvPr id="27" name="Rounded Rectangle 26"/>
          <p:cNvSpPr/>
          <p:nvPr/>
        </p:nvSpPr>
        <p:spPr>
          <a:xfrm>
            <a:off x="9738360" y="1600200"/>
            <a:ext cx="1828800" cy="2606040"/>
          </a:xfrm>
          <a:prstGeom prst="roundRect">
            <a:avLst>
              <a:gd name="adj" fmla="val 6000"/>
            </a:avLst>
          </a:prstGeom>
          <a:solidFill>
            <a:srgbClr val="111C2E"/>
          </a:solidFill>
          <a:ln w="9525">
            <a:solidFill>
              <a:srgbClr val="27364A"/>
            </a:solidFill>
          </a:ln>
        </p:spPr>
        <p:txBody>
          <a:bodyPr rtlCol="0" anchor="ctr"/>
          <a:lstStyle/>
          <a:p/>
        </p:txBody>
      </p:sp>
      <p:sp>
        <p:nvSpPr>
          <p:cNvPr id="28" name="TextBox 27"/>
          <p:cNvSpPr txBox="1"/>
          <p:nvPr/>
        </p:nvSpPr>
        <p:spPr>
          <a:xfrm>
            <a:off x="9921240" y="1783080"/>
            <a:ext cx="1463040" cy="228600"/>
          </a:xfrm>
          <a:prstGeom prst="rect">
            <a:avLst/>
          </a:prstGeom>
          <a:noFill/>
        </p:spPr>
        <p:txBody>
          <a:bodyPr wrap="square" lIns="0" rIns="0" tIns="0" bIns="0" anchor="t"/>
          <a:lstStyle/>
          <a:p>
            <a:pPr algn="l">
              <a:spcAft>
                <a:spcPts val="0"/>
              </a:spcAft>
            </a:pPr>
            <a:r>
              <a:rPr sz="900" b="1" i="0" spc="120">
                <a:solidFill>
                  <a:srgbClr val="F8FAFC"/>
                </a:solidFill>
                <a:latin typeface="Arial"/>
              </a:rPr>
              <a:t>RECORD B</a:t>
            </a:r>
          </a:p>
        </p:txBody>
      </p:sp>
      <p:sp>
        <p:nvSpPr>
          <p:cNvPr id="29" name="TextBox 28"/>
          <p:cNvSpPr txBox="1"/>
          <p:nvPr/>
        </p:nvSpPr>
        <p:spPr>
          <a:xfrm>
            <a:off x="9921240" y="2011680"/>
            <a:ext cx="1463040" cy="182880"/>
          </a:xfrm>
          <a:prstGeom prst="rect">
            <a:avLst/>
          </a:prstGeom>
          <a:noFill/>
        </p:spPr>
        <p:txBody>
          <a:bodyPr wrap="square" lIns="0" rIns="0" tIns="0" bIns="0" anchor="t"/>
          <a:lstStyle/>
          <a:p>
            <a:pPr algn="l">
              <a:spcAft>
                <a:spcPts val="0"/>
              </a:spcAft>
            </a:pPr>
            <a:r>
              <a:rPr sz="850" b="0" i="0">
                <a:solidFill>
                  <a:srgbClr val="B8C4D6"/>
                </a:solidFill>
                <a:latin typeface="Arial"/>
              </a:rPr>
              <a:t>Source 2</a:t>
            </a:r>
          </a:p>
        </p:txBody>
      </p:sp>
      <p:sp>
        <p:nvSpPr>
          <p:cNvPr id="30" name="Rounded Rectangle 29"/>
          <p:cNvSpPr/>
          <p:nvPr/>
        </p:nvSpPr>
        <p:spPr>
          <a:xfrm>
            <a:off x="9921240" y="2432304"/>
            <a:ext cx="1316736" cy="73152"/>
          </a:xfrm>
          <a:prstGeom prst="roundRect">
            <a:avLst>
              <a:gd name="adj" fmla="val 50000"/>
            </a:avLst>
          </a:prstGeom>
          <a:solidFill>
            <a:srgbClr val="27364A"/>
          </a:solidFill>
          <a:ln>
            <a:noFill/>
          </a:ln>
        </p:spPr>
        <p:txBody>
          <a:bodyPr rtlCol="0" anchor="ctr"/>
          <a:lstStyle/>
          <a:p/>
        </p:txBody>
      </p:sp>
      <p:sp>
        <p:nvSpPr>
          <p:cNvPr id="31" name="Rounded Rectangle 30"/>
          <p:cNvSpPr/>
          <p:nvPr/>
        </p:nvSpPr>
        <p:spPr>
          <a:xfrm>
            <a:off x="9921240" y="2779776"/>
            <a:ext cx="1053388" cy="73152"/>
          </a:xfrm>
          <a:prstGeom prst="roundRect">
            <a:avLst>
              <a:gd name="adj" fmla="val 50000"/>
            </a:avLst>
          </a:prstGeom>
          <a:solidFill>
            <a:srgbClr val="27364A"/>
          </a:solidFill>
          <a:ln>
            <a:noFill/>
          </a:ln>
        </p:spPr>
        <p:txBody>
          <a:bodyPr rtlCol="0" anchor="ctr"/>
          <a:lstStyle/>
          <a:p/>
        </p:txBody>
      </p:sp>
      <p:sp>
        <p:nvSpPr>
          <p:cNvPr id="32" name="Rounded Rectangle 31"/>
          <p:cNvSpPr/>
          <p:nvPr/>
        </p:nvSpPr>
        <p:spPr>
          <a:xfrm>
            <a:off x="9921240" y="3127248"/>
            <a:ext cx="1228953" cy="73152"/>
          </a:xfrm>
          <a:prstGeom prst="roundRect">
            <a:avLst>
              <a:gd name="adj" fmla="val 50000"/>
            </a:avLst>
          </a:prstGeom>
          <a:solidFill>
            <a:srgbClr val="27364A"/>
          </a:solidFill>
          <a:ln>
            <a:noFill/>
          </a:ln>
        </p:spPr>
        <p:txBody>
          <a:bodyPr rtlCol="0" anchor="ctr"/>
          <a:lstStyle/>
          <a:p/>
        </p:txBody>
      </p:sp>
      <p:sp>
        <p:nvSpPr>
          <p:cNvPr id="33" name="Rounded Rectangle 32"/>
          <p:cNvSpPr/>
          <p:nvPr/>
        </p:nvSpPr>
        <p:spPr>
          <a:xfrm>
            <a:off x="9866376" y="3355848"/>
            <a:ext cx="1572768" cy="329184"/>
          </a:xfrm>
          <a:prstGeom prst="roundRect">
            <a:avLst>
              <a:gd name="adj" fmla="val 16666"/>
            </a:avLst>
          </a:prstGeom>
          <a:solidFill>
            <a:srgbClr val="F2A65A">
              <a:alpha val="22000"/>
            </a:srgbClr>
          </a:solidFill>
          <a:ln>
            <a:noFill/>
          </a:ln>
        </p:spPr>
        <p:txBody>
          <a:bodyPr rtlCol="0" anchor="ctr"/>
          <a:lstStyle/>
          <a:p/>
        </p:txBody>
      </p:sp>
      <p:sp>
        <p:nvSpPr>
          <p:cNvPr id="34" name="Rectangle 33"/>
          <p:cNvSpPr/>
          <p:nvPr/>
        </p:nvSpPr>
        <p:spPr>
          <a:xfrm>
            <a:off x="9866376" y="3355848"/>
            <a:ext cx="45720" cy="329184"/>
          </a:xfrm>
          <a:prstGeom prst="rect">
            <a:avLst/>
          </a:prstGeom>
          <a:solidFill>
            <a:srgbClr val="F2A65A"/>
          </a:solidFill>
          <a:ln>
            <a:noFill/>
          </a:ln>
        </p:spPr>
        <p:txBody>
          <a:bodyPr rtlCol="0" anchor="ctr"/>
          <a:lstStyle/>
          <a:p/>
        </p:txBody>
      </p:sp>
      <p:sp>
        <p:nvSpPr>
          <p:cNvPr id="35" name="TextBox 34"/>
          <p:cNvSpPr txBox="1"/>
          <p:nvPr/>
        </p:nvSpPr>
        <p:spPr>
          <a:xfrm>
            <a:off x="9994392" y="3355848"/>
            <a:ext cx="1417320" cy="329184"/>
          </a:xfrm>
          <a:prstGeom prst="rect">
            <a:avLst/>
          </a:prstGeom>
          <a:noFill/>
        </p:spPr>
        <p:txBody>
          <a:bodyPr wrap="square" lIns="0" rIns="0" tIns="0" bIns="0" anchor="ctr"/>
          <a:lstStyle/>
          <a:p>
            <a:pPr algn="l">
              <a:spcAft>
                <a:spcPts val="0"/>
              </a:spcAft>
            </a:pPr>
            <a:r>
              <a:rPr sz="950" b="1" i="0">
                <a:solidFill>
                  <a:srgbClr val="F8FAFC"/>
                </a:solidFill>
                <a:latin typeface="Arial"/>
              </a:rPr>
              <a:t>Statement B</a:t>
            </a:r>
          </a:p>
        </p:txBody>
      </p:sp>
      <p:sp>
        <p:nvSpPr>
          <p:cNvPr id="36" name="Rounded Rectangle 35"/>
          <p:cNvSpPr/>
          <p:nvPr/>
        </p:nvSpPr>
        <p:spPr>
          <a:xfrm>
            <a:off x="9921240" y="3822191"/>
            <a:ext cx="1141171" cy="73152"/>
          </a:xfrm>
          <a:prstGeom prst="roundRect">
            <a:avLst>
              <a:gd name="adj" fmla="val 50000"/>
            </a:avLst>
          </a:prstGeom>
          <a:solidFill>
            <a:srgbClr val="27364A"/>
          </a:solidFill>
          <a:ln>
            <a:noFill/>
          </a:ln>
        </p:spPr>
        <p:txBody>
          <a:bodyPr rtlCol="0" anchor="ctr"/>
          <a:lstStyle/>
          <a:p/>
        </p:txBody>
      </p:sp>
      <p:cxnSp>
        <p:nvCxnSpPr>
          <p:cNvPr id="37" name="Evidence line"/>
          <p:cNvCxnSpPr/>
          <p:nvPr/>
        </p:nvCxnSpPr>
        <p:spPr>
          <a:xfrm>
            <a:off x="9290304" y="2624328"/>
            <a:ext cx="576072" cy="896112"/>
          </a:xfrm>
          <a:prstGeom prst="line">
            <a:avLst/>
          </a:prstGeom>
          <a:ln w="25400">
            <a:solidFill>
              <a:srgbClr val="F2A65A"/>
            </a:solidFill>
          </a:ln>
        </p:spPr>
      </p:cxnSp>
      <p:sp>
        <p:nvSpPr>
          <p:cNvPr id="38" name="Oval 37"/>
          <p:cNvSpPr/>
          <p:nvPr/>
        </p:nvSpPr>
        <p:spPr>
          <a:xfrm>
            <a:off x="9468612" y="2962656"/>
            <a:ext cx="219456" cy="219456"/>
          </a:xfrm>
          <a:prstGeom prst="ellipse">
            <a:avLst/>
          </a:prstGeom>
          <a:solidFill>
            <a:srgbClr val="F2A65A"/>
          </a:solidFill>
          <a:ln w="9525">
            <a:solidFill>
              <a:srgbClr val="0B1220"/>
            </a:solidFill>
          </a:ln>
        </p:spPr>
        <p:txBody>
          <a:bodyPr rtlCol="0" anchor="ctr"/>
          <a:lstStyle/>
          <a:p/>
        </p:txBody>
      </p:sp>
      <p:sp>
        <p:nvSpPr>
          <p:cNvPr id="39" name="Rounded Rectangle 38"/>
          <p:cNvSpPr/>
          <p:nvPr/>
        </p:nvSpPr>
        <p:spPr>
          <a:xfrm>
            <a:off x="8156448" y="4434840"/>
            <a:ext cx="2834640" cy="292608"/>
          </a:xfrm>
          <a:prstGeom prst="roundRect">
            <a:avLst>
              <a:gd name="adj" fmla="val 50000"/>
            </a:avLst>
          </a:prstGeom>
          <a:solidFill>
            <a:srgbClr val="19B6A4"/>
          </a:solidFill>
          <a:ln>
            <a:noFill/>
          </a:ln>
        </p:spPr>
        <p:txBody>
          <a:bodyPr rtlCol="0" anchor="ctr" wrap="square" lIns="0" rIns="0" tIns="0" bIns="0"/>
          <a:lstStyle/>
          <a:p>
            <a:pPr algn="ctr">
              <a:spcAft>
                <a:spcPts val="0"/>
              </a:spcAft>
            </a:pPr>
            <a:r>
              <a:rPr sz="950" b="1" i="0">
                <a:solidFill>
                  <a:srgbClr val="0B1220"/>
                </a:solidFill>
                <a:latin typeface="Arial"/>
              </a:rPr>
              <a:t>TRACEABLE FINDING  →  HUMAN REVIEW</a:t>
            </a:r>
          </a:p>
        </p:txBody>
      </p:sp>
      <p:pic>
        <p:nvPicPr>
          <p:cNvPr id="40" name="QR live demo" descr="QR code to the CLINISCOPE live demo: https://anirudhleetcode-max.github.io/cliniscope-healthcare-contradiction-detector/"/>
          <p:cNvPicPr>
            <a:picLocks noChangeAspect="1"/>
          </p:cNvPicPr>
          <p:nvPr/>
        </p:nvPicPr>
        <p:blipFill>
          <a:blip r:embed="rId2"/>
          <a:stretch>
            <a:fillRect/>
          </a:stretch>
        </p:blipFill>
        <p:spPr>
          <a:xfrm>
            <a:off x="10469880" y="4846320"/>
            <a:ext cx="1097280" cy="1097280"/>
          </a:xfrm>
          <a:prstGeom prst="rect">
            <a:avLst/>
          </a:prstGeom>
        </p:spPr>
      </p:pic>
      <p:sp>
        <p:nvSpPr>
          <p:cNvPr id="41" name="TextBox 40"/>
          <p:cNvSpPr txBox="1"/>
          <p:nvPr/>
        </p:nvSpPr>
        <p:spPr>
          <a:xfrm>
            <a:off x="7680960" y="5074920"/>
            <a:ext cx="2651760" cy="685800"/>
          </a:xfrm>
          <a:prstGeom prst="rect">
            <a:avLst/>
          </a:prstGeom>
          <a:noFill/>
        </p:spPr>
        <p:txBody>
          <a:bodyPr wrap="square" lIns="0" rIns="0" tIns="0" bIns="0" anchor="t"/>
          <a:lstStyle/>
          <a:p>
            <a:pPr algn="r">
              <a:spcAft>
                <a:spcPts val="0"/>
              </a:spcAft>
            </a:pPr>
            <a:r>
              <a:rPr sz="1050" b="0" i="0">
                <a:solidFill>
                  <a:srgbClr val="B8C4D6"/>
                </a:solidFill>
                <a:latin typeface="Arial"/>
              </a:rPr>
              <a:t>Scan for the live demo</a:t>
            </a:r>
          </a:p>
          <a:p>
            <a:pPr algn="r">
              <a:spcAft>
                <a:spcPts val="0"/>
              </a:spcAft>
            </a:pPr>
            <a:r>
              <a:rPr sz="1050" b="0" i="0">
                <a:solidFill>
                  <a:srgbClr val="B8C4D6"/>
                </a:solidFill>
                <a:latin typeface="Arial"/>
              </a:rPr>
              <a:t>(static browser version)</a:t>
            </a:r>
          </a:p>
        </p:txBody>
      </p:sp>
      <p:sp>
        <p:nvSpPr>
          <p:cNvPr id="42" name="TextBox 41"/>
          <p:cNvSpPr txBox="1"/>
          <p:nvPr/>
        </p:nvSpPr>
        <p:spPr>
          <a:xfrm>
            <a:off x="640080" y="6400800"/>
            <a:ext cx="4572000" cy="201168"/>
          </a:xfrm>
          <a:prstGeom prst="rect">
            <a:avLst/>
          </a:prstGeom>
          <a:noFill/>
        </p:spPr>
        <p:txBody>
          <a:bodyPr wrap="square" lIns="0" rIns="0" tIns="0" bIns="0" anchor="t"/>
          <a:lstStyle/>
          <a:p>
            <a:pPr algn="l">
              <a:spcAft>
                <a:spcPts val="0"/>
              </a:spcAft>
            </a:pPr>
            <a:r>
              <a:rPr sz="950" b="1" i="0" spc="100">
                <a:solidFill>
                  <a:srgbClr val="B8C4D6"/>
                </a:solidFill>
                <a:latin typeface="Arial"/>
              </a:rPr>
              <a:t>CLINISCOPE</a:t>
            </a:r>
            <a:r>
              <a:rPr sz="950" b="0" i="0" spc="60">
                <a:solidFill>
                  <a:srgbClr val="B8C4D6"/>
                </a:solidFill>
                <a:latin typeface="Arial"/>
              </a:rPr>
              <a:t>   |   PS-11R3</a:t>
            </a:r>
          </a:p>
        </p:txBody>
      </p:sp>
      <p:sp>
        <p:nvSpPr>
          <p:cNvPr id="43" name="TextBox 42"/>
          <p:cNvSpPr txBox="1"/>
          <p:nvPr/>
        </p:nvSpPr>
        <p:spPr>
          <a:xfrm>
            <a:off x="10180015" y="6400800"/>
            <a:ext cx="1371600" cy="201168"/>
          </a:xfrm>
          <a:prstGeom prst="rect">
            <a:avLst/>
          </a:prstGeom>
          <a:noFill/>
        </p:spPr>
        <p:txBody>
          <a:bodyPr wrap="square" lIns="0" rIns="0" tIns="0" bIns="0" anchor="t"/>
          <a:lstStyle/>
          <a:p>
            <a:pPr algn="r">
              <a:spcAft>
                <a:spcPts val="0"/>
              </a:spcAft>
            </a:pPr>
            <a:r>
              <a:rPr sz="950" b="0" i="0" spc="60">
                <a:solidFill>
                  <a:srgbClr val="B8C4D6"/>
                </a:solidFill>
                <a:latin typeface="Arial"/>
              </a:rPr>
              <a:t>08 / 08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