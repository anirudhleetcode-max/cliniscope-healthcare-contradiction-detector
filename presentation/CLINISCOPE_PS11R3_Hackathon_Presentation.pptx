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62239"/>
        </a:solidFill>
        <a:effectLst/>
      </p:bgPr>
    </p:bg>
    <p:spTree>
      <p:nvGrpSpPr>
        <p:cNvPr id="1" name=""/>
        <p:cNvGrpSpPr/>
        <p:nvPr/>
      </p:nvGrpSpPr>
      <p:grpSpPr/>
      <p:sp>
        <p:nvSpPr>
          <p:cNvPr id="2" name="Rectangle 1"/>
          <p:cNvSpPr/>
          <p:nvPr/>
        </p:nvSpPr>
        <p:spPr>
          <a:xfrm>
            <a:off x="8732520" y="0"/>
            <a:ext cx="3456432" cy="6858000"/>
          </a:xfrm>
          <a:prstGeom prst="rect">
            <a:avLst/>
          </a:prstGeom>
          <a:solidFill>
            <a:srgbClr val="1C2C4B"/>
          </a:solidFill>
          <a:ln>
            <a:solidFill>
              <a:srgbClr val="1C2C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464040" y="1051560"/>
            <a:ext cx="1737360" cy="1737360"/>
          </a:xfrm>
          <a:prstGeom prst="roundRect">
            <a:avLst>
              <a:gd name="adj" fmla="val 12000"/>
            </a:avLst>
          </a:prstGeom>
          <a:solidFill>
            <a:srgbClr val="5369DC"/>
          </a:solidFill>
          <a:ln>
            <a:solidFill>
              <a:srgbClr val="5369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10195560" y="2880360"/>
            <a:ext cx="1097280" cy="1097280"/>
          </a:xfrm>
          <a:prstGeom prst="roundRect">
            <a:avLst>
              <a:gd name="adj" fmla="val 12000"/>
            </a:avLst>
          </a:prstGeom>
          <a:solidFill>
            <a:srgbClr val="2DA6A0"/>
          </a:solidFill>
          <a:ln>
            <a:solidFill>
              <a:srgbClr val="2DA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052560" y="4251960"/>
            <a:ext cx="1828800" cy="109728"/>
          </a:xfrm>
          <a:prstGeom prst="rect">
            <a:avLst/>
          </a:prstGeom>
          <a:solidFill>
            <a:srgbClr val="C0CAFF"/>
          </a:solidFill>
          <a:ln>
            <a:solidFill>
              <a:srgbClr val="C0CA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566928"/>
            <a:ext cx="4114800" cy="274320"/>
          </a:xfrm>
          <a:prstGeom prst="rect">
            <a:avLst/>
          </a:prstGeom>
          <a:noFill/>
        </p:spPr>
        <p:txBody>
          <a:bodyPr wrap="square" anchor="t">
            <a:spAutoFit/>
          </a:bodyPr>
          <a:lstStyle/>
          <a:p>
            <a:pPr algn="l"/>
            <a:r>
              <a:rPr sz="1100" b="1">
                <a:solidFill>
                  <a:srgbClr val="C0CAFF"/>
                </a:solidFill>
                <a:latin typeface="Aptos"/>
              </a:rPr>
              <a:t>CODE FLAYER 2.0  •  PROJECT PRESENTATION</a:t>
            </a:r>
          </a:p>
        </p:txBody>
      </p:sp>
      <p:sp>
        <p:nvSpPr>
          <p:cNvPr id="7" name="TextBox 6"/>
          <p:cNvSpPr txBox="1"/>
          <p:nvPr/>
        </p:nvSpPr>
        <p:spPr>
          <a:xfrm>
            <a:off x="731520" y="1508760"/>
            <a:ext cx="7498079" cy="1143000"/>
          </a:xfrm>
          <a:prstGeom prst="rect">
            <a:avLst/>
          </a:prstGeom>
          <a:noFill/>
        </p:spPr>
        <p:txBody>
          <a:bodyPr wrap="square" anchor="t">
            <a:spAutoFit/>
          </a:bodyPr>
          <a:lstStyle/>
          <a:p>
            <a:pPr algn="l"/>
            <a:r>
              <a:rPr sz="3400" b="1">
                <a:solidFill>
                  <a:srgbClr val="FFFFFF"/>
                </a:solidFill>
                <a:latin typeface="Aptos"/>
              </a:rPr>
              <a:t>CLINISCOPE</a:t>
            </a:r>
          </a:p>
        </p:txBody>
      </p:sp>
      <p:sp>
        <p:nvSpPr>
          <p:cNvPr id="8" name="TextBox 7"/>
          <p:cNvSpPr txBox="1"/>
          <p:nvPr/>
        </p:nvSpPr>
        <p:spPr>
          <a:xfrm>
            <a:off x="768096" y="2697480"/>
            <a:ext cx="7132320" cy="548640"/>
          </a:xfrm>
          <a:prstGeom prst="rect">
            <a:avLst/>
          </a:prstGeom>
          <a:noFill/>
        </p:spPr>
        <p:txBody>
          <a:bodyPr wrap="square" anchor="t">
            <a:spAutoFit/>
          </a:bodyPr>
          <a:lstStyle/>
          <a:p>
            <a:pPr algn="l"/>
            <a:r>
              <a:rPr sz="1800" b="0">
                <a:solidFill>
                  <a:srgbClr val="D0D7E7"/>
                </a:solidFill>
                <a:latin typeface="Aptos"/>
              </a:rPr>
              <a:t>Healthcare Record Contradiction Detector</a:t>
            </a:r>
          </a:p>
          <a:p>
            <a:pPr algn="l"/>
            <a:r>
              <a:rPr sz="1800" b="0">
                <a:solidFill>
                  <a:srgbClr val="D0D7E7"/>
                </a:solidFill>
                <a:latin typeface="Aptos"/>
              </a:rPr>
              <a:t>Find the conflict. Trace the evidence. Keep humans in control.</a:t>
            </a:r>
          </a:p>
        </p:txBody>
      </p:sp>
      <p:sp>
        <p:nvSpPr>
          <p:cNvPr id="9" name="Rectangle 8"/>
          <p:cNvSpPr/>
          <p:nvPr/>
        </p:nvSpPr>
        <p:spPr>
          <a:xfrm>
            <a:off x="777240" y="3520440"/>
            <a:ext cx="1051560" cy="64008"/>
          </a:xfrm>
          <a:prstGeom prst="rect">
            <a:avLst/>
          </a:prstGeom>
          <a:solidFill>
            <a:srgbClr val="2DA6A0"/>
          </a:solidFill>
          <a:ln>
            <a:solidFill>
              <a:srgbClr val="2DA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3886200"/>
            <a:ext cx="6949440" cy="347472"/>
          </a:xfrm>
          <a:prstGeom prst="rect">
            <a:avLst/>
          </a:prstGeom>
          <a:noFill/>
        </p:spPr>
        <p:txBody>
          <a:bodyPr wrap="square" anchor="t">
            <a:spAutoFit/>
          </a:bodyPr>
          <a:lstStyle/>
          <a:p>
            <a:pPr algn="l"/>
            <a:r>
              <a:rPr sz="1600" b="1">
                <a:solidFill>
                  <a:srgbClr val="FFFFFF"/>
                </a:solidFill>
                <a:latin typeface="Aptos"/>
              </a:rPr>
              <a:t>TEAM  [Add official team name]</a:t>
            </a:r>
          </a:p>
        </p:txBody>
      </p:sp>
      <p:sp>
        <p:nvSpPr>
          <p:cNvPr id="11" name="TextBox 10"/>
          <p:cNvSpPr txBox="1"/>
          <p:nvPr/>
        </p:nvSpPr>
        <p:spPr>
          <a:xfrm>
            <a:off x="777240" y="4389120"/>
            <a:ext cx="7132320" cy="777240"/>
          </a:xfrm>
          <a:prstGeom prst="rect">
            <a:avLst/>
          </a:prstGeom>
          <a:noFill/>
        </p:spPr>
        <p:txBody>
          <a:bodyPr wrap="square" anchor="t">
            <a:spAutoFit/>
          </a:bodyPr>
          <a:lstStyle/>
          <a:p>
            <a:pPr algn="l"/>
            <a:r>
              <a:rPr sz="1300" b="0">
                <a:solidFill>
                  <a:srgbClr val="D0D7E7"/>
                </a:solidFill>
                <a:latin typeface="Aptos"/>
              </a:rPr>
              <a:t>Team leader: [Add team leader]</a:t>
            </a:r>
          </a:p>
          <a:p>
            <a:pPr algn="l"/>
            <a:r>
              <a:rPr sz="1300" b="0">
                <a:solidFill>
                  <a:srgbClr val="D0D7E7"/>
                </a:solidFill>
                <a:latin typeface="Aptos"/>
              </a:rPr>
              <a:t>Team members: [Add member names]</a:t>
            </a:r>
          </a:p>
        </p:txBody>
      </p:sp>
      <p:sp>
        <p:nvSpPr>
          <p:cNvPr id="12" name="TextBox 11"/>
          <p:cNvSpPr txBox="1"/>
          <p:nvPr/>
        </p:nvSpPr>
        <p:spPr>
          <a:xfrm>
            <a:off x="777240" y="6080760"/>
            <a:ext cx="6858000" cy="228600"/>
          </a:xfrm>
          <a:prstGeom prst="rect">
            <a:avLst/>
          </a:prstGeom>
          <a:noFill/>
        </p:spPr>
        <p:txBody>
          <a:bodyPr wrap="square" anchor="t">
            <a:spAutoFit/>
          </a:bodyPr>
          <a:lstStyle/>
          <a:p>
            <a:pPr algn="l"/>
            <a:r>
              <a:rPr sz="1000" b="0">
                <a:solidFill>
                  <a:srgbClr val="A0AECC"/>
                </a:solidFill>
                <a:latin typeface="Aptos"/>
              </a:rPr>
              <a:t>Healthcare  •  PS-11R3     |     Vishnu Institute of Technology, Bhimavaram</a:t>
            </a:r>
          </a:p>
        </p:txBody>
      </p:sp>
      <p:sp>
        <p:nvSpPr>
          <p:cNvPr id="13" name="TextBox 12"/>
          <p:cNvSpPr txBox="1"/>
          <p:nvPr/>
        </p:nvSpPr>
        <p:spPr>
          <a:xfrm>
            <a:off x="9144000" y="6144768"/>
            <a:ext cx="2560320" cy="228600"/>
          </a:xfrm>
          <a:prstGeom prst="rect">
            <a:avLst/>
          </a:prstGeom>
          <a:noFill/>
        </p:spPr>
        <p:txBody>
          <a:bodyPr wrap="square" anchor="t">
            <a:spAutoFit/>
          </a:bodyPr>
          <a:lstStyle/>
          <a:p>
            <a:pPr algn="r"/>
            <a:r>
              <a:rPr sz="900" b="1">
                <a:solidFill>
                  <a:srgbClr val="D0D7E7"/>
                </a:solidFill>
                <a:latin typeface="Aptos"/>
              </a:rPr>
              <a:t>01  /  INTRODUCTION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9FC"/>
        </a:solidFill>
        <a:effectLst/>
      </p:bgPr>
    </p:bg>
    <p:spTree>
      <p:nvGrpSpPr>
        <p:cNvPr id="1" name=""/>
        <p:cNvGrpSpPr/>
        <p:nvPr/>
      </p:nvGrpSpPr>
      <p:grpSpPr/>
      <p:sp>
        <p:nvSpPr>
          <p:cNvPr id="2" name="TextBox 1"/>
          <p:cNvSpPr txBox="1"/>
          <p:nvPr/>
        </p:nvSpPr>
        <p:spPr>
          <a:xfrm>
            <a:off x="594360" y="320040"/>
            <a:ext cx="1828800" cy="274320"/>
          </a:xfrm>
          <a:prstGeom prst="rect">
            <a:avLst/>
          </a:prstGeom>
          <a:noFill/>
        </p:spPr>
        <p:txBody>
          <a:bodyPr wrap="square" anchor="t">
            <a:spAutoFit/>
          </a:bodyPr>
          <a:lstStyle/>
          <a:p>
            <a:pPr algn="l"/>
            <a:r>
              <a:rPr sz="1000" b="1">
                <a:solidFill>
                  <a:srgbClr val="5369DC"/>
                </a:solidFill>
                <a:latin typeface="Aptos"/>
              </a:rPr>
              <a:t>PROJECT PITCH  /  02</a:t>
            </a:r>
          </a:p>
        </p:txBody>
      </p:sp>
      <p:sp>
        <p:nvSpPr>
          <p:cNvPr id="3" name="TextBox 2"/>
          <p:cNvSpPr txBox="1"/>
          <p:nvPr/>
        </p:nvSpPr>
        <p:spPr>
          <a:xfrm>
            <a:off x="594360" y="713232"/>
            <a:ext cx="10972800" cy="502920"/>
          </a:xfrm>
          <a:prstGeom prst="rect">
            <a:avLst/>
          </a:prstGeom>
          <a:noFill/>
        </p:spPr>
        <p:txBody>
          <a:bodyPr wrap="square" anchor="t">
            <a:spAutoFit/>
          </a:bodyPr>
          <a:lstStyle/>
          <a:p>
            <a:pPr algn="l"/>
            <a:r>
              <a:rPr sz="2800" b="1">
                <a:solidFill>
                  <a:srgbClr val="162239"/>
                </a:solidFill>
                <a:latin typeface="Aptos"/>
              </a:rPr>
              <a:t>Problem Statement</a:t>
            </a:r>
          </a:p>
        </p:txBody>
      </p:sp>
      <p:sp>
        <p:nvSpPr>
          <p:cNvPr id="4" name="TextBox 3"/>
          <p:cNvSpPr txBox="1"/>
          <p:nvPr/>
        </p:nvSpPr>
        <p:spPr>
          <a:xfrm>
            <a:off x="621792" y="1261872"/>
            <a:ext cx="10881360" cy="320040"/>
          </a:xfrm>
          <a:prstGeom prst="rect">
            <a:avLst/>
          </a:prstGeom>
          <a:noFill/>
        </p:spPr>
        <p:txBody>
          <a:bodyPr wrap="square" anchor="t">
            <a:spAutoFit/>
          </a:bodyPr>
          <a:lstStyle/>
          <a:p>
            <a:pPr algn="l"/>
            <a:r>
              <a:rPr sz="1200" b="0">
                <a:solidFill>
                  <a:srgbClr val="767F90"/>
                </a:solidFill>
                <a:latin typeface="Aptos"/>
              </a:rPr>
              <a:t>PS-11R3: Healthcare Record Contradiction Detector. The framing below is the team's interpretation.</a:t>
            </a:r>
          </a:p>
        </p:txBody>
      </p:sp>
      <p:sp>
        <p:nvSpPr>
          <p:cNvPr id="5" name="Rectangle 4"/>
          <p:cNvSpPr/>
          <p:nvPr/>
        </p:nvSpPr>
        <p:spPr>
          <a:xfrm>
            <a:off x="10835640" y="384048"/>
            <a:ext cx="320040" cy="73152"/>
          </a:xfrm>
          <a:prstGeom prst="rect">
            <a:avLst/>
          </a:prstGeom>
          <a:solidFill>
            <a:srgbClr val="5369DC"/>
          </a:solidFill>
          <a:ln>
            <a:solidFill>
              <a:srgbClr val="5369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1228832" y="384048"/>
            <a:ext cx="320040" cy="73152"/>
          </a:xfrm>
          <a:prstGeom prst="rect">
            <a:avLst/>
          </a:prstGeom>
          <a:solidFill>
            <a:srgbClr val="2DA6A0"/>
          </a:solidFill>
          <a:ln>
            <a:solidFill>
              <a:srgbClr val="2DA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622024" y="384048"/>
            <a:ext cx="0" cy="73152"/>
          </a:xfrm>
          <a:prstGeom prst="rect">
            <a:avLst/>
          </a:prstGeom>
          <a:solidFill>
            <a:srgbClr val="162239"/>
          </a:solidFill>
          <a:ln>
            <a:solidFill>
              <a:srgbClr val="16223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40080" y="1874519"/>
            <a:ext cx="5349240" cy="1508760"/>
          </a:xfrm>
          <a:prstGeom prst="roundRect">
            <a:avLst>
              <a:gd name="adj" fmla="val 12000"/>
            </a:avLst>
          </a:prstGeom>
          <a:solidFill>
            <a:srgbClr val="FFFFFF"/>
          </a:solidFill>
          <a:ln>
            <a:solidFill>
              <a:srgbClr val="DEE3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40080" y="1874519"/>
            <a:ext cx="64008" cy="1508760"/>
          </a:xfrm>
          <a:prstGeom prst="rect">
            <a:avLst/>
          </a:prstGeom>
          <a:solidFill>
            <a:srgbClr val="5369DC"/>
          </a:solidFill>
          <a:ln>
            <a:solidFill>
              <a:srgbClr val="5369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2057400"/>
            <a:ext cx="4937759" cy="320040"/>
          </a:xfrm>
          <a:prstGeom prst="rect">
            <a:avLst/>
          </a:prstGeom>
          <a:noFill/>
        </p:spPr>
        <p:txBody>
          <a:bodyPr wrap="square" anchor="t">
            <a:spAutoFit/>
          </a:bodyPr>
          <a:lstStyle/>
          <a:p>
            <a:pPr algn="l"/>
            <a:r>
              <a:rPr sz="1500" b="1">
                <a:solidFill>
                  <a:srgbClr val="162239"/>
                </a:solidFill>
                <a:latin typeface="Aptos"/>
              </a:rPr>
              <a:t>01  THE PROBLEM</a:t>
            </a:r>
          </a:p>
        </p:txBody>
      </p:sp>
      <p:sp>
        <p:nvSpPr>
          <p:cNvPr id="11" name="TextBox 10"/>
          <p:cNvSpPr txBox="1"/>
          <p:nvPr/>
        </p:nvSpPr>
        <p:spPr>
          <a:xfrm>
            <a:off x="859536" y="2496312"/>
            <a:ext cx="4937759" cy="758952"/>
          </a:xfrm>
          <a:prstGeom prst="rect">
            <a:avLst/>
          </a:prstGeom>
          <a:noFill/>
        </p:spPr>
        <p:txBody>
          <a:bodyPr wrap="square" anchor="t">
            <a:spAutoFit/>
          </a:bodyPr>
          <a:lstStyle/>
          <a:p>
            <a:pPr algn="l"/>
            <a:r>
              <a:rPr sz="1400" b="0">
                <a:solidFill>
                  <a:srgbClr val="394252"/>
                </a:solidFill>
                <a:latin typeface="Aptos"/>
              </a:rPr>
              <a:t>Patient information is spread across digital and scanned documents. Allergies, doses, diagnoses and lab results can differ, and spotting that by hand is slow.</a:t>
            </a:r>
          </a:p>
        </p:txBody>
      </p:sp>
      <p:sp>
        <p:nvSpPr>
          <p:cNvPr id="12" name="Rounded Rectangle 11"/>
          <p:cNvSpPr/>
          <p:nvPr/>
        </p:nvSpPr>
        <p:spPr>
          <a:xfrm>
            <a:off x="6217920" y="1874519"/>
            <a:ext cx="5303520" cy="1508760"/>
          </a:xfrm>
          <a:prstGeom prst="roundRect">
            <a:avLst>
              <a:gd name="adj" fmla="val 12000"/>
            </a:avLst>
          </a:prstGeom>
          <a:solidFill>
            <a:srgbClr val="FFFFFF"/>
          </a:solidFill>
          <a:ln>
            <a:solidFill>
              <a:srgbClr val="DEE3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17920" y="1874519"/>
            <a:ext cx="64008" cy="1508760"/>
          </a:xfrm>
          <a:prstGeom prst="rect">
            <a:avLst/>
          </a:prstGeom>
          <a:solidFill>
            <a:srgbClr val="2DA6A0"/>
          </a:solidFill>
          <a:ln>
            <a:solidFill>
              <a:srgbClr val="2DA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37376" y="2057400"/>
            <a:ext cx="4892040" cy="320040"/>
          </a:xfrm>
          <a:prstGeom prst="rect">
            <a:avLst/>
          </a:prstGeom>
          <a:noFill/>
        </p:spPr>
        <p:txBody>
          <a:bodyPr wrap="square" anchor="t">
            <a:spAutoFit/>
          </a:bodyPr>
          <a:lstStyle/>
          <a:p>
            <a:pPr algn="l"/>
            <a:r>
              <a:rPr sz="1500" b="1">
                <a:solidFill>
                  <a:srgbClr val="162239"/>
                </a:solidFill>
                <a:latin typeface="Aptos"/>
              </a:rPr>
              <a:t>02  TARGET USERS</a:t>
            </a:r>
          </a:p>
        </p:txBody>
      </p:sp>
      <p:sp>
        <p:nvSpPr>
          <p:cNvPr id="15" name="TextBox 14"/>
          <p:cNvSpPr txBox="1"/>
          <p:nvPr/>
        </p:nvSpPr>
        <p:spPr>
          <a:xfrm>
            <a:off x="6437376" y="2496312"/>
            <a:ext cx="4892040" cy="758952"/>
          </a:xfrm>
          <a:prstGeom prst="rect">
            <a:avLst/>
          </a:prstGeom>
          <a:noFill/>
        </p:spPr>
        <p:txBody>
          <a:bodyPr wrap="square" anchor="t">
            <a:spAutoFit/>
          </a:bodyPr>
          <a:lstStyle/>
          <a:p>
            <a:pPr algn="l"/>
            <a:r>
              <a:rPr sz="1400" b="0">
                <a:solidFill>
                  <a:srgbClr val="394252"/>
                </a:solidFill>
                <a:latin typeface="Aptos"/>
              </a:rPr>
              <a:t>Intended users: clinicians reviewing records, medical-records (HIM) teams, clinical quality and patient-safety reviewers, and authorized staff reconciling records.</a:t>
            </a:r>
          </a:p>
        </p:txBody>
      </p:sp>
      <p:sp>
        <p:nvSpPr>
          <p:cNvPr id="16" name="Rounded Rectangle 15"/>
          <p:cNvSpPr/>
          <p:nvPr/>
        </p:nvSpPr>
        <p:spPr>
          <a:xfrm>
            <a:off x="640080" y="3611880"/>
            <a:ext cx="5349240" cy="1508760"/>
          </a:xfrm>
          <a:prstGeom prst="roundRect">
            <a:avLst>
              <a:gd name="adj" fmla="val 12000"/>
            </a:avLst>
          </a:prstGeom>
          <a:solidFill>
            <a:srgbClr val="FFFFFF"/>
          </a:solidFill>
          <a:ln>
            <a:solidFill>
              <a:srgbClr val="DEE3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40080" y="3611880"/>
            <a:ext cx="64008" cy="1508760"/>
          </a:xfrm>
          <a:prstGeom prst="rect">
            <a:avLst/>
          </a:prstGeom>
          <a:solidFill>
            <a:srgbClr val="2DA6A0"/>
          </a:solidFill>
          <a:ln>
            <a:solidFill>
              <a:srgbClr val="2DA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9536" y="3794760"/>
            <a:ext cx="4937759" cy="320040"/>
          </a:xfrm>
          <a:prstGeom prst="rect">
            <a:avLst/>
          </a:prstGeom>
          <a:noFill/>
        </p:spPr>
        <p:txBody>
          <a:bodyPr wrap="square" anchor="t">
            <a:spAutoFit/>
          </a:bodyPr>
          <a:lstStyle/>
          <a:p>
            <a:pPr algn="l"/>
            <a:r>
              <a:rPr sz="1500" b="1">
                <a:solidFill>
                  <a:srgbClr val="162239"/>
                </a:solidFill>
                <a:latin typeface="Aptos"/>
              </a:rPr>
              <a:t>03  CURRENT CHALLENGES</a:t>
            </a:r>
          </a:p>
        </p:txBody>
      </p:sp>
      <p:sp>
        <p:nvSpPr>
          <p:cNvPr id="19" name="TextBox 18"/>
          <p:cNvSpPr txBox="1"/>
          <p:nvPr/>
        </p:nvSpPr>
        <p:spPr>
          <a:xfrm>
            <a:off x="859536" y="4233672"/>
            <a:ext cx="4937759" cy="758952"/>
          </a:xfrm>
          <a:prstGeom prst="rect">
            <a:avLst/>
          </a:prstGeom>
          <a:noFill/>
        </p:spPr>
        <p:txBody>
          <a:bodyPr wrap="square" anchor="t">
            <a:spAutoFit/>
          </a:bodyPr>
          <a:lstStyle/>
          <a:p>
            <a:pPr algn="l"/>
            <a:r>
              <a:rPr sz="1400" b="0">
                <a:solidFill>
                  <a:srgbClr val="394252"/>
                </a:solidFill>
                <a:latin typeface="Aptos"/>
              </a:rPr>
              <a:t>• Fragmented: statements sit in separate files</a:t>
            </a:r>
          </a:p>
          <a:p>
            <a:pPr algn="l"/>
            <a:r>
              <a:rPr sz="1400" b="0">
                <a:solidFill>
                  <a:srgbClr val="394252"/>
                </a:solidFill>
                <a:latin typeface="Aptos"/>
              </a:rPr>
              <a:t>• Context: dates, negation, dose changes</a:t>
            </a:r>
          </a:p>
          <a:p>
            <a:pPr algn="l"/>
            <a:r>
              <a:rPr sz="1400" b="0">
                <a:solidFill>
                  <a:srgbClr val="394252"/>
                </a:solidFill>
                <a:latin typeface="Aptos"/>
              </a:rPr>
              <a:t>• Traceability: each conflict needs its source</a:t>
            </a:r>
          </a:p>
        </p:txBody>
      </p:sp>
      <p:sp>
        <p:nvSpPr>
          <p:cNvPr id="20" name="Rounded Rectangle 19"/>
          <p:cNvSpPr/>
          <p:nvPr/>
        </p:nvSpPr>
        <p:spPr>
          <a:xfrm>
            <a:off x="6217920" y="3611880"/>
            <a:ext cx="5303520" cy="1508760"/>
          </a:xfrm>
          <a:prstGeom prst="roundRect">
            <a:avLst>
              <a:gd name="adj" fmla="val 12000"/>
            </a:avLst>
          </a:prstGeom>
          <a:solidFill>
            <a:srgbClr val="FFFFFF"/>
          </a:solidFill>
          <a:ln>
            <a:solidFill>
              <a:srgbClr val="DEE3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17920" y="3611880"/>
            <a:ext cx="64008" cy="1508760"/>
          </a:xfrm>
          <a:prstGeom prst="rect">
            <a:avLst/>
          </a:prstGeom>
          <a:solidFill>
            <a:srgbClr val="5369DC"/>
          </a:solidFill>
          <a:ln>
            <a:solidFill>
              <a:srgbClr val="5369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37376" y="3794760"/>
            <a:ext cx="4892040" cy="320040"/>
          </a:xfrm>
          <a:prstGeom prst="rect">
            <a:avLst/>
          </a:prstGeom>
          <a:noFill/>
        </p:spPr>
        <p:txBody>
          <a:bodyPr wrap="square" anchor="t">
            <a:spAutoFit/>
          </a:bodyPr>
          <a:lstStyle/>
          <a:p>
            <a:pPr algn="l"/>
            <a:r>
              <a:rPr sz="1500" b="1">
                <a:solidFill>
                  <a:srgbClr val="162239"/>
                </a:solidFill>
                <a:latin typeface="Aptos"/>
              </a:rPr>
              <a:t>04  THE GAP / IMPACT</a:t>
            </a:r>
          </a:p>
        </p:txBody>
      </p:sp>
      <p:sp>
        <p:nvSpPr>
          <p:cNvPr id="23" name="TextBox 22"/>
          <p:cNvSpPr txBox="1"/>
          <p:nvPr/>
        </p:nvSpPr>
        <p:spPr>
          <a:xfrm>
            <a:off x="6437376" y="4233672"/>
            <a:ext cx="4892040" cy="758952"/>
          </a:xfrm>
          <a:prstGeom prst="rect">
            <a:avLst/>
          </a:prstGeom>
          <a:noFill/>
        </p:spPr>
        <p:txBody>
          <a:bodyPr wrap="square" anchor="t">
            <a:spAutoFit/>
          </a:bodyPr>
          <a:lstStyle/>
          <a:p>
            <a:pPr algn="l"/>
            <a:r>
              <a:rPr sz="1400" b="0">
                <a:solidFill>
                  <a:srgbClr val="394252"/>
                </a:solidFill>
                <a:latin typeface="Aptos"/>
              </a:rPr>
              <a:t>A warning is not enough. Reviewers need the original evidence, its context (dates, history) and a controlled way to record their decision.</a:t>
            </a:r>
          </a:p>
        </p:txBody>
      </p:sp>
      <p:sp>
        <p:nvSpPr>
          <p:cNvPr id="24" name="TextBox 23"/>
          <p:cNvSpPr txBox="1"/>
          <p:nvPr/>
        </p:nvSpPr>
        <p:spPr>
          <a:xfrm>
            <a:off x="777240" y="5577840"/>
            <a:ext cx="10698480" cy="411480"/>
          </a:xfrm>
          <a:prstGeom prst="rect">
            <a:avLst/>
          </a:prstGeom>
          <a:noFill/>
        </p:spPr>
        <p:txBody>
          <a:bodyPr wrap="square" anchor="t">
            <a:spAutoFit/>
          </a:bodyPr>
          <a:lstStyle/>
          <a:p>
            <a:pPr algn="l"/>
            <a:r>
              <a:rPr sz="1500" b="1">
                <a:solidFill>
                  <a:srgbClr val="162239"/>
                </a:solidFill>
                <a:latin typeface="Aptos"/>
              </a:rPr>
              <a:t>ONE-LINE PROBLEM:  How can reviewers find and investigate conflicts across medical records with clear source evidence and human oversight?</a:t>
            </a:r>
          </a:p>
        </p:txBody>
      </p:sp>
      <p:sp>
        <p:nvSpPr>
          <p:cNvPr id="25" name="TextBox 24"/>
          <p:cNvSpPr txBox="1"/>
          <p:nvPr/>
        </p:nvSpPr>
        <p:spPr>
          <a:xfrm>
            <a:off x="621792" y="6510528"/>
            <a:ext cx="5029200" cy="164592"/>
          </a:xfrm>
          <a:prstGeom prst="rect">
            <a:avLst/>
          </a:prstGeom>
          <a:noFill/>
        </p:spPr>
        <p:txBody>
          <a:bodyPr wrap="square" anchor="t">
            <a:spAutoFit/>
          </a:bodyPr>
          <a:lstStyle/>
          <a:p>
            <a:pPr algn="l"/>
            <a:r>
              <a:rPr sz="800" b="1">
                <a:solidFill>
                  <a:srgbClr val="767F90"/>
                </a:solidFill>
                <a:latin typeface="Aptos"/>
              </a:rPr>
              <a:t>CODE FLAYER 2.0  •  CLINISCOPE  •  PS-11R3</a:t>
            </a:r>
          </a:p>
        </p:txBody>
      </p:sp>
      <p:sp>
        <p:nvSpPr>
          <p:cNvPr id="26" name="TextBox 25"/>
          <p:cNvSpPr txBox="1"/>
          <p:nvPr/>
        </p:nvSpPr>
        <p:spPr>
          <a:xfrm>
            <a:off x="11064240" y="6473952"/>
            <a:ext cx="502920" cy="201168"/>
          </a:xfrm>
          <a:prstGeom prst="rect">
            <a:avLst/>
          </a:prstGeom>
          <a:noFill/>
        </p:spPr>
        <p:txBody>
          <a:bodyPr wrap="square" anchor="t">
            <a:spAutoFit/>
          </a:bodyPr>
          <a:lstStyle/>
          <a:p>
            <a:pPr algn="r"/>
            <a:r>
              <a:rPr sz="900" b="1">
                <a:solidFill>
                  <a:srgbClr val="767F90"/>
                </a:solidFill>
                <a:latin typeface="Aptos"/>
              </a:rPr>
              <a:t>02 / 08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9FC"/>
        </a:solidFill>
        <a:effectLst/>
      </p:bgPr>
    </p:bg>
    <p:spTree>
      <p:nvGrpSpPr>
        <p:cNvPr id="1" name=""/>
        <p:cNvGrpSpPr/>
        <p:nvPr/>
      </p:nvGrpSpPr>
      <p:grpSpPr/>
      <p:sp>
        <p:nvSpPr>
          <p:cNvPr id="2" name="TextBox 1"/>
          <p:cNvSpPr txBox="1"/>
          <p:nvPr/>
        </p:nvSpPr>
        <p:spPr>
          <a:xfrm>
            <a:off x="594360" y="320040"/>
            <a:ext cx="1828800" cy="274320"/>
          </a:xfrm>
          <a:prstGeom prst="rect">
            <a:avLst/>
          </a:prstGeom>
          <a:noFill/>
        </p:spPr>
        <p:txBody>
          <a:bodyPr wrap="square" anchor="t">
            <a:spAutoFit/>
          </a:bodyPr>
          <a:lstStyle/>
          <a:p>
            <a:pPr algn="l"/>
            <a:r>
              <a:rPr sz="1000" b="1">
                <a:solidFill>
                  <a:srgbClr val="5369DC"/>
                </a:solidFill>
                <a:latin typeface="Aptos"/>
              </a:rPr>
              <a:t>PROJECT PITCH  /  03</a:t>
            </a:r>
          </a:p>
        </p:txBody>
      </p:sp>
      <p:sp>
        <p:nvSpPr>
          <p:cNvPr id="3" name="TextBox 2"/>
          <p:cNvSpPr txBox="1"/>
          <p:nvPr/>
        </p:nvSpPr>
        <p:spPr>
          <a:xfrm>
            <a:off x="594360" y="713232"/>
            <a:ext cx="10972800" cy="502920"/>
          </a:xfrm>
          <a:prstGeom prst="rect">
            <a:avLst/>
          </a:prstGeom>
          <a:noFill/>
        </p:spPr>
        <p:txBody>
          <a:bodyPr wrap="square" anchor="t">
            <a:spAutoFit/>
          </a:bodyPr>
          <a:lstStyle/>
          <a:p>
            <a:pPr algn="l"/>
            <a:r>
              <a:rPr sz="2800" b="1">
                <a:solidFill>
                  <a:srgbClr val="162239"/>
                </a:solidFill>
                <a:latin typeface="Aptos"/>
              </a:rPr>
              <a:t>Proposed Solution</a:t>
            </a:r>
          </a:p>
        </p:txBody>
      </p:sp>
      <p:sp>
        <p:nvSpPr>
          <p:cNvPr id="4" name="TextBox 3"/>
          <p:cNvSpPr txBox="1"/>
          <p:nvPr/>
        </p:nvSpPr>
        <p:spPr>
          <a:xfrm>
            <a:off x="621792" y="1261872"/>
            <a:ext cx="10881360" cy="320040"/>
          </a:xfrm>
          <a:prstGeom prst="rect">
            <a:avLst/>
          </a:prstGeom>
          <a:noFill/>
        </p:spPr>
        <p:txBody>
          <a:bodyPr wrap="square" anchor="t">
            <a:spAutoFit/>
          </a:bodyPr>
          <a:lstStyle/>
          <a:p>
            <a:pPr algn="l"/>
            <a:r>
              <a:rPr sz="1200" b="0">
                <a:solidFill>
                  <a:srgbClr val="767F90"/>
                </a:solidFill>
                <a:latin typeface="Aptos"/>
              </a:rPr>
              <a:t>An evidence-first review prototype: documents in, traceable findings out, decisions made by people.</a:t>
            </a:r>
          </a:p>
        </p:txBody>
      </p:sp>
      <p:sp>
        <p:nvSpPr>
          <p:cNvPr id="5" name="Rectangle 4"/>
          <p:cNvSpPr/>
          <p:nvPr/>
        </p:nvSpPr>
        <p:spPr>
          <a:xfrm>
            <a:off x="10835640" y="384048"/>
            <a:ext cx="320040" cy="73152"/>
          </a:xfrm>
          <a:prstGeom prst="rect">
            <a:avLst/>
          </a:prstGeom>
          <a:solidFill>
            <a:srgbClr val="5369DC"/>
          </a:solidFill>
          <a:ln>
            <a:solidFill>
              <a:srgbClr val="5369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1228832" y="384048"/>
            <a:ext cx="320040" cy="73152"/>
          </a:xfrm>
          <a:prstGeom prst="rect">
            <a:avLst/>
          </a:prstGeom>
          <a:solidFill>
            <a:srgbClr val="2DA6A0"/>
          </a:solidFill>
          <a:ln>
            <a:solidFill>
              <a:srgbClr val="2DA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622024" y="384048"/>
            <a:ext cx="0" cy="73152"/>
          </a:xfrm>
          <a:prstGeom prst="rect">
            <a:avLst/>
          </a:prstGeom>
          <a:solidFill>
            <a:srgbClr val="162239"/>
          </a:solidFill>
          <a:ln>
            <a:solidFill>
              <a:srgbClr val="16223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40080" y="1874519"/>
            <a:ext cx="6629400" cy="1874519"/>
          </a:xfrm>
          <a:prstGeom prst="roundRect">
            <a:avLst>
              <a:gd name="adj" fmla="val 12000"/>
            </a:avLst>
          </a:prstGeom>
          <a:solidFill>
            <a:srgbClr val="FFFFFF"/>
          </a:solidFill>
          <a:ln>
            <a:solidFill>
              <a:srgbClr val="DEE3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40080" y="1874519"/>
            <a:ext cx="64008" cy="1874519"/>
          </a:xfrm>
          <a:prstGeom prst="rect">
            <a:avLst/>
          </a:prstGeom>
          <a:solidFill>
            <a:srgbClr val="5369DC"/>
          </a:solidFill>
          <a:ln>
            <a:solidFill>
              <a:srgbClr val="5369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2057400"/>
            <a:ext cx="6217920" cy="320040"/>
          </a:xfrm>
          <a:prstGeom prst="rect">
            <a:avLst/>
          </a:prstGeom>
          <a:noFill/>
        </p:spPr>
        <p:txBody>
          <a:bodyPr wrap="square" anchor="t">
            <a:spAutoFit/>
          </a:bodyPr>
          <a:lstStyle/>
          <a:p>
            <a:pPr algn="l"/>
            <a:r>
              <a:rPr sz="1500" b="1">
                <a:solidFill>
                  <a:srgbClr val="162239"/>
                </a:solidFill>
                <a:latin typeface="Aptos"/>
              </a:rPr>
              <a:t>SOLUTION OVERVIEW</a:t>
            </a:r>
          </a:p>
        </p:txBody>
      </p:sp>
      <p:sp>
        <p:nvSpPr>
          <p:cNvPr id="11" name="TextBox 10"/>
          <p:cNvSpPr txBox="1"/>
          <p:nvPr/>
        </p:nvSpPr>
        <p:spPr>
          <a:xfrm>
            <a:off x="859536" y="2496312"/>
            <a:ext cx="6217920" cy="1124712"/>
          </a:xfrm>
          <a:prstGeom prst="rect">
            <a:avLst/>
          </a:prstGeom>
          <a:noFill/>
        </p:spPr>
        <p:txBody>
          <a:bodyPr wrap="square" anchor="t">
            <a:spAutoFit/>
          </a:bodyPr>
          <a:lstStyle/>
          <a:p>
            <a:pPr algn="l"/>
            <a:r>
              <a:rPr sz="1600" b="0">
                <a:solidFill>
                  <a:srgbClr val="394252"/>
                </a:solidFill>
                <a:latin typeface="Aptos"/>
              </a:rPr>
              <a:t>CLINISCOPE reads PDF, scanned, image, TXT and DOCX records (OCR for scans), finds clinical statements with rules, compares them across a case and flags potential conflicts with verified source quotes for human review.</a:t>
            </a:r>
          </a:p>
        </p:txBody>
      </p:sp>
      <p:sp>
        <p:nvSpPr>
          <p:cNvPr id="12" name="Rounded Rectangle 11"/>
          <p:cNvSpPr/>
          <p:nvPr/>
        </p:nvSpPr>
        <p:spPr>
          <a:xfrm>
            <a:off x="7498079" y="1874519"/>
            <a:ext cx="4023360" cy="1874519"/>
          </a:xfrm>
          <a:prstGeom prst="roundRect">
            <a:avLst>
              <a:gd name="adj" fmla="val 12000"/>
            </a:avLst>
          </a:prstGeom>
          <a:solidFill>
            <a:srgbClr val="FFFFFF"/>
          </a:solidFill>
          <a:ln>
            <a:solidFill>
              <a:srgbClr val="DEE3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498079" y="1874519"/>
            <a:ext cx="64008" cy="1874519"/>
          </a:xfrm>
          <a:prstGeom prst="rect">
            <a:avLst/>
          </a:prstGeom>
          <a:solidFill>
            <a:srgbClr val="2DA6A0"/>
          </a:solidFill>
          <a:ln>
            <a:solidFill>
              <a:srgbClr val="2DA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17536" y="2057400"/>
            <a:ext cx="3611880" cy="320040"/>
          </a:xfrm>
          <a:prstGeom prst="rect">
            <a:avLst/>
          </a:prstGeom>
          <a:noFill/>
        </p:spPr>
        <p:txBody>
          <a:bodyPr wrap="square" anchor="t">
            <a:spAutoFit/>
          </a:bodyPr>
          <a:lstStyle/>
          <a:p>
            <a:pPr algn="l"/>
            <a:r>
              <a:rPr sz="1500" b="1">
                <a:solidFill>
                  <a:srgbClr val="162239"/>
                </a:solidFill>
                <a:latin typeface="Aptos"/>
              </a:rPr>
              <a:t>UNIQUE VALUE / USP</a:t>
            </a:r>
          </a:p>
        </p:txBody>
      </p:sp>
      <p:sp>
        <p:nvSpPr>
          <p:cNvPr id="15" name="TextBox 14"/>
          <p:cNvSpPr txBox="1"/>
          <p:nvPr/>
        </p:nvSpPr>
        <p:spPr>
          <a:xfrm>
            <a:off x="7717536" y="2496312"/>
            <a:ext cx="3611880" cy="1124712"/>
          </a:xfrm>
          <a:prstGeom prst="rect">
            <a:avLst/>
          </a:prstGeom>
          <a:noFill/>
        </p:spPr>
        <p:txBody>
          <a:bodyPr wrap="square" anchor="t">
            <a:spAutoFit/>
          </a:bodyPr>
          <a:lstStyle/>
          <a:p>
            <a:pPr algn="l"/>
            <a:r>
              <a:rPr sz="1400" b="0">
                <a:solidFill>
                  <a:srgbClr val="394252"/>
                </a:solidFill>
                <a:latin typeface="Aptos"/>
              </a:rPr>
              <a:t>Every finding links to an exact source quote, with OCR confidence shown. AI suggestions must verify too, and people make the final call.</a:t>
            </a:r>
          </a:p>
        </p:txBody>
      </p:sp>
      <p:sp>
        <p:nvSpPr>
          <p:cNvPr id="16" name="Rounded Rectangle 15"/>
          <p:cNvSpPr/>
          <p:nvPr/>
        </p:nvSpPr>
        <p:spPr>
          <a:xfrm>
            <a:off x="640080" y="3977639"/>
            <a:ext cx="3474720" cy="1417320"/>
          </a:xfrm>
          <a:prstGeom prst="roundRect">
            <a:avLst>
              <a:gd name="adj" fmla="val 12000"/>
            </a:avLst>
          </a:prstGeom>
          <a:solidFill>
            <a:srgbClr val="FFFFFF"/>
          </a:solidFill>
          <a:ln>
            <a:solidFill>
              <a:srgbClr val="DEE3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40080" y="3977639"/>
            <a:ext cx="64008" cy="1417320"/>
          </a:xfrm>
          <a:prstGeom prst="rect">
            <a:avLst/>
          </a:prstGeom>
          <a:solidFill>
            <a:srgbClr val="2DA6A0"/>
          </a:solidFill>
          <a:ln>
            <a:solidFill>
              <a:srgbClr val="2DA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9536" y="4160520"/>
            <a:ext cx="3063239" cy="320040"/>
          </a:xfrm>
          <a:prstGeom prst="rect">
            <a:avLst/>
          </a:prstGeom>
          <a:noFill/>
        </p:spPr>
        <p:txBody>
          <a:bodyPr wrap="square" anchor="t">
            <a:spAutoFit/>
          </a:bodyPr>
          <a:lstStyle/>
          <a:p>
            <a:pPr algn="l"/>
            <a:r>
              <a:rPr sz="1500" b="1">
                <a:solidFill>
                  <a:srgbClr val="162239"/>
                </a:solidFill>
                <a:latin typeface="Aptos"/>
              </a:rPr>
              <a:t>01  DOCUMENT INGESTION</a:t>
            </a:r>
          </a:p>
        </p:txBody>
      </p:sp>
      <p:sp>
        <p:nvSpPr>
          <p:cNvPr id="19" name="TextBox 18"/>
          <p:cNvSpPr txBox="1"/>
          <p:nvPr/>
        </p:nvSpPr>
        <p:spPr>
          <a:xfrm>
            <a:off x="859536" y="4599431"/>
            <a:ext cx="3063239" cy="667512"/>
          </a:xfrm>
          <a:prstGeom prst="rect">
            <a:avLst/>
          </a:prstGeom>
          <a:noFill/>
        </p:spPr>
        <p:txBody>
          <a:bodyPr wrap="square" anchor="t">
            <a:spAutoFit/>
          </a:bodyPr>
          <a:lstStyle/>
          <a:p>
            <a:pPr algn="l"/>
            <a:r>
              <a:rPr sz="1300" b="0">
                <a:solidFill>
                  <a:srgbClr val="394252"/>
                </a:solidFill>
                <a:latin typeface="Aptos"/>
              </a:rPr>
              <a:t>PDF, scans (on-device OCR), images, TXT and DOCX, read in the browser.</a:t>
            </a:r>
          </a:p>
        </p:txBody>
      </p:sp>
      <p:sp>
        <p:nvSpPr>
          <p:cNvPr id="20" name="Rounded Rectangle 19"/>
          <p:cNvSpPr/>
          <p:nvPr/>
        </p:nvSpPr>
        <p:spPr>
          <a:xfrm>
            <a:off x="4343400" y="3977639"/>
            <a:ext cx="3474720" cy="1417320"/>
          </a:xfrm>
          <a:prstGeom prst="roundRect">
            <a:avLst>
              <a:gd name="adj" fmla="val 12000"/>
            </a:avLst>
          </a:prstGeom>
          <a:solidFill>
            <a:srgbClr val="FFFFFF"/>
          </a:solidFill>
          <a:ln>
            <a:solidFill>
              <a:srgbClr val="DEE3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343400" y="3977639"/>
            <a:ext cx="64008" cy="1417320"/>
          </a:xfrm>
          <a:prstGeom prst="rect">
            <a:avLst/>
          </a:prstGeom>
          <a:solidFill>
            <a:srgbClr val="5369DC"/>
          </a:solidFill>
          <a:ln>
            <a:solidFill>
              <a:srgbClr val="5369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62856" y="4160520"/>
            <a:ext cx="3063239" cy="320040"/>
          </a:xfrm>
          <a:prstGeom prst="rect">
            <a:avLst/>
          </a:prstGeom>
          <a:noFill/>
        </p:spPr>
        <p:txBody>
          <a:bodyPr wrap="square" anchor="t">
            <a:spAutoFit/>
          </a:bodyPr>
          <a:lstStyle/>
          <a:p>
            <a:pPr algn="l"/>
            <a:r>
              <a:rPr sz="1500" b="1">
                <a:solidFill>
                  <a:srgbClr val="162239"/>
                </a:solidFill>
                <a:latin typeface="Aptos"/>
              </a:rPr>
              <a:t>02  EVIDENCE DETECTION</a:t>
            </a:r>
          </a:p>
        </p:txBody>
      </p:sp>
      <p:sp>
        <p:nvSpPr>
          <p:cNvPr id="23" name="TextBox 22"/>
          <p:cNvSpPr txBox="1"/>
          <p:nvPr/>
        </p:nvSpPr>
        <p:spPr>
          <a:xfrm>
            <a:off x="4562856" y="4599431"/>
            <a:ext cx="3063239" cy="667512"/>
          </a:xfrm>
          <a:prstGeom prst="rect">
            <a:avLst/>
          </a:prstGeom>
          <a:noFill/>
        </p:spPr>
        <p:txBody>
          <a:bodyPr wrap="square" anchor="t">
            <a:spAutoFit/>
          </a:bodyPr>
          <a:lstStyle/>
          <a:p>
            <a:pPr algn="l"/>
            <a:r>
              <a:rPr sz="1300" b="0">
                <a:solidFill>
                  <a:srgbClr val="394252"/>
                </a:solidFill>
                <a:latin typeface="Aptos"/>
              </a:rPr>
              <a:t>Rules flag conflicts with quotes; optional AI ideas are quote-checked.</a:t>
            </a:r>
          </a:p>
        </p:txBody>
      </p:sp>
      <p:sp>
        <p:nvSpPr>
          <p:cNvPr id="24" name="Rounded Rectangle 23"/>
          <p:cNvSpPr/>
          <p:nvPr/>
        </p:nvSpPr>
        <p:spPr>
          <a:xfrm>
            <a:off x="8046720" y="3977639"/>
            <a:ext cx="3474720" cy="1417320"/>
          </a:xfrm>
          <a:prstGeom prst="roundRect">
            <a:avLst>
              <a:gd name="adj" fmla="val 12000"/>
            </a:avLst>
          </a:prstGeom>
          <a:solidFill>
            <a:srgbClr val="FFFFFF"/>
          </a:solidFill>
          <a:ln>
            <a:solidFill>
              <a:srgbClr val="DEE3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046720" y="3977639"/>
            <a:ext cx="64008" cy="1417320"/>
          </a:xfrm>
          <a:prstGeom prst="rect">
            <a:avLst/>
          </a:prstGeom>
          <a:solidFill>
            <a:srgbClr val="2DA6A0"/>
          </a:solidFill>
          <a:ln>
            <a:solidFill>
              <a:srgbClr val="2DA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66176" y="4160520"/>
            <a:ext cx="3063239" cy="320040"/>
          </a:xfrm>
          <a:prstGeom prst="rect">
            <a:avLst/>
          </a:prstGeom>
          <a:noFill/>
        </p:spPr>
        <p:txBody>
          <a:bodyPr wrap="square" anchor="t">
            <a:spAutoFit/>
          </a:bodyPr>
          <a:lstStyle/>
          <a:p>
            <a:pPr algn="l"/>
            <a:r>
              <a:rPr sz="1500" b="1">
                <a:solidFill>
                  <a:srgbClr val="162239"/>
                </a:solidFill>
                <a:latin typeface="Aptos"/>
              </a:rPr>
              <a:t>03  REVIEW &amp; AUDIT</a:t>
            </a:r>
          </a:p>
        </p:txBody>
      </p:sp>
      <p:sp>
        <p:nvSpPr>
          <p:cNvPr id="27" name="TextBox 26"/>
          <p:cNvSpPr txBox="1"/>
          <p:nvPr/>
        </p:nvSpPr>
        <p:spPr>
          <a:xfrm>
            <a:off x="8266176" y="4599431"/>
            <a:ext cx="3063239" cy="667512"/>
          </a:xfrm>
          <a:prstGeom prst="rect">
            <a:avLst/>
          </a:prstGeom>
          <a:noFill/>
        </p:spPr>
        <p:txBody>
          <a:bodyPr wrap="square" anchor="t">
            <a:spAutoFit/>
          </a:bodyPr>
          <a:lstStyle/>
          <a:p>
            <a:pPr algn="l"/>
            <a:r>
              <a:rPr sz="1300" b="0">
                <a:solidFill>
                  <a:srgbClr val="394252"/>
                </a:solidFill>
                <a:latin typeface="Aptos"/>
              </a:rPr>
              <a:t>Reasons required, audit log, optional shared cases with roles.</a:t>
            </a:r>
          </a:p>
        </p:txBody>
      </p:sp>
      <p:sp>
        <p:nvSpPr>
          <p:cNvPr id="28" name="TextBox 27"/>
          <p:cNvSpPr txBox="1"/>
          <p:nvPr/>
        </p:nvSpPr>
        <p:spPr>
          <a:xfrm>
            <a:off x="777240" y="5687568"/>
            <a:ext cx="10789920" cy="320040"/>
          </a:xfrm>
          <a:prstGeom prst="rect">
            <a:avLst/>
          </a:prstGeom>
          <a:noFill/>
        </p:spPr>
        <p:txBody>
          <a:bodyPr wrap="square" anchor="t">
            <a:spAutoFit/>
          </a:bodyPr>
          <a:lstStyle/>
          <a:p>
            <a:pPr algn="l"/>
            <a:r>
              <a:rPr sz="1400" b="1">
                <a:solidFill>
                  <a:srgbClr val="162239"/>
                </a:solidFill>
                <a:latin typeface="Aptos"/>
              </a:rPr>
              <a:t>EXPECTED BENEFIT:  Conflicts become easier to find and investigate, with evidence and human judgment kept.</a:t>
            </a:r>
          </a:p>
        </p:txBody>
      </p:sp>
      <p:sp>
        <p:nvSpPr>
          <p:cNvPr id="29" name="TextBox 28"/>
          <p:cNvSpPr txBox="1"/>
          <p:nvPr/>
        </p:nvSpPr>
        <p:spPr>
          <a:xfrm>
            <a:off x="621792" y="6510528"/>
            <a:ext cx="5029200" cy="164592"/>
          </a:xfrm>
          <a:prstGeom prst="rect">
            <a:avLst/>
          </a:prstGeom>
          <a:noFill/>
        </p:spPr>
        <p:txBody>
          <a:bodyPr wrap="square" anchor="t">
            <a:spAutoFit/>
          </a:bodyPr>
          <a:lstStyle/>
          <a:p>
            <a:pPr algn="l"/>
            <a:r>
              <a:rPr sz="800" b="1">
                <a:solidFill>
                  <a:srgbClr val="767F90"/>
                </a:solidFill>
                <a:latin typeface="Aptos"/>
              </a:rPr>
              <a:t>CODE FLAYER 2.0  •  CLINISCOPE  •  PS-11R3</a:t>
            </a:r>
          </a:p>
        </p:txBody>
      </p:sp>
      <p:sp>
        <p:nvSpPr>
          <p:cNvPr id="30" name="TextBox 29"/>
          <p:cNvSpPr txBox="1"/>
          <p:nvPr/>
        </p:nvSpPr>
        <p:spPr>
          <a:xfrm>
            <a:off x="11064240" y="6473952"/>
            <a:ext cx="502920" cy="201168"/>
          </a:xfrm>
          <a:prstGeom prst="rect">
            <a:avLst/>
          </a:prstGeom>
          <a:noFill/>
        </p:spPr>
        <p:txBody>
          <a:bodyPr wrap="square" anchor="t">
            <a:spAutoFit/>
          </a:bodyPr>
          <a:lstStyle/>
          <a:p>
            <a:pPr algn="r"/>
            <a:r>
              <a:rPr sz="900" b="1">
                <a:solidFill>
                  <a:srgbClr val="767F90"/>
                </a:solidFill>
                <a:latin typeface="Aptos"/>
              </a:rPr>
              <a:t>03 / 08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9FC"/>
        </a:solidFill>
        <a:effectLst/>
      </p:bgPr>
    </p:bg>
    <p:spTree>
      <p:nvGrpSpPr>
        <p:cNvPr id="1" name=""/>
        <p:cNvGrpSpPr/>
        <p:nvPr/>
      </p:nvGrpSpPr>
      <p:grpSpPr/>
      <p:sp>
        <p:nvSpPr>
          <p:cNvPr id="2" name="TextBox 1"/>
          <p:cNvSpPr txBox="1"/>
          <p:nvPr/>
        </p:nvSpPr>
        <p:spPr>
          <a:xfrm>
            <a:off x="594360" y="320040"/>
            <a:ext cx="1828800" cy="274320"/>
          </a:xfrm>
          <a:prstGeom prst="rect">
            <a:avLst/>
          </a:prstGeom>
          <a:noFill/>
        </p:spPr>
        <p:txBody>
          <a:bodyPr wrap="square" anchor="t">
            <a:spAutoFit/>
          </a:bodyPr>
          <a:lstStyle/>
          <a:p>
            <a:pPr algn="l"/>
            <a:r>
              <a:rPr sz="1000" b="1">
                <a:solidFill>
                  <a:srgbClr val="5369DC"/>
                </a:solidFill>
                <a:latin typeface="Aptos"/>
              </a:rPr>
              <a:t>PROJECT PITCH  /  04</a:t>
            </a:r>
          </a:p>
        </p:txBody>
      </p:sp>
      <p:sp>
        <p:nvSpPr>
          <p:cNvPr id="3" name="TextBox 2"/>
          <p:cNvSpPr txBox="1"/>
          <p:nvPr/>
        </p:nvSpPr>
        <p:spPr>
          <a:xfrm>
            <a:off x="594360" y="713232"/>
            <a:ext cx="10972800" cy="502920"/>
          </a:xfrm>
          <a:prstGeom prst="rect">
            <a:avLst/>
          </a:prstGeom>
          <a:noFill/>
        </p:spPr>
        <p:txBody>
          <a:bodyPr wrap="square" anchor="t">
            <a:spAutoFit/>
          </a:bodyPr>
          <a:lstStyle/>
          <a:p>
            <a:pPr algn="l"/>
            <a:r>
              <a:rPr sz="2800" b="1">
                <a:solidFill>
                  <a:srgbClr val="162239"/>
                </a:solidFill>
                <a:latin typeface="Aptos"/>
              </a:rPr>
              <a:t>Technical Approach &amp; Architecture</a:t>
            </a:r>
          </a:p>
        </p:txBody>
      </p:sp>
      <p:sp>
        <p:nvSpPr>
          <p:cNvPr id="4" name="TextBox 3"/>
          <p:cNvSpPr txBox="1"/>
          <p:nvPr/>
        </p:nvSpPr>
        <p:spPr>
          <a:xfrm>
            <a:off x="621792" y="1261872"/>
            <a:ext cx="10881360" cy="320040"/>
          </a:xfrm>
          <a:prstGeom prst="rect">
            <a:avLst/>
          </a:prstGeom>
          <a:noFill/>
        </p:spPr>
        <p:txBody>
          <a:bodyPr wrap="square" anchor="t">
            <a:spAutoFit/>
          </a:bodyPr>
          <a:lstStyle/>
          <a:p>
            <a:pPr algn="l"/>
            <a:r>
              <a:rPr sz="1200" b="0">
                <a:solidFill>
                  <a:srgbClr val="767F90"/>
                </a:solidFill>
                <a:latin typeface="Aptos"/>
              </a:rPr>
              <a:t>Browser app with on-device OCR. An optional Node API adds shared cases and AI (not yet publicly hosted).</a:t>
            </a:r>
          </a:p>
        </p:txBody>
      </p:sp>
      <p:sp>
        <p:nvSpPr>
          <p:cNvPr id="5" name="Rectangle 4"/>
          <p:cNvSpPr/>
          <p:nvPr/>
        </p:nvSpPr>
        <p:spPr>
          <a:xfrm>
            <a:off x="10835640" y="384048"/>
            <a:ext cx="320040" cy="73152"/>
          </a:xfrm>
          <a:prstGeom prst="rect">
            <a:avLst/>
          </a:prstGeom>
          <a:solidFill>
            <a:srgbClr val="5369DC"/>
          </a:solidFill>
          <a:ln>
            <a:solidFill>
              <a:srgbClr val="5369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1228832" y="384048"/>
            <a:ext cx="320040" cy="73152"/>
          </a:xfrm>
          <a:prstGeom prst="rect">
            <a:avLst/>
          </a:prstGeom>
          <a:solidFill>
            <a:srgbClr val="2DA6A0"/>
          </a:solidFill>
          <a:ln>
            <a:solidFill>
              <a:srgbClr val="2DA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622024" y="384048"/>
            <a:ext cx="0" cy="73152"/>
          </a:xfrm>
          <a:prstGeom prst="rect">
            <a:avLst/>
          </a:prstGeom>
          <a:solidFill>
            <a:srgbClr val="162239"/>
          </a:solidFill>
          <a:ln>
            <a:solidFill>
              <a:srgbClr val="16223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85800" y="2057400"/>
            <a:ext cx="1645920" cy="1051560"/>
          </a:xfrm>
          <a:prstGeom prst="roundRect">
            <a:avLst>
              <a:gd name="adj" fmla="val 12000"/>
            </a:avLst>
          </a:prstGeom>
          <a:solidFill>
            <a:srgbClr val="FFFFFF"/>
          </a:solidFill>
          <a:ln>
            <a:solidFill>
              <a:srgbClr val="DEE3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5528" y="2267712"/>
            <a:ext cx="1426464" cy="256032"/>
          </a:xfrm>
          <a:prstGeom prst="rect">
            <a:avLst/>
          </a:prstGeom>
          <a:noFill/>
        </p:spPr>
        <p:txBody>
          <a:bodyPr wrap="square" anchor="t">
            <a:spAutoFit/>
          </a:bodyPr>
          <a:lstStyle/>
          <a:p>
            <a:pPr algn="ctr"/>
            <a:r>
              <a:rPr sz="1100" b="1">
                <a:solidFill>
                  <a:srgbClr val="5369DC"/>
                </a:solidFill>
                <a:latin typeface="Aptos"/>
              </a:rPr>
              <a:t>USER INPUT</a:t>
            </a:r>
          </a:p>
        </p:txBody>
      </p:sp>
      <p:sp>
        <p:nvSpPr>
          <p:cNvPr id="10" name="TextBox 9"/>
          <p:cNvSpPr txBox="1"/>
          <p:nvPr/>
        </p:nvSpPr>
        <p:spPr>
          <a:xfrm>
            <a:off x="795528" y="2633472"/>
            <a:ext cx="1426464" cy="228600"/>
          </a:xfrm>
          <a:prstGeom prst="rect">
            <a:avLst/>
          </a:prstGeom>
          <a:noFill/>
        </p:spPr>
        <p:txBody>
          <a:bodyPr wrap="square" anchor="t">
            <a:spAutoFit/>
          </a:bodyPr>
          <a:lstStyle/>
          <a:p>
            <a:pPr algn="ctr"/>
            <a:r>
              <a:rPr sz="1000" b="0">
                <a:solidFill>
                  <a:srgbClr val="394252"/>
                </a:solidFill>
                <a:latin typeface="Aptos"/>
              </a:rPr>
              <a:t>PDF · scans · DOCX</a:t>
            </a:r>
          </a:p>
        </p:txBody>
      </p:sp>
      <p:sp>
        <p:nvSpPr>
          <p:cNvPr id="11" name="TextBox 10"/>
          <p:cNvSpPr txBox="1"/>
          <p:nvPr/>
        </p:nvSpPr>
        <p:spPr>
          <a:xfrm>
            <a:off x="2404872" y="2359152"/>
            <a:ext cx="502920" cy="320040"/>
          </a:xfrm>
          <a:prstGeom prst="rect">
            <a:avLst/>
          </a:prstGeom>
          <a:noFill/>
        </p:spPr>
        <p:txBody>
          <a:bodyPr wrap="square" anchor="t">
            <a:spAutoFit/>
          </a:bodyPr>
          <a:lstStyle/>
          <a:p>
            <a:pPr algn="ctr"/>
            <a:r>
              <a:rPr sz="2200" b="1">
                <a:solidFill>
                  <a:srgbClr val="767F90"/>
                </a:solidFill>
                <a:latin typeface="Aptos"/>
              </a:rPr>
              <a:t>→</a:t>
            </a:r>
          </a:p>
        </p:txBody>
      </p:sp>
      <p:sp>
        <p:nvSpPr>
          <p:cNvPr id="12" name="Rounded Rectangle 11"/>
          <p:cNvSpPr/>
          <p:nvPr/>
        </p:nvSpPr>
        <p:spPr>
          <a:xfrm>
            <a:off x="2971800" y="2057400"/>
            <a:ext cx="1645920" cy="1051560"/>
          </a:xfrm>
          <a:prstGeom prst="roundRect">
            <a:avLst>
              <a:gd name="adj" fmla="val 12000"/>
            </a:avLst>
          </a:prstGeom>
          <a:solidFill>
            <a:srgbClr val="FFFFFF"/>
          </a:solidFill>
          <a:ln>
            <a:solidFill>
              <a:srgbClr val="DEE3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081528" y="2267712"/>
            <a:ext cx="1426464" cy="256032"/>
          </a:xfrm>
          <a:prstGeom prst="rect">
            <a:avLst/>
          </a:prstGeom>
          <a:noFill/>
        </p:spPr>
        <p:txBody>
          <a:bodyPr wrap="square" anchor="t">
            <a:spAutoFit/>
          </a:bodyPr>
          <a:lstStyle/>
          <a:p>
            <a:pPr algn="ctr"/>
            <a:r>
              <a:rPr sz="1100" b="1">
                <a:solidFill>
                  <a:srgbClr val="2DA6A0"/>
                </a:solidFill>
                <a:latin typeface="Aptos"/>
              </a:rPr>
              <a:t>FRONTEND</a:t>
            </a:r>
          </a:p>
        </p:txBody>
      </p:sp>
      <p:sp>
        <p:nvSpPr>
          <p:cNvPr id="14" name="TextBox 13"/>
          <p:cNvSpPr txBox="1"/>
          <p:nvPr/>
        </p:nvSpPr>
        <p:spPr>
          <a:xfrm>
            <a:off x="3081528" y="2633472"/>
            <a:ext cx="1426464" cy="228600"/>
          </a:xfrm>
          <a:prstGeom prst="rect">
            <a:avLst/>
          </a:prstGeom>
          <a:noFill/>
        </p:spPr>
        <p:txBody>
          <a:bodyPr wrap="square" anchor="t">
            <a:spAutoFit/>
          </a:bodyPr>
          <a:lstStyle/>
          <a:p>
            <a:pPr algn="ctr"/>
            <a:r>
              <a:rPr sz="1000" b="0">
                <a:solidFill>
                  <a:srgbClr val="394252"/>
                </a:solidFill>
                <a:latin typeface="Aptos"/>
              </a:rPr>
              <a:t>React + TypeScript</a:t>
            </a:r>
          </a:p>
        </p:txBody>
      </p:sp>
      <p:sp>
        <p:nvSpPr>
          <p:cNvPr id="15" name="TextBox 14"/>
          <p:cNvSpPr txBox="1"/>
          <p:nvPr/>
        </p:nvSpPr>
        <p:spPr>
          <a:xfrm>
            <a:off x="4690872" y="2359152"/>
            <a:ext cx="502920" cy="320040"/>
          </a:xfrm>
          <a:prstGeom prst="rect">
            <a:avLst/>
          </a:prstGeom>
          <a:noFill/>
        </p:spPr>
        <p:txBody>
          <a:bodyPr wrap="square" anchor="t">
            <a:spAutoFit/>
          </a:bodyPr>
          <a:lstStyle/>
          <a:p>
            <a:pPr algn="ctr"/>
            <a:r>
              <a:rPr sz="2200" b="1">
                <a:solidFill>
                  <a:srgbClr val="767F90"/>
                </a:solidFill>
                <a:latin typeface="Aptos"/>
              </a:rPr>
              <a:t>→</a:t>
            </a:r>
          </a:p>
        </p:txBody>
      </p:sp>
      <p:sp>
        <p:nvSpPr>
          <p:cNvPr id="16" name="Rounded Rectangle 15"/>
          <p:cNvSpPr/>
          <p:nvPr/>
        </p:nvSpPr>
        <p:spPr>
          <a:xfrm>
            <a:off x="5257800" y="2057400"/>
            <a:ext cx="1645920" cy="1051560"/>
          </a:xfrm>
          <a:prstGeom prst="roundRect">
            <a:avLst>
              <a:gd name="adj" fmla="val 12000"/>
            </a:avLst>
          </a:prstGeom>
          <a:solidFill>
            <a:srgbClr val="FFFFFF"/>
          </a:solidFill>
          <a:ln>
            <a:solidFill>
              <a:srgbClr val="DEE3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67528" y="2267712"/>
            <a:ext cx="1426464" cy="256032"/>
          </a:xfrm>
          <a:prstGeom prst="rect">
            <a:avLst/>
          </a:prstGeom>
          <a:noFill/>
        </p:spPr>
        <p:txBody>
          <a:bodyPr wrap="square" anchor="t">
            <a:spAutoFit/>
          </a:bodyPr>
          <a:lstStyle/>
          <a:p>
            <a:pPr algn="ctr"/>
            <a:r>
              <a:rPr sz="1100" b="1">
                <a:solidFill>
                  <a:srgbClr val="5369DC"/>
                </a:solidFill>
                <a:latin typeface="Aptos"/>
              </a:rPr>
              <a:t>OPTIONAL API</a:t>
            </a:r>
          </a:p>
        </p:txBody>
      </p:sp>
      <p:sp>
        <p:nvSpPr>
          <p:cNvPr id="18" name="TextBox 17"/>
          <p:cNvSpPr txBox="1"/>
          <p:nvPr/>
        </p:nvSpPr>
        <p:spPr>
          <a:xfrm>
            <a:off x="5367528" y="2633472"/>
            <a:ext cx="1426464" cy="228600"/>
          </a:xfrm>
          <a:prstGeom prst="rect">
            <a:avLst/>
          </a:prstGeom>
          <a:noFill/>
        </p:spPr>
        <p:txBody>
          <a:bodyPr wrap="square" anchor="t">
            <a:spAutoFit/>
          </a:bodyPr>
          <a:lstStyle/>
          <a:p>
            <a:pPr algn="ctr"/>
            <a:r>
              <a:rPr sz="1000" b="0">
                <a:solidFill>
                  <a:srgbClr val="394252"/>
                </a:solidFill>
                <a:latin typeface="Aptos"/>
              </a:rPr>
              <a:t>Node + SQLite</a:t>
            </a:r>
          </a:p>
        </p:txBody>
      </p:sp>
      <p:sp>
        <p:nvSpPr>
          <p:cNvPr id="19" name="TextBox 18"/>
          <p:cNvSpPr txBox="1"/>
          <p:nvPr/>
        </p:nvSpPr>
        <p:spPr>
          <a:xfrm>
            <a:off x="6976872" y="2359152"/>
            <a:ext cx="502920" cy="320040"/>
          </a:xfrm>
          <a:prstGeom prst="rect">
            <a:avLst/>
          </a:prstGeom>
          <a:noFill/>
        </p:spPr>
        <p:txBody>
          <a:bodyPr wrap="square" anchor="t">
            <a:spAutoFit/>
          </a:bodyPr>
          <a:lstStyle/>
          <a:p>
            <a:pPr algn="ctr"/>
            <a:r>
              <a:rPr sz="2200" b="1">
                <a:solidFill>
                  <a:srgbClr val="767F90"/>
                </a:solidFill>
                <a:latin typeface="Aptos"/>
              </a:rPr>
              <a:t>→</a:t>
            </a:r>
          </a:p>
        </p:txBody>
      </p:sp>
      <p:sp>
        <p:nvSpPr>
          <p:cNvPr id="20" name="Rounded Rectangle 19"/>
          <p:cNvSpPr/>
          <p:nvPr/>
        </p:nvSpPr>
        <p:spPr>
          <a:xfrm>
            <a:off x="7543800" y="2057400"/>
            <a:ext cx="1645920" cy="1051560"/>
          </a:xfrm>
          <a:prstGeom prst="roundRect">
            <a:avLst>
              <a:gd name="adj" fmla="val 12000"/>
            </a:avLst>
          </a:prstGeom>
          <a:solidFill>
            <a:srgbClr val="FFFFFF"/>
          </a:solidFill>
          <a:ln>
            <a:solidFill>
              <a:srgbClr val="DEE3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653527" y="2267712"/>
            <a:ext cx="1426464" cy="256032"/>
          </a:xfrm>
          <a:prstGeom prst="rect">
            <a:avLst/>
          </a:prstGeom>
          <a:noFill/>
        </p:spPr>
        <p:txBody>
          <a:bodyPr wrap="square" anchor="t">
            <a:spAutoFit/>
          </a:bodyPr>
          <a:lstStyle/>
          <a:p>
            <a:pPr algn="ctr"/>
            <a:r>
              <a:rPr sz="1100" b="1">
                <a:solidFill>
                  <a:srgbClr val="2DA6A0"/>
                </a:solidFill>
                <a:latin typeface="Aptos"/>
              </a:rPr>
              <a:t>PROCESSING</a:t>
            </a:r>
          </a:p>
        </p:txBody>
      </p:sp>
      <p:sp>
        <p:nvSpPr>
          <p:cNvPr id="22" name="TextBox 21"/>
          <p:cNvSpPr txBox="1"/>
          <p:nvPr/>
        </p:nvSpPr>
        <p:spPr>
          <a:xfrm>
            <a:off x="7653527" y="2633472"/>
            <a:ext cx="1426464" cy="228600"/>
          </a:xfrm>
          <a:prstGeom prst="rect">
            <a:avLst/>
          </a:prstGeom>
          <a:noFill/>
        </p:spPr>
        <p:txBody>
          <a:bodyPr wrap="square" anchor="t">
            <a:spAutoFit/>
          </a:bodyPr>
          <a:lstStyle/>
          <a:p>
            <a:pPr algn="ctr"/>
            <a:r>
              <a:rPr sz="1000" b="0">
                <a:solidFill>
                  <a:srgbClr val="394252"/>
                </a:solidFill>
                <a:latin typeface="Aptos"/>
              </a:rPr>
              <a:t>OCR · rules · AI</a:t>
            </a:r>
          </a:p>
        </p:txBody>
      </p:sp>
      <p:sp>
        <p:nvSpPr>
          <p:cNvPr id="23" name="TextBox 22"/>
          <p:cNvSpPr txBox="1"/>
          <p:nvPr/>
        </p:nvSpPr>
        <p:spPr>
          <a:xfrm>
            <a:off x="9262872" y="2359152"/>
            <a:ext cx="502920" cy="320040"/>
          </a:xfrm>
          <a:prstGeom prst="rect">
            <a:avLst/>
          </a:prstGeom>
          <a:noFill/>
        </p:spPr>
        <p:txBody>
          <a:bodyPr wrap="square" anchor="t">
            <a:spAutoFit/>
          </a:bodyPr>
          <a:lstStyle/>
          <a:p>
            <a:pPr algn="ctr"/>
            <a:r>
              <a:rPr sz="2200" b="1">
                <a:solidFill>
                  <a:srgbClr val="767F90"/>
                </a:solidFill>
                <a:latin typeface="Aptos"/>
              </a:rPr>
              <a:t>→</a:t>
            </a:r>
          </a:p>
        </p:txBody>
      </p:sp>
      <p:sp>
        <p:nvSpPr>
          <p:cNvPr id="24" name="Rounded Rectangle 23"/>
          <p:cNvSpPr/>
          <p:nvPr/>
        </p:nvSpPr>
        <p:spPr>
          <a:xfrm>
            <a:off x="9829800" y="2057400"/>
            <a:ext cx="1645920" cy="1051560"/>
          </a:xfrm>
          <a:prstGeom prst="roundRect">
            <a:avLst>
              <a:gd name="adj" fmla="val 12000"/>
            </a:avLst>
          </a:prstGeom>
          <a:solidFill>
            <a:srgbClr val="FFFFFF"/>
          </a:solidFill>
          <a:ln>
            <a:solidFill>
              <a:srgbClr val="DEE3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39528" y="2267712"/>
            <a:ext cx="1426464" cy="256032"/>
          </a:xfrm>
          <a:prstGeom prst="rect">
            <a:avLst/>
          </a:prstGeom>
          <a:noFill/>
        </p:spPr>
        <p:txBody>
          <a:bodyPr wrap="square" anchor="t">
            <a:spAutoFit/>
          </a:bodyPr>
          <a:lstStyle/>
          <a:p>
            <a:pPr algn="ctr"/>
            <a:r>
              <a:rPr sz="1100" b="1">
                <a:solidFill>
                  <a:srgbClr val="5369DC"/>
                </a:solidFill>
                <a:latin typeface="Aptos"/>
              </a:rPr>
              <a:t>OUTPUT</a:t>
            </a:r>
          </a:p>
        </p:txBody>
      </p:sp>
      <p:sp>
        <p:nvSpPr>
          <p:cNvPr id="26" name="TextBox 25"/>
          <p:cNvSpPr txBox="1"/>
          <p:nvPr/>
        </p:nvSpPr>
        <p:spPr>
          <a:xfrm>
            <a:off x="9939528" y="2633472"/>
            <a:ext cx="1426464" cy="228600"/>
          </a:xfrm>
          <a:prstGeom prst="rect">
            <a:avLst/>
          </a:prstGeom>
          <a:noFill/>
        </p:spPr>
        <p:txBody>
          <a:bodyPr wrap="square" anchor="t">
            <a:spAutoFit/>
          </a:bodyPr>
          <a:lstStyle/>
          <a:p>
            <a:pPr algn="ctr"/>
            <a:r>
              <a:rPr sz="1000" b="0">
                <a:solidFill>
                  <a:srgbClr val="394252"/>
                </a:solidFill>
                <a:latin typeface="Aptos"/>
              </a:rPr>
              <a:t>Evidence findings</a:t>
            </a:r>
          </a:p>
        </p:txBody>
      </p:sp>
      <p:sp>
        <p:nvSpPr>
          <p:cNvPr id="27" name="Rounded Rectangle 26"/>
          <p:cNvSpPr/>
          <p:nvPr/>
        </p:nvSpPr>
        <p:spPr>
          <a:xfrm>
            <a:off x="685800" y="3703320"/>
            <a:ext cx="5349240" cy="1463040"/>
          </a:xfrm>
          <a:prstGeom prst="roundRect">
            <a:avLst>
              <a:gd name="adj" fmla="val 12000"/>
            </a:avLst>
          </a:prstGeom>
          <a:solidFill>
            <a:srgbClr val="FFFFFF"/>
          </a:solidFill>
          <a:ln>
            <a:solidFill>
              <a:srgbClr val="DEE3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85800" y="3703320"/>
            <a:ext cx="64008" cy="1463040"/>
          </a:xfrm>
          <a:prstGeom prst="rect">
            <a:avLst/>
          </a:prstGeom>
          <a:solidFill>
            <a:srgbClr val="5369DC"/>
          </a:solidFill>
          <a:ln>
            <a:solidFill>
              <a:srgbClr val="5369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05256" y="3886200"/>
            <a:ext cx="4937759" cy="320040"/>
          </a:xfrm>
          <a:prstGeom prst="rect">
            <a:avLst/>
          </a:prstGeom>
          <a:noFill/>
        </p:spPr>
        <p:txBody>
          <a:bodyPr wrap="square" anchor="t">
            <a:spAutoFit/>
          </a:bodyPr>
          <a:lstStyle/>
          <a:p>
            <a:pPr algn="l"/>
            <a:r>
              <a:rPr sz="1500" b="1">
                <a:solidFill>
                  <a:srgbClr val="162239"/>
                </a:solidFill>
                <a:latin typeface="Aptos"/>
              </a:rPr>
              <a:t>SYSTEM COMPONENTS</a:t>
            </a:r>
          </a:p>
        </p:txBody>
      </p:sp>
      <p:sp>
        <p:nvSpPr>
          <p:cNvPr id="30" name="TextBox 29"/>
          <p:cNvSpPr txBox="1"/>
          <p:nvPr/>
        </p:nvSpPr>
        <p:spPr>
          <a:xfrm>
            <a:off x="905256" y="4325112"/>
            <a:ext cx="4937759" cy="713232"/>
          </a:xfrm>
          <a:prstGeom prst="rect">
            <a:avLst/>
          </a:prstGeom>
          <a:noFill/>
        </p:spPr>
        <p:txBody>
          <a:bodyPr wrap="square" anchor="t">
            <a:spAutoFit/>
          </a:bodyPr>
          <a:lstStyle/>
          <a:p>
            <a:pPr algn="l"/>
            <a:r>
              <a:rPr sz="1400" b="0">
                <a:solidFill>
                  <a:srgbClr val="394252"/>
                </a:solidFill>
                <a:latin typeface="Aptos"/>
              </a:rPr>
              <a:t>OCR (Tesseract.js), pdf.js, mammoth → statement rules → detection → optional AI → quote check → review, stored in IndexedDB or SQLite.</a:t>
            </a:r>
          </a:p>
        </p:txBody>
      </p:sp>
      <p:sp>
        <p:nvSpPr>
          <p:cNvPr id="31" name="Rounded Rectangle 30"/>
          <p:cNvSpPr/>
          <p:nvPr/>
        </p:nvSpPr>
        <p:spPr>
          <a:xfrm>
            <a:off x="6217920" y="3703320"/>
            <a:ext cx="5303520" cy="1463040"/>
          </a:xfrm>
          <a:prstGeom prst="roundRect">
            <a:avLst>
              <a:gd name="adj" fmla="val 12000"/>
            </a:avLst>
          </a:prstGeom>
          <a:solidFill>
            <a:srgbClr val="FFFFFF"/>
          </a:solidFill>
          <a:ln>
            <a:solidFill>
              <a:srgbClr val="DEE3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217920" y="3703320"/>
            <a:ext cx="64008" cy="1463040"/>
          </a:xfrm>
          <a:prstGeom prst="rect">
            <a:avLst/>
          </a:prstGeom>
          <a:solidFill>
            <a:srgbClr val="2DA6A0"/>
          </a:solidFill>
          <a:ln>
            <a:solidFill>
              <a:srgbClr val="2DA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37376" y="3886200"/>
            <a:ext cx="4892040" cy="320040"/>
          </a:xfrm>
          <a:prstGeom prst="rect">
            <a:avLst/>
          </a:prstGeom>
          <a:noFill/>
        </p:spPr>
        <p:txBody>
          <a:bodyPr wrap="square" anchor="t">
            <a:spAutoFit/>
          </a:bodyPr>
          <a:lstStyle/>
          <a:p>
            <a:pPr algn="l"/>
            <a:r>
              <a:rPr sz="1500" b="1">
                <a:solidFill>
                  <a:srgbClr val="162239"/>
                </a:solidFill>
                <a:latin typeface="Aptos"/>
              </a:rPr>
              <a:t>DATA FLOW &amp; VALIDATION</a:t>
            </a:r>
          </a:p>
        </p:txBody>
      </p:sp>
      <p:sp>
        <p:nvSpPr>
          <p:cNvPr id="34" name="TextBox 33"/>
          <p:cNvSpPr txBox="1"/>
          <p:nvPr/>
        </p:nvSpPr>
        <p:spPr>
          <a:xfrm>
            <a:off x="6437376" y="4325112"/>
            <a:ext cx="4892040" cy="713232"/>
          </a:xfrm>
          <a:prstGeom prst="rect">
            <a:avLst/>
          </a:prstGeom>
          <a:noFill/>
        </p:spPr>
        <p:txBody>
          <a:bodyPr wrap="square" anchor="t">
            <a:spAutoFit/>
          </a:bodyPr>
          <a:lstStyle/>
          <a:p>
            <a:pPr algn="l"/>
            <a:r>
              <a:rPr sz="1400" b="0">
                <a:solidFill>
                  <a:srgbClr val="394252"/>
                </a:solidFill>
                <a:latin typeface="Aptos"/>
              </a:rPr>
              <a:t>Uploads are type- and size-checked. Any finding, AI included, is kept only if its quotes match the source; low OCR confidence lowers evidence.</a:t>
            </a:r>
          </a:p>
        </p:txBody>
      </p:sp>
      <p:sp>
        <p:nvSpPr>
          <p:cNvPr id="35" name="TextBox 34"/>
          <p:cNvSpPr txBox="1"/>
          <p:nvPr/>
        </p:nvSpPr>
        <p:spPr>
          <a:xfrm>
            <a:off x="777240" y="5532120"/>
            <a:ext cx="10698480" cy="384048"/>
          </a:xfrm>
          <a:prstGeom prst="rect">
            <a:avLst/>
          </a:prstGeom>
          <a:noFill/>
        </p:spPr>
        <p:txBody>
          <a:bodyPr wrap="square" anchor="t">
            <a:spAutoFit/>
          </a:bodyPr>
          <a:lstStyle/>
          <a:p>
            <a:pPr algn="l"/>
            <a:r>
              <a:rPr sz="1400" b="1">
                <a:solidFill>
                  <a:srgbClr val="162239"/>
                </a:solidFill>
                <a:latin typeface="Aptos"/>
              </a:rPr>
              <a:t>ARCHITECTURE NOTE:  Works fully in the browser; the server and AI are optional, separately tested add-ons.</a:t>
            </a:r>
          </a:p>
        </p:txBody>
      </p:sp>
      <p:sp>
        <p:nvSpPr>
          <p:cNvPr id="36" name="TextBox 35"/>
          <p:cNvSpPr txBox="1"/>
          <p:nvPr/>
        </p:nvSpPr>
        <p:spPr>
          <a:xfrm>
            <a:off x="621792" y="6510528"/>
            <a:ext cx="5029200" cy="164592"/>
          </a:xfrm>
          <a:prstGeom prst="rect">
            <a:avLst/>
          </a:prstGeom>
          <a:noFill/>
        </p:spPr>
        <p:txBody>
          <a:bodyPr wrap="square" anchor="t">
            <a:spAutoFit/>
          </a:bodyPr>
          <a:lstStyle/>
          <a:p>
            <a:pPr algn="l"/>
            <a:r>
              <a:rPr sz="800" b="1">
                <a:solidFill>
                  <a:srgbClr val="767F90"/>
                </a:solidFill>
                <a:latin typeface="Aptos"/>
              </a:rPr>
              <a:t>CODE FLAYER 2.0  •  CLINISCOPE  •  PS-11R3</a:t>
            </a:r>
          </a:p>
        </p:txBody>
      </p:sp>
      <p:sp>
        <p:nvSpPr>
          <p:cNvPr id="37" name="TextBox 36"/>
          <p:cNvSpPr txBox="1"/>
          <p:nvPr/>
        </p:nvSpPr>
        <p:spPr>
          <a:xfrm>
            <a:off x="11064240" y="6473952"/>
            <a:ext cx="502920" cy="201168"/>
          </a:xfrm>
          <a:prstGeom prst="rect">
            <a:avLst/>
          </a:prstGeom>
          <a:noFill/>
        </p:spPr>
        <p:txBody>
          <a:bodyPr wrap="square" anchor="t">
            <a:spAutoFit/>
          </a:bodyPr>
          <a:lstStyle/>
          <a:p>
            <a:pPr algn="r"/>
            <a:r>
              <a:rPr sz="900" b="1">
                <a:solidFill>
                  <a:srgbClr val="767F90"/>
                </a:solidFill>
                <a:latin typeface="Aptos"/>
              </a:rPr>
              <a:t>04 / 08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9FC"/>
        </a:solidFill>
        <a:effectLst/>
      </p:bgPr>
    </p:bg>
    <p:spTree>
      <p:nvGrpSpPr>
        <p:cNvPr id="1" name=""/>
        <p:cNvGrpSpPr/>
        <p:nvPr/>
      </p:nvGrpSpPr>
      <p:grpSpPr/>
      <p:sp>
        <p:nvSpPr>
          <p:cNvPr id="2" name="TextBox 1"/>
          <p:cNvSpPr txBox="1"/>
          <p:nvPr/>
        </p:nvSpPr>
        <p:spPr>
          <a:xfrm>
            <a:off x="594360" y="320040"/>
            <a:ext cx="1828800" cy="274320"/>
          </a:xfrm>
          <a:prstGeom prst="rect">
            <a:avLst/>
          </a:prstGeom>
          <a:noFill/>
        </p:spPr>
        <p:txBody>
          <a:bodyPr wrap="square" anchor="t">
            <a:spAutoFit/>
          </a:bodyPr>
          <a:lstStyle/>
          <a:p>
            <a:pPr algn="l"/>
            <a:r>
              <a:rPr sz="1000" b="1">
                <a:solidFill>
                  <a:srgbClr val="5369DC"/>
                </a:solidFill>
                <a:latin typeface="Aptos"/>
              </a:rPr>
              <a:t>PROJECT PITCH  /  05</a:t>
            </a:r>
          </a:p>
        </p:txBody>
      </p:sp>
      <p:sp>
        <p:nvSpPr>
          <p:cNvPr id="3" name="TextBox 2"/>
          <p:cNvSpPr txBox="1"/>
          <p:nvPr/>
        </p:nvSpPr>
        <p:spPr>
          <a:xfrm>
            <a:off x="594360" y="713232"/>
            <a:ext cx="10972800" cy="502920"/>
          </a:xfrm>
          <a:prstGeom prst="rect">
            <a:avLst/>
          </a:prstGeom>
          <a:noFill/>
        </p:spPr>
        <p:txBody>
          <a:bodyPr wrap="square" anchor="t">
            <a:spAutoFit/>
          </a:bodyPr>
          <a:lstStyle/>
          <a:p>
            <a:pPr algn="l"/>
            <a:r>
              <a:rPr sz="2800" b="1">
                <a:solidFill>
                  <a:srgbClr val="162239"/>
                </a:solidFill>
                <a:latin typeface="Aptos"/>
              </a:rPr>
              <a:t>Technology Stack</a:t>
            </a:r>
          </a:p>
        </p:txBody>
      </p:sp>
      <p:sp>
        <p:nvSpPr>
          <p:cNvPr id="4" name="TextBox 3"/>
          <p:cNvSpPr txBox="1"/>
          <p:nvPr/>
        </p:nvSpPr>
        <p:spPr>
          <a:xfrm>
            <a:off x="621792" y="1261872"/>
            <a:ext cx="10881360" cy="320040"/>
          </a:xfrm>
          <a:prstGeom prst="rect">
            <a:avLst/>
          </a:prstGeom>
          <a:noFill/>
        </p:spPr>
        <p:txBody>
          <a:bodyPr wrap="square" anchor="t">
            <a:spAutoFit/>
          </a:bodyPr>
          <a:lstStyle/>
          <a:p>
            <a:pPr algn="l"/>
            <a:r>
              <a:rPr sz="1200" b="0">
                <a:solidFill>
                  <a:srgbClr val="767F90"/>
                </a:solidFill>
                <a:latin typeface="Aptos"/>
              </a:rPr>
              <a:t>Technologies verified in package.json and the CI workflow, and the role each one plays.</a:t>
            </a:r>
          </a:p>
        </p:txBody>
      </p:sp>
      <p:sp>
        <p:nvSpPr>
          <p:cNvPr id="5" name="Rectangle 4"/>
          <p:cNvSpPr/>
          <p:nvPr/>
        </p:nvSpPr>
        <p:spPr>
          <a:xfrm>
            <a:off x="10835640" y="384048"/>
            <a:ext cx="320040" cy="73152"/>
          </a:xfrm>
          <a:prstGeom prst="rect">
            <a:avLst/>
          </a:prstGeom>
          <a:solidFill>
            <a:srgbClr val="5369DC"/>
          </a:solidFill>
          <a:ln>
            <a:solidFill>
              <a:srgbClr val="5369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1228832" y="384048"/>
            <a:ext cx="320040" cy="73152"/>
          </a:xfrm>
          <a:prstGeom prst="rect">
            <a:avLst/>
          </a:prstGeom>
          <a:solidFill>
            <a:srgbClr val="2DA6A0"/>
          </a:solidFill>
          <a:ln>
            <a:solidFill>
              <a:srgbClr val="2DA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622024" y="384048"/>
            <a:ext cx="0" cy="73152"/>
          </a:xfrm>
          <a:prstGeom prst="rect">
            <a:avLst/>
          </a:prstGeom>
          <a:solidFill>
            <a:srgbClr val="162239"/>
          </a:solidFill>
          <a:ln>
            <a:solidFill>
              <a:srgbClr val="16223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40080" y="1874519"/>
            <a:ext cx="3474720" cy="1371600"/>
          </a:xfrm>
          <a:prstGeom prst="roundRect">
            <a:avLst>
              <a:gd name="adj" fmla="val 12000"/>
            </a:avLst>
          </a:prstGeom>
          <a:solidFill>
            <a:srgbClr val="FFFFFF"/>
          </a:solidFill>
          <a:ln>
            <a:solidFill>
              <a:srgbClr val="DEE3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40080" y="1874519"/>
            <a:ext cx="64008" cy="1371600"/>
          </a:xfrm>
          <a:prstGeom prst="rect">
            <a:avLst/>
          </a:prstGeom>
          <a:solidFill>
            <a:srgbClr val="5369DC"/>
          </a:solidFill>
          <a:ln>
            <a:solidFill>
              <a:srgbClr val="5369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2057400"/>
            <a:ext cx="3063239" cy="320040"/>
          </a:xfrm>
          <a:prstGeom prst="rect">
            <a:avLst/>
          </a:prstGeom>
          <a:noFill/>
        </p:spPr>
        <p:txBody>
          <a:bodyPr wrap="square" anchor="t">
            <a:spAutoFit/>
          </a:bodyPr>
          <a:lstStyle/>
          <a:p>
            <a:pPr algn="l"/>
            <a:r>
              <a:rPr sz="1500" b="1">
                <a:solidFill>
                  <a:srgbClr val="162239"/>
                </a:solidFill>
                <a:latin typeface="Aptos"/>
              </a:rPr>
              <a:t>FRONTEND</a:t>
            </a:r>
          </a:p>
        </p:txBody>
      </p:sp>
      <p:sp>
        <p:nvSpPr>
          <p:cNvPr id="11" name="TextBox 10"/>
          <p:cNvSpPr txBox="1"/>
          <p:nvPr/>
        </p:nvSpPr>
        <p:spPr>
          <a:xfrm>
            <a:off x="859536" y="2496312"/>
            <a:ext cx="3063239" cy="621792"/>
          </a:xfrm>
          <a:prstGeom prst="rect">
            <a:avLst/>
          </a:prstGeom>
          <a:noFill/>
        </p:spPr>
        <p:txBody>
          <a:bodyPr wrap="square" anchor="t">
            <a:spAutoFit/>
          </a:bodyPr>
          <a:lstStyle/>
          <a:p>
            <a:pPr algn="l"/>
            <a:r>
              <a:rPr sz="1300" b="0">
                <a:solidFill>
                  <a:srgbClr val="394252"/>
                </a:solidFill>
                <a:latin typeface="Aptos"/>
              </a:rPr>
              <a:t>React 18, TypeScript, Vite and Tailwind CSS for the review UI.</a:t>
            </a:r>
          </a:p>
        </p:txBody>
      </p:sp>
      <p:sp>
        <p:nvSpPr>
          <p:cNvPr id="12" name="Rounded Rectangle 11"/>
          <p:cNvSpPr/>
          <p:nvPr/>
        </p:nvSpPr>
        <p:spPr>
          <a:xfrm>
            <a:off x="4343400" y="1874519"/>
            <a:ext cx="3474720" cy="1371600"/>
          </a:xfrm>
          <a:prstGeom prst="roundRect">
            <a:avLst>
              <a:gd name="adj" fmla="val 12000"/>
            </a:avLst>
          </a:prstGeom>
          <a:solidFill>
            <a:srgbClr val="FFFFFF"/>
          </a:solidFill>
          <a:ln>
            <a:solidFill>
              <a:srgbClr val="DEE3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43400" y="1874519"/>
            <a:ext cx="64008" cy="1371600"/>
          </a:xfrm>
          <a:prstGeom prst="rect">
            <a:avLst/>
          </a:prstGeom>
          <a:solidFill>
            <a:srgbClr val="2DA6A0"/>
          </a:solidFill>
          <a:ln>
            <a:solidFill>
              <a:srgbClr val="2DA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62856" y="2057400"/>
            <a:ext cx="3063239" cy="320040"/>
          </a:xfrm>
          <a:prstGeom prst="rect">
            <a:avLst/>
          </a:prstGeom>
          <a:noFill/>
        </p:spPr>
        <p:txBody>
          <a:bodyPr wrap="square" anchor="t">
            <a:spAutoFit/>
          </a:bodyPr>
          <a:lstStyle/>
          <a:p>
            <a:pPr algn="l"/>
            <a:r>
              <a:rPr sz="1500" b="1">
                <a:solidFill>
                  <a:srgbClr val="162239"/>
                </a:solidFill>
                <a:latin typeface="Aptos"/>
              </a:rPr>
              <a:t>BACKEND</a:t>
            </a:r>
          </a:p>
        </p:txBody>
      </p:sp>
      <p:sp>
        <p:nvSpPr>
          <p:cNvPr id="15" name="TextBox 14"/>
          <p:cNvSpPr txBox="1"/>
          <p:nvPr/>
        </p:nvSpPr>
        <p:spPr>
          <a:xfrm>
            <a:off x="4562856" y="2496312"/>
            <a:ext cx="3063239" cy="621792"/>
          </a:xfrm>
          <a:prstGeom prst="rect">
            <a:avLst/>
          </a:prstGeom>
          <a:noFill/>
        </p:spPr>
        <p:txBody>
          <a:bodyPr wrap="square" anchor="t">
            <a:spAutoFit/>
          </a:bodyPr>
          <a:lstStyle/>
          <a:p>
            <a:pPr algn="l"/>
            <a:r>
              <a:rPr sz="1300" b="0">
                <a:solidFill>
                  <a:srgbClr val="394252"/>
                </a:solidFill>
                <a:latin typeface="Aptos"/>
              </a:rPr>
              <a:t>Optional Node 22 API for accounts, roles and case sharing.</a:t>
            </a:r>
          </a:p>
        </p:txBody>
      </p:sp>
      <p:sp>
        <p:nvSpPr>
          <p:cNvPr id="16" name="Rounded Rectangle 15"/>
          <p:cNvSpPr/>
          <p:nvPr/>
        </p:nvSpPr>
        <p:spPr>
          <a:xfrm>
            <a:off x="8046720" y="1874519"/>
            <a:ext cx="3474720" cy="1371600"/>
          </a:xfrm>
          <a:prstGeom prst="roundRect">
            <a:avLst>
              <a:gd name="adj" fmla="val 12000"/>
            </a:avLst>
          </a:prstGeom>
          <a:solidFill>
            <a:srgbClr val="FFFFFF"/>
          </a:solidFill>
          <a:ln>
            <a:solidFill>
              <a:srgbClr val="DEE3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46720" y="1874519"/>
            <a:ext cx="64008" cy="1371600"/>
          </a:xfrm>
          <a:prstGeom prst="rect">
            <a:avLst/>
          </a:prstGeom>
          <a:solidFill>
            <a:srgbClr val="5369DC"/>
          </a:solidFill>
          <a:ln>
            <a:solidFill>
              <a:srgbClr val="5369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66176" y="2057400"/>
            <a:ext cx="3063239" cy="320040"/>
          </a:xfrm>
          <a:prstGeom prst="rect">
            <a:avLst/>
          </a:prstGeom>
          <a:noFill/>
        </p:spPr>
        <p:txBody>
          <a:bodyPr wrap="square" anchor="t">
            <a:spAutoFit/>
          </a:bodyPr>
          <a:lstStyle/>
          <a:p>
            <a:pPr algn="l"/>
            <a:r>
              <a:rPr sz="1500" b="1">
                <a:solidFill>
                  <a:srgbClr val="162239"/>
                </a:solidFill>
                <a:latin typeface="Aptos"/>
              </a:rPr>
              <a:t>DATABASE</a:t>
            </a:r>
          </a:p>
        </p:txBody>
      </p:sp>
      <p:sp>
        <p:nvSpPr>
          <p:cNvPr id="19" name="TextBox 18"/>
          <p:cNvSpPr txBox="1"/>
          <p:nvPr/>
        </p:nvSpPr>
        <p:spPr>
          <a:xfrm>
            <a:off x="8266176" y="2496312"/>
            <a:ext cx="3063239" cy="621792"/>
          </a:xfrm>
          <a:prstGeom prst="rect">
            <a:avLst/>
          </a:prstGeom>
          <a:noFill/>
        </p:spPr>
        <p:txBody>
          <a:bodyPr wrap="square" anchor="t">
            <a:spAutoFit/>
          </a:bodyPr>
          <a:lstStyle/>
          <a:p>
            <a:pPr algn="l"/>
            <a:r>
              <a:rPr sz="1300" b="0">
                <a:solidFill>
                  <a:srgbClr val="394252"/>
                </a:solidFill>
                <a:latin typeface="Aptos"/>
              </a:rPr>
              <a:t>IndexedDB (Dexie) in the browser; SQLite on the server.</a:t>
            </a:r>
          </a:p>
        </p:txBody>
      </p:sp>
      <p:sp>
        <p:nvSpPr>
          <p:cNvPr id="20" name="Rounded Rectangle 19"/>
          <p:cNvSpPr/>
          <p:nvPr/>
        </p:nvSpPr>
        <p:spPr>
          <a:xfrm>
            <a:off x="640080" y="3566160"/>
            <a:ext cx="3474720" cy="1371600"/>
          </a:xfrm>
          <a:prstGeom prst="roundRect">
            <a:avLst>
              <a:gd name="adj" fmla="val 12000"/>
            </a:avLst>
          </a:prstGeom>
          <a:solidFill>
            <a:srgbClr val="FFFFFF"/>
          </a:solidFill>
          <a:ln>
            <a:solidFill>
              <a:srgbClr val="DEE3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40080" y="3566160"/>
            <a:ext cx="64008" cy="1371600"/>
          </a:xfrm>
          <a:prstGeom prst="rect">
            <a:avLst/>
          </a:prstGeom>
          <a:solidFill>
            <a:srgbClr val="2DA6A0"/>
          </a:solidFill>
          <a:ln>
            <a:solidFill>
              <a:srgbClr val="2DA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9536" y="3749039"/>
            <a:ext cx="3063239" cy="320040"/>
          </a:xfrm>
          <a:prstGeom prst="rect">
            <a:avLst/>
          </a:prstGeom>
          <a:noFill/>
        </p:spPr>
        <p:txBody>
          <a:bodyPr wrap="square" anchor="t">
            <a:spAutoFit/>
          </a:bodyPr>
          <a:lstStyle/>
          <a:p>
            <a:pPr algn="l"/>
            <a:r>
              <a:rPr sz="1500" b="1">
                <a:solidFill>
                  <a:srgbClr val="162239"/>
                </a:solidFill>
                <a:latin typeface="Aptos"/>
              </a:rPr>
              <a:t>AI / CORE LOGIC</a:t>
            </a:r>
          </a:p>
        </p:txBody>
      </p:sp>
      <p:sp>
        <p:nvSpPr>
          <p:cNvPr id="23" name="TextBox 22"/>
          <p:cNvSpPr txBox="1"/>
          <p:nvPr/>
        </p:nvSpPr>
        <p:spPr>
          <a:xfrm>
            <a:off x="859536" y="4187952"/>
            <a:ext cx="3063239" cy="621792"/>
          </a:xfrm>
          <a:prstGeom prst="rect">
            <a:avLst/>
          </a:prstGeom>
          <a:noFill/>
        </p:spPr>
        <p:txBody>
          <a:bodyPr wrap="square" anchor="t">
            <a:spAutoFit/>
          </a:bodyPr>
          <a:lstStyle/>
          <a:p>
            <a:pPr algn="l"/>
            <a:r>
              <a:rPr sz="1300" b="0">
                <a:solidFill>
                  <a:srgbClr val="394252"/>
                </a:solidFill>
                <a:latin typeface="Aptos"/>
              </a:rPr>
              <a:t>Deterministic rules; optional Anthropic API, quote-verified.</a:t>
            </a:r>
          </a:p>
        </p:txBody>
      </p:sp>
      <p:sp>
        <p:nvSpPr>
          <p:cNvPr id="24" name="Rounded Rectangle 23"/>
          <p:cNvSpPr/>
          <p:nvPr/>
        </p:nvSpPr>
        <p:spPr>
          <a:xfrm>
            <a:off x="4343400" y="3566160"/>
            <a:ext cx="3474720" cy="1371600"/>
          </a:xfrm>
          <a:prstGeom prst="roundRect">
            <a:avLst>
              <a:gd name="adj" fmla="val 12000"/>
            </a:avLst>
          </a:prstGeom>
          <a:solidFill>
            <a:srgbClr val="FFFFFF"/>
          </a:solidFill>
          <a:ln>
            <a:solidFill>
              <a:srgbClr val="DEE3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343400" y="3566160"/>
            <a:ext cx="64008" cy="1371600"/>
          </a:xfrm>
          <a:prstGeom prst="rect">
            <a:avLst/>
          </a:prstGeom>
          <a:solidFill>
            <a:srgbClr val="5369DC"/>
          </a:solidFill>
          <a:ln>
            <a:solidFill>
              <a:srgbClr val="5369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62856" y="3749039"/>
            <a:ext cx="3063239" cy="320040"/>
          </a:xfrm>
          <a:prstGeom prst="rect">
            <a:avLst/>
          </a:prstGeom>
          <a:noFill/>
        </p:spPr>
        <p:txBody>
          <a:bodyPr wrap="square" anchor="t">
            <a:spAutoFit/>
          </a:bodyPr>
          <a:lstStyle/>
          <a:p>
            <a:pPr algn="l"/>
            <a:r>
              <a:rPr sz="1500" b="1">
                <a:solidFill>
                  <a:srgbClr val="162239"/>
                </a:solidFill>
                <a:latin typeface="Aptos"/>
              </a:rPr>
              <a:t>INTEGRATIONS</a:t>
            </a:r>
          </a:p>
        </p:txBody>
      </p:sp>
      <p:sp>
        <p:nvSpPr>
          <p:cNvPr id="27" name="TextBox 26"/>
          <p:cNvSpPr txBox="1"/>
          <p:nvPr/>
        </p:nvSpPr>
        <p:spPr>
          <a:xfrm>
            <a:off x="4562856" y="4187952"/>
            <a:ext cx="3063239" cy="621792"/>
          </a:xfrm>
          <a:prstGeom prst="rect">
            <a:avLst/>
          </a:prstGeom>
          <a:noFill/>
        </p:spPr>
        <p:txBody>
          <a:bodyPr wrap="square" anchor="t">
            <a:spAutoFit/>
          </a:bodyPr>
          <a:lstStyle/>
          <a:p>
            <a:pPr algn="l"/>
            <a:r>
              <a:rPr sz="1300" b="0">
                <a:solidFill>
                  <a:srgbClr val="394252"/>
                </a:solidFill>
                <a:latin typeface="Aptos"/>
              </a:rPr>
              <a:t>Tesseract.js OCR, pdf.js and mammoth run on-device.</a:t>
            </a:r>
          </a:p>
        </p:txBody>
      </p:sp>
      <p:sp>
        <p:nvSpPr>
          <p:cNvPr id="28" name="Rounded Rectangle 27"/>
          <p:cNvSpPr/>
          <p:nvPr/>
        </p:nvSpPr>
        <p:spPr>
          <a:xfrm>
            <a:off x="8046720" y="3566160"/>
            <a:ext cx="3474720" cy="1371600"/>
          </a:xfrm>
          <a:prstGeom prst="roundRect">
            <a:avLst>
              <a:gd name="adj" fmla="val 12000"/>
            </a:avLst>
          </a:prstGeom>
          <a:solidFill>
            <a:srgbClr val="FFFFFF"/>
          </a:solidFill>
          <a:ln>
            <a:solidFill>
              <a:srgbClr val="DEE3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046720" y="3566160"/>
            <a:ext cx="64008" cy="1371600"/>
          </a:xfrm>
          <a:prstGeom prst="rect">
            <a:avLst/>
          </a:prstGeom>
          <a:solidFill>
            <a:srgbClr val="2DA6A0"/>
          </a:solidFill>
          <a:ln>
            <a:solidFill>
              <a:srgbClr val="2DA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66176" y="3749039"/>
            <a:ext cx="3063239" cy="320040"/>
          </a:xfrm>
          <a:prstGeom prst="rect">
            <a:avLst/>
          </a:prstGeom>
          <a:noFill/>
        </p:spPr>
        <p:txBody>
          <a:bodyPr wrap="square" anchor="t">
            <a:spAutoFit/>
          </a:bodyPr>
          <a:lstStyle/>
          <a:p>
            <a:pPr algn="l"/>
            <a:r>
              <a:rPr sz="1500" b="1">
                <a:solidFill>
                  <a:srgbClr val="162239"/>
                </a:solidFill>
                <a:latin typeface="Aptos"/>
              </a:rPr>
              <a:t>DEPLOYMENT &amp; TOOLS</a:t>
            </a:r>
          </a:p>
        </p:txBody>
      </p:sp>
      <p:sp>
        <p:nvSpPr>
          <p:cNvPr id="31" name="TextBox 30"/>
          <p:cNvSpPr txBox="1"/>
          <p:nvPr/>
        </p:nvSpPr>
        <p:spPr>
          <a:xfrm>
            <a:off x="8266176" y="4187952"/>
            <a:ext cx="3063239" cy="621792"/>
          </a:xfrm>
          <a:prstGeom prst="rect">
            <a:avLst/>
          </a:prstGeom>
          <a:noFill/>
        </p:spPr>
        <p:txBody>
          <a:bodyPr wrap="square" anchor="t">
            <a:spAutoFit/>
          </a:bodyPr>
          <a:lstStyle/>
          <a:p>
            <a:pPr algn="l"/>
            <a:r>
              <a:rPr sz="1300" b="0">
                <a:solidFill>
                  <a:srgbClr val="394252"/>
                </a:solidFill>
                <a:latin typeface="Aptos"/>
              </a:rPr>
              <a:t>GitHub Actions CI, GitHub Pages; Docker/Render for the API.</a:t>
            </a:r>
          </a:p>
        </p:txBody>
      </p:sp>
      <p:sp>
        <p:nvSpPr>
          <p:cNvPr id="32" name="TextBox 31"/>
          <p:cNvSpPr txBox="1"/>
          <p:nvPr/>
        </p:nvSpPr>
        <p:spPr>
          <a:xfrm>
            <a:off x="777240" y="5321808"/>
            <a:ext cx="10607040" cy="548640"/>
          </a:xfrm>
          <a:prstGeom prst="rect">
            <a:avLst/>
          </a:prstGeom>
          <a:noFill/>
        </p:spPr>
        <p:txBody>
          <a:bodyPr wrap="square" anchor="t">
            <a:spAutoFit/>
          </a:bodyPr>
          <a:lstStyle/>
          <a:p>
            <a:pPr algn="l"/>
            <a:r>
              <a:rPr sz="1400" b="1">
                <a:solidFill>
                  <a:srgbClr val="162239"/>
                </a:solidFill>
                <a:latin typeface="Aptos"/>
              </a:rPr>
              <a:t>WHY THIS STACK?  The browser app works on its own, so the demo needs no server. The API and AI layer are optional and add sharing and AI only where configured.</a:t>
            </a:r>
          </a:p>
        </p:txBody>
      </p:sp>
      <p:sp>
        <p:nvSpPr>
          <p:cNvPr id="33" name="TextBox 32"/>
          <p:cNvSpPr txBox="1"/>
          <p:nvPr/>
        </p:nvSpPr>
        <p:spPr>
          <a:xfrm>
            <a:off x="621792" y="6510528"/>
            <a:ext cx="5029200" cy="164592"/>
          </a:xfrm>
          <a:prstGeom prst="rect">
            <a:avLst/>
          </a:prstGeom>
          <a:noFill/>
        </p:spPr>
        <p:txBody>
          <a:bodyPr wrap="square" anchor="t">
            <a:spAutoFit/>
          </a:bodyPr>
          <a:lstStyle/>
          <a:p>
            <a:pPr algn="l"/>
            <a:r>
              <a:rPr sz="800" b="1">
                <a:solidFill>
                  <a:srgbClr val="767F90"/>
                </a:solidFill>
                <a:latin typeface="Aptos"/>
              </a:rPr>
              <a:t>CODE FLAYER 2.0  •  CLINISCOPE  •  PS-11R3</a:t>
            </a:r>
          </a:p>
        </p:txBody>
      </p:sp>
      <p:sp>
        <p:nvSpPr>
          <p:cNvPr id="34" name="TextBox 33"/>
          <p:cNvSpPr txBox="1"/>
          <p:nvPr/>
        </p:nvSpPr>
        <p:spPr>
          <a:xfrm>
            <a:off x="11064240" y="6473952"/>
            <a:ext cx="502920" cy="201168"/>
          </a:xfrm>
          <a:prstGeom prst="rect">
            <a:avLst/>
          </a:prstGeom>
          <a:noFill/>
        </p:spPr>
        <p:txBody>
          <a:bodyPr wrap="square" anchor="t">
            <a:spAutoFit/>
          </a:bodyPr>
          <a:lstStyle/>
          <a:p>
            <a:pPr algn="r"/>
            <a:r>
              <a:rPr sz="900" b="1">
                <a:solidFill>
                  <a:srgbClr val="767F90"/>
                </a:solidFill>
                <a:latin typeface="Aptos"/>
              </a:rPr>
              <a:t>05 / 08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9FC"/>
        </a:solidFill>
        <a:effectLst/>
      </p:bgPr>
    </p:bg>
    <p:spTree>
      <p:nvGrpSpPr>
        <p:cNvPr id="1" name=""/>
        <p:cNvGrpSpPr/>
        <p:nvPr/>
      </p:nvGrpSpPr>
      <p:grpSpPr/>
      <p:sp>
        <p:nvSpPr>
          <p:cNvPr id="2" name="TextBox 1"/>
          <p:cNvSpPr txBox="1"/>
          <p:nvPr/>
        </p:nvSpPr>
        <p:spPr>
          <a:xfrm>
            <a:off x="594360" y="320040"/>
            <a:ext cx="1828800" cy="274320"/>
          </a:xfrm>
          <a:prstGeom prst="rect">
            <a:avLst/>
          </a:prstGeom>
          <a:noFill/>
        </p:spPr>
        <p:txBody>
          <a:bodyPr wrap="square" anchor="t">
            <a:spAutoFit/>
          </a:bodyPr>
          <a:lstStyle/>
          <a:p>
            <a:pPr algn="l"/>
            <a:r>
              <a:rPr sz="1000" b="1">
                <a:solidFill>
                  <a:srgbClr val="5369DC"/>
                </a:solidFill>
                <a:latin typeface="Aptos"/>
              </a:rPr>
              <a:t>PROJECT PITCH  /  06</a:t>
            </a:r>
          </a:p>
        </p:txBody>
      </p:sp>
      <p:sp>
        <p:nvSpPr>
          <p:cNvPr id="3" name="TextBox 2"/>
          <p:cNvSpPr txBox="1"/>
          <p:nvPr/>
        </p:nvSpPr>
        <p:spPr>
          <a:xfrm>
            <a:off x="594360" y="713232"/>
            <a:ext cx="10972800" cy="502920"/>
          </a:xfrm>
          <a:prstGeom prst="rect">
            <a:avLst/>
          </a:prstGeom>
          <a:noFill/>
        </p:spPr>
        <p:txBody>
          <a:bodyPr wrap="square" anchor="t">
            <a:spAutoFit/>
          </a:bodyPr>
          <a:lstStyle/>
          <a:p>
            <a:pPr algn="l"/>
            <a:r>
              <a:rPr sz="2800" b="1">
                <a:solidFill>
                  <a:srgbClr val="162239"/>
                </a:solidFill>
                <a:latin typeface="Aptos"/>
              </a:rPr>
              <a:t>Feasibility &amp; Viability</a:t>
            </a:r>
          </a:p>
        </p:txBody>
      </p:sp>
      <p:sp>
        <p:nvSpPr>
          <p:cNvPr id="4" name="TextBox 3"/>
          <p:cNvSpPr txBox="1"/>
          <p:nvPr/>
        </p:nvSpPr>
        <p:spPr>
          <a:xfrm>
            <a:off x="621792" y="1261872"/>
            <a:ext cx="10881360" cy="320040"/>
          </a:xfrm>
          <a:prstGeom prst="rect">
            <a:avLst/>
          </a:prstGeom>
          <a:noFill/>
        </p:spPr>
        <p:txBody>
          <a:bodyPr wrap="square" anchor="t">
            <a:spAutoFit/>
          </a:bodyPr>
          <a:lstStyle/>
          <a:p>
            <a:pPr algn="l"/>
            <a:r>
              <a:rPr sz="1200" b="0">
                <a:solidFill>
                  <a:srgbClr val="767F90"/>
                </a:solidFill>
                <a:latin typeface="Aptos"/>
              </a:rPr>
              <a:t>A working, tested prototype today, with a staged and cautious path toward real-world use.</a:t>
            </a:r>
          </a:p>
        </p:txBody>
      </p:sp>
      <p:sp>
        <p:nvSpPr>
          <p:cNvPr id="5" name="Rectangle 4"/>
          <p:cNvSpPr/>
          <p:nvPr/>
        </p:nvSpPr>
        <p:spPr>
          <a:xfrm>
            <a:off x="10835640" y="384048"/>
            <a:ext cx="320040" cy="73152"/>
          </a:xfrm>
          <a:prstGeom prst="rect">
            <a:avLst/>
          </a:prstGeom>
          <a:solidFill>
            <a:srgbClr val="5369DC"/>
          </a:solidFill>
          <a:ln>
            <a:solidFill>
              <a:srgbClr val="5369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1228832" y="384048"/>
            <a:ext cx="320040" cy="73152"/>
          </a:xfrm>
          <a:prstGeom prst="rect">
            <a:avLst/>
          </a:prstGeom>
          <a:solidFill>
            <a:srgbClr val="2DA6A0"/>
          </a:solidFill>
          <a:ln>
            <a:solidFill>
              <a:srgbClr val="2DA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622024" y="384048"/>
            <a:ext cx="0" cy="73152"/>
          </a:xfrm>
          <a:prstGeom prst="rect">
            <a:avLst/>
          </a:prstGeom>
          <a:solidFill>
            <a:srgbClr val="162239"/>
          </a:solidFill>
          <a:ln>
            <a:solidFill>
              <a:srgbClr val="16223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40080" y="1874519"/>
            <a:ext cx="5349240" cy="3429000"/>
          </a:xfrm>
          <a:prstGeom prst="roundRect">
            <a:avLst>
              <a:gd name="adj" fmla="val 12000"/>
            </a:avLst>
          </a:prstGeom>
          <a:solidFill>
            <a:srgbClr val="FFFFFF"/>
          </a:solidFill>
          <a:ln>
            <a:solidFill>
              <a:srgbClr val="DEE3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217920" y="1874519"/>
            <a:ext cx="5303520" cy="3429000"/>
          </a:xfrm>
          <a:prstGeom prst="roundRect">
            <a:avLst>
              <a:gd name="adj" fmla="val 12000"/>
            </a:avLst>
          </a:prstGeom>
          <a:solidFill>
            <a:srgbClr val="FFFFFF"/>
          </a:solidFill>
          <a:ln>
            <a:solidFill>
              <a:srgbClr val="DEE3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40080" y="1874519"/>
            <a:ext cx="5349240" cy="502920"/>
          </a:xfrm>
          <a:prstGeom prst="roundRect">
            <a:avLst>
              <a:gd name="adj" fmla="val 12000"/>
            </a:avLst>
          </a:prstGeom>
          <a:solidFill>
            <a:srgbClr val="5369DC"/>
          </a:solidFill>
          <a:ln>
            <a:solidFill>
              <a:srgbClr val="5369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17920" y="1874519"/>
            <a:ext cx="5303520" cy="502920"/>
          </a:xfrm>
          <a:prstGeom prst="roundRect">
            <a:avLst>
              <a:gd name="adj" fmla="val 12000"/>
            </a:avLst>
          </a:prstGeom>
          <a:solidFill>
            <a:srgbClr val="2DA6A0"/>
          </a:solidFill>
          <a:ln>
            <a:solidFill>
              <a:srgbClr val="2DA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1975104"/>
            <a:ext cx="4754880" cy="228600"/>
          </a:xfrm>
          <a:prstGeom prst="rect">
            <a:avLst/>
          </a:prstGeom>
          <a:noFill/>
        </p:spPr>
        <p:txBody>
          <a:bodyPr wrap="square" anchor="t">
            <a:spAutoFit/>
          </a:bodyPr>
          <a:lstStyle/>
          <a:p>
            <a:pPr algn="l"/>
            <a:r>
              <a:rPr sz="1500" b="1">
                <a:solidFill>
                  <a:srgbClr val="FFFFFF"/>
                </a:solidFill>
                <a:latin typeface="Aptos"/>
              </a:rPr>
              <a:t>TECHNICAL FEASIBILITY</a:t>
            </a:r>
          </a:p>
        </p:txBody>
      </p:sp>
      <p:sp>
        <p:nvSpPr>
          <p:cNvPr id="13" name="TextBox 12"/>
          <p:cNvSpPr txBox="1"/>
          <p:nvPr/>
        </p:nvSpPr>
        <p:spPr>
          <a:xfrm>
            <a:off x="6446520" y="1975104"/>
            <a:ext cx="4754880" cy="228600"/>
          </a:xfrm>
          <a:prstGeom prst="rect">
            <a:avLst/>
          </a:prstGeom>
          <a:noFill/>
        </p:spPr>
        <p:txBody>
          <a:bodyPr wrap="square" anchor="t">
            <a:spAutoFit/>
          </a:bodyPr>
          <a:lstStyle/>
          <a:p>
            <a:pPr algn="l"/>
            <a:r>
              <a:rPr sz="1400" b="1">
                <a:solidFill>
                  <a:srgbClr val="FFFFFF"/>
                </a:solidFill>
                <a:latin typeface="Aptos"/>
              </a:rPr>
              <a:t>BUSINESS / OPERATIONAL VIABILITY</a:t>
            </a:r>
          </a:p>
        </p:txBody>
      </p:sp>
      <p:sp>
        <p:nvSpPr>
          <p:cNvPr id="14" name="TextBox 13"/>
          <p:cNvSpPr txBox="1"/>
          <p:nvPr/>
        </p:nvSpPr>
        <p:spPr>
          <a:xfrm>
            <a:off x="914400" y="2633472"/>
            <a:ext cx="4754880" cy="2286000"/>
          </a:xfrm>
          <a:prstGeom prst="rect">
            <a:avLst/>
          </a:prstGeom>
          <a:noFill/>
        </p:spPr>
        <p:txBody>
          <a:bodyPr wrap="square" anchor="t">
            <a:spAutoFit/>
          </a:bodyPr>
          <a:lstStyle/>
          <a:p>
            <a:pPr algn="l"/>
            <a:r>
              <a:rPr sz="1400" b="0">
                <a:solidFill>
                  <a:srgbClr val="394252"/>
                </a:solidFill>
                <a:latin typeface="Aptos"/>
              </a:rPr>
              <a:t>• Required tools and skills: React, TypeScript, Node, SQLite, Tesseract.js, Vitest, Playwright.</a:t>
            </a:r>
          </a:p>
          <a:p>
            <a:pPr algn="l"/>
            <a:r>
              <a:rPr sz="1400" b="0">
                <a:solidFill>
                  <a:srgbClr val="394252"/>
                </a:solidFill>
                <a:latin typeface="Aptos"/>
              </a:rPr>
              <a:t/>
            </a:r>
          </a:p>
          <a:p>
            <a:pPr algn="l"/>
            <a:r>
              <a:rPr sz="1400" b="0">
                <a:solidFill>
                  <a:srgbClr val="394252"/>
                </a:solidFill>
                <a:latin typeface="Aptos"/>
              </a:rPr>
              <a:t>• Data / infrastructure: synthetic records only. Frontend is live; the API is not hosted yet.</a:t>
            </a:r>
          </a:p>
          <a:p>
            <a:pPr algn="l"/>
            <a:r>
              <a:rPr sz="1400" b="0">
                <a:solidFill>
                  <a:srgbClr val="394252"/>
                </a:solidFill>
                <a:latin typeface="Aptos"/>
              </a:rPr>
              <a:t/>
            </a:r>
          </a:p>
          <a:p>
            <a:pPr algn="l"/>
            <a:r>
              <a:rPr sz="1400" b="0">
                <a:solidFill>
                  <a:srgbClr val="394252"/>
                </a:solidFill>
                <a:latin typeface="Aptos"/>
              </a:rPr>
              <a:t>• Prototype status: 68 unit and 12 end-to-end tests pass. AI not yet tried on a live model.</a:t>
            </a:r>
          </a:p>
          <a:p>
            <a:pPr algn="l"/>
            <a:r>
              <a:rPr sz="1400" b="0">
                <a:solidFill>
                  <a:srgbClr val="394252"/>
                </a:solidFill>
                <a:latin typeface="Aptos"/>
              </a:rPr>
              <a:t/>
            </a:r>
          </a:p>
          <a:p>
            <a:pPr algn="l"/>
            <a:r>
              <a:rPr sz="1400" b="0">
                <a:solidFill>
                  <a:srgbClr val="394252"/>
                </a:solidFill>
                <a:latin typeface="Aptos"/>
              </a:rPr>
              <a:t>• Risk + mitigation: OCR or AI errors → quote checks, confidence labels, human review.</a:t>
            </a:r>
          </a:p>
        </p:txBody>
      </p:sp>
      <p:sp>
        <p:nvSpPr>
          <p:cNvPr id="15" name="TextBox 14"/>
          <p:cNvSpPr txBox="1"/>
          <p:nvPr/>
        </p:nvSpPr>
        <p:spPr>
          <a:xfrm>
            <a:off x="6492240" y="2633472"/>
            <a:ext cx="4663440" cy="2286000"/>
          </a:xfrm>
          <a:prstGeom prst="rect">
            <a:avLst/>
          </a:prstGeom>
          <a:noFill/>
        </p:spPr>
        <p:txBody>
          <a:bodyPr wrap="square" anchor="t">
            <a:spAutoFit/>
          </a:bodyPr>
          <a:lstStyle/>
          <a:p>
            <a:pPr algn="l"/>
            <a:r>
              <a:rPr sz="1400" b="0">
                <a:solidFill>
                  <a:srgbClr val="394252"/>
                </a:solidFill>
                <a:latin typeface="Aptos"/>
              </a:rPr>
              <a:t>• Target users and value: authorized reviewers who need evidence, not just alerts.</a:t>
            </a:r>
          </a:p>
          <a:p>
            <a:pPr algn="l"/>
            <a:r>
              <a:rPr sz="1400" b="0">
                <a:solidFill>
                  <a:srgbClr val="394252"/>
                </a:solidFill>
                <a:latin typeface="Aptos"/>
              </a:rPr>
              <a:t/>
            </a:r>
          </a:p>
          <a:p>
            <a:pPr algn="l"/>
            <a:r>
              <a:rPr sz="1400" b="0">
                <a:solidFill>
                  <a:srgbClr val="394252"/>
                </a:solidFill>
                <a:latin typeface="Aptos"/>
              </a:rPr>
              <a:t>• Adoption plan: synthetic prototype → test set → clinician feedback → approved pilot.</a:t>
            </a:r>
          </a:p>
          <a:p>
            <a:pPr algn="l"/>
            <a:r>
              <a:rPr sz="1400" b="0">
                <a:solidFill>
                  <a:srgbClr val="394252"/>
                </a:solidFill>
                <a:latin typeface="Aptos"/>
              </a:rPr>
              <a:t/>
            </a:r>
          </a:p>
          <a:p>
            <a:pPr algn="l"/>
            <a:r>
              <a:rPr sz="1400" b="0">
                <a:solidFill>
                  <a:srgbClr val="394252"/>
                </a:solidFill>
                <a:latin typeface="Aptos"/>
              </a:rPr>
              <a:t>• Cost and maintenance: API hosting, storage, AI usage per analysis, testing.</a:t>
            </a:r>
          </a:p>
          <a:p>
            <a:pPr algn="l"/>
            <a:r>
              <a:rPr sz="1400" b="0">
                <a:solidFill>
                  <a:srgbClr val="394252"/>
                </a:solidFill>
                <a:latin typeface="Aptos"/>
              </a:rPr>
              <a:t/>
            </a:r>
          </a:p>
          <a:p>
            <a:pPr algn="l"/>
            <a:r>
              <a:rPr sz="1400" b="0">
                <a:solidFill>
                  <a:srgbClr val="394252"/>
                </a:solidFill>
                <a:latin typeface="Aptos"/>
              </a:rPr>
              <a:t>• Revenue (future only): institutional licensing or integration. No partners today.</a:t>
            </a:r>
          </a:p>
        </p:txBody>
      </p:sp>
      <p:sp>
        <p:nvSpPr>
          <p:cNvPr id="16" name="Rounded Rectangle 15"/>
          <p:cNvSpPr/>
          <p:nvPr/>
        </p:nvSpPr>
        <p:spPr>
          <a:xfrm>
            <a:off x="868680" y="5532120"/>
            <a:ext cx="10424160" cy="502920"/>
          </a:xfrm>
          <a:prstGeom prst="roundRect">
            <a:avLst>
              <a:gd name="adj" fmla="val 12000"/>
            </a:avLst>
          </a:prstGeom>
          <a:solidFill>
            <a:srgbClr val="E8ECFA"/>
          </a:solidFill>
          <a:ln>
            <a:solidFill>
              <a:srgbClr val="E8ECF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51560" y="5641848"/>
            <a:ext cx="10058400" cy="228600"/>
          </a:xfrm>
          <a:prstGeom prst="rect">
            <a:avLst/>
          </a:prstGeom>
          <a:noFill/>
        </p:spPr>
        <p:txBody>
          <a:bodyPr wrap="square" anchor="t">
            <a:spAutoFit/>
          </a:bodyPr>
          <a:lstStyle/>
          <a:p>
            <a:pPr algn="l"/>
            <a:r>
              <a:rPr sz="1300" b="1">
                <a:solidFill>
                  <a:srgbClr val="162239"/>
                </a:solidFill>
                <a:latin typeface="Aptos"/>
              </a:rPr>
              <a:t>KEY TAKEAWAY:  A working prototype with a practical, validation-first path to evidence-based review.</a:t>
            </a:r>
          </a:p>
        </p:txBody>
      </p:sp>
      <p:sp>
        <p:nvSpPr>
          <p:cNvPr id="18" name="TextBox 17"/>
          <p:cNvSpPr txBox="1"/>
          <p:nvPr/>
        </p:nvSpPr>
        <p:spPr>
          <a:xfrm>
            <a:off x="621792" y="6510528"/>
            <a:ext cx="5029200" cy="164592"/>
          </a:xfrm>
          <a:prstGeom prst="rect">
            <a:avLst/>
          </a:prstGeom>
          <a:noFill/>
        </p:spPr>
        <p:txBody>
          <a:bodyPr wrap="square" anchor="t">
            <a:spAutoFit/>
          </a:bodyPr>
          <a:lstStyle/>
          <a:p>
            <a:pPr algn="l"/>
            <a:r>
              <a:rPr sz="800" b="1">
                <a:solidFill>
                  <a:srgbClr val="767F90"/>
                </a:solidFill>
                <a:latin typeface="Aptos"/>
              </a:rPr>
              <a:t>CODE FLAYER 2.0  •  CLINISCOPE  •  PS-11R3</a:t>
            </a:r>
          </a:p>
        </p:txBody>
      </p:sp>
      <p:sp>
        <p:nvSpPr>
          <p:cNvPr id="19" name="TextBox 18"/>
          <p:cNvSpPr txBox="1"/>
          <p:nvPr/>
        </p:nvSpPr>
        <p:spPr>
          <a:xfrm>
            <a:off x="11064240" y="6473952"/>
            <a:ext cx="502920" cy="201168"/>
          </a:xfrm>
          <a:prstGeom prst="rect">
            <a:avLst/>
          </a:prstGeom>
          <a:noFill/>
        </p:spPr>
        <p:txBody>
          <a:bodyPr wrap="square" anchor="t">
            <a:spAutoFit/>
          </a:bodyPr>
          <a:lstStyle/>
          <a:p>
            <a:pPr algn="r"/>
            <a:r>
              <a:rPr sz="900" b="1">
                <a:solidFill>
                  <a:srgbClr val="767F90"/>
                </a:solidFill>
                <a:latin typeface="Aptos"/>
              </a:rPr>
              <a:t>06 / 08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9FC"/>
        </a:solidFill>
        <a:effectLst/>
      </p:bgPr>
    </p:bg>
    <p:spTree>
      <p:nvGrpSpPr>
        <p:cNvPr id="1" name=""/>
        <p:cNvGrpSpPr/>
        <p:nvPr/>
      </p:nvGrpSpPr>
      <p:grpSpPr/>
      <p:sp>
        <p:nvSpPr>
          <p:cNvPr id="2" name="TextBox 1"/>
          <p:cNvSpPr txBox="1"/>
          <p:nvPr/>
        </p:nvSpPr>
        <p:spPr>
          <a:xfrm>
            <a:off x="594360" y="320040"/>
            <a:ext cx="1828800" cy="274320"/>
          </a:xfrm>
          <a:prstGeom prst="rect">
            <a:avLst/>
          </a:prstGeom>
          <a:noFill/>
        </p:spPr>
        <p:txBody>
          <a:bodyPr wrap="square" anchor="t">
            <a:spAutoFit/>
          </a:bodyPr>
          <a:lstStyle/>
          <a:p>
            <a:pPr algn="l"/>
            <a:r>
              <a:rPr sz="1000" b="1">
                <a:solidFill>
                  <a:srgbClr val="5369DC"/>
                </a:solidFill>
                <a:latin typeface="Aptos"/>
              </a:rPr>
              <a:t>PROJECT PITCH  /  07</a:t>
            </a:r>
          </a:p>
        </p:txBody>
      </p:sp>
      <p:sp>
        <p:nvSpPr>
          <p:cNvPr id="3" name="TextBox 2"/>
          <p:cNvSpPr txBox="1"/>
          <p:nvPr/>
        </p:nvSpPr>
        <p:spPr>
          <a:xfrm>
            <a:off x="594360" y="713232"/>
            <a:ext cx="10972800" cy="502920"/>
          </a:xfrm>
          <a:prstGeom prst="rect">
            <a:avLst/>
          </a:prstGeom>
          <a:noFill/>
        </p:spPr>
        <p:txBody>
          <a:bodyPr wrap="square" anchor="t">
            <a:spAutoFit/>
          </a:bodyPr>
          <a:lstStyle/>
          <a:p>
            <a:pPr algn="l"/>
            <a:r>
              <a:rPr sz="2800" b="1">
                <a:solidFill>
                  <a:srgbClr val="162239"/>
                </a:solidFill>
                <a:latin typeface="Aptos"/>
              </a:rPr>
              <a:t>Sustainability, Scalability &amp; Impact</a:t>
            </a:r>
          </a:p>
        </p:txBody>
      </p:sp>
      <p:sp>
        <p:nvSpPr>
          <p:cNvPr id="4" name="TextBox 3"/>
          <p:cNvSpPr txBox="1"/>
          <p:nvPr/>
        </p:nvSpPr>
        <p:spPr>
          <a:xfrm>
            <a:off x="621792" y="1261872"/>
            <a:ext cx="10881360" cy="320040"/>
          </a:xfrm>
          <a:prstGeom prst="rect">
            <a:avLst/>
          </a:prstGeom>
          <a:noFill/>
        </p:spPr>
        <p:txBody>
          <a:bodyPr wrap="square" anchor="t">
            <a:spAutoFit/>
          </a:bodyPr>
          <a:lstStyle/>
          <a:p>
            <a:pPr algn="l"/>
            <a:r>
              <a:rPr sz="1200" b="0">
                <a:solidFill>
                  <a:srgbClr val="767F90"/>
                </a:solidFill>
                <a:latin typeface="Aptos"/>
              </a:rPr>
              <a:t>Scalability items are planned next steps. Impact is a goal to be measured in evaluation.</a:t>
            </a:r>
          </a:p>
        </p:txBody>
      </p:sp>
      <p:sp>
        <p:nvSpPr>
          <p:cNvPr id="5" name="Rectangle 4"/>
          <p:cNvSpPr/>
          <p:nvPr/>
        </p:nvSpPr>
        <p:spPr>
          <a:xfrm>
            <a:off x="10835640" y="384048"/>
            <a:ext cx="320040" cy="73152"/>
          </a:xfrm>
          <a:prstGeom prst="rect">
            <a:avLst/>
          </a:prstGeom>
          <a:solidFill>
            <a:srgbClr val="5369DC"/>
          </a:solidFill>
          <a:ln>
            <a:solidFill>
              <a:srgbClr val="5369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1228832" y="384048"/>
            <a:ext cx="320040" cy="73152"/>
          </a:xfrm>
          <a:prstGeom prst="rect">
            <a:avLst/>
          </a:prstGeom>
          <a:solidFill>
            <a:srgbClr val="2DA6A0"/>
          </a:solidFill>
          <a:ln>
            <a:solidFill>
              <a:srgbClr val="2DA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622024" y="384048"/>
            <a:ext cx="0" cy="73152"/>
          </a:xfrm>
          <a:prstGeom prst="rect">
            <a:avLst/>
          </a:prstGeom>
          <a:solidFill>
            <a:srgbClr val="162239"/>
          </a:solidFill>
          <a:ln>
            <a:solidFill>
              <a:srgbClr val="16223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40080" y="1874519"/>
            <a:ext cx="3474720" cy="1828800"/>
          </a:xfrm>
          <a:prstGeom prst="roundRect">
            <a:avLst>
              <a:gd name="adj" fmla="val 12000"/>
            </a:avLst>
          </a:prstGeom>
          <a:solidFill>
            <a:srgbClr val="FFFFFF"/>
          </a:solidFill>
          <a:ln>
            <a:solidFill>
              <a:srgbClr val="DEE3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40080" y="1874519"/>
            <a:ext cx="64008" cy="1828800"/>
          </a:xfrm>
          <a:prstGeom prst="rect">
            <a:avLst/>
          </a:prstGeom>
          <a:solidFill>
            <a:srgbClr val="5369DC"/>
          </a:solidFill>
          <a:ln>
            <a:solidFill>
              <a:srgbClr val="5369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2057400"/>
            <a:ext cx="3063239" cy="320040"/>
          </a:xfrm>
          <a:prstGeom prst="rect">
            <a:avLst/>
          </a:prstGeom>
          <a:noFill/>
        </p:spPr>
        <p:txBody>
          <a:bodyPr wrap="square" anchor="t">
            <a:spAutoFit/>
          </a:bodyPr>
          <a:lstStyle/>
          <a:p>
            <a:pPr algn="l"/>
            <a:r>
              <a:rPr sz="1500" b="1">
                <a:solidFill>
                  <a:srgbClr val="162239"/>
                </a:solidFill>
                <a:latin typeface="Aptos"/>
              </a:rPr>
              <a:t>LONG-TERM SUSTAINABILITY</a:t>
            </a:r>
          </a:p>
        </p:txBody>
      </p:sp>
      <p:sp>
        <p:nvSpPr>
          <p:cNvPr id="11" name="TextBox 10"/>
          <p:cNvSpPr txBox="1"/>
          <p:nvPr/>
        </p:nvSpPr>
        <p:spPr>
          <a:xfrm>
            <a:off x="859536" y="2496312"/>
            <a:ext cx="3063239" cy="1078992"/>
          </a:xfrm>
          <a:prstGeom prst="rect">
            <a:avLst/>
          </a:prstGeom>
          <a:noFill/>
        </p:spPr>
        <p:txBody>
          <a:bodyPr wrap="square" anchor="t">
            <a:spAutoFit/>
          </a:bodyPr>
          <a:lstStyle/>
          <a:p>
            <a:pPr algn="l"/>
            <a:r>
              <a:rPr sz="1300" b="0">
                <a:solidFill>
                  <a:srgbClr val="394252"/>
                </a:solidFill>
                <a:latin typeface="Aptos"/>
              </a:rPr>
              <a:t>Modular engine, regression tests in CI, versioned migrations, and low-confidence OCR flagged, never guessed.</a:t>
            </a:r>
          </a:p>
        </p:txBody>
      </p:sp>
      <p:sp>
        <p:nvSpPr>
          <p:cNvPr id="12" name="Rounded Rectangle 11"/>
          <p:cNvSpPr/>
          <p:nvPr/>
        </p:nvSpPr>
        <p:spPr>
          <a:xfrm>
            <a:off x="4343400" y="1874519"/>
            <a:ext cx="3474720" cy="1828800"/>
          </a:xfrm>
          <a:prstGeom prst="roundRect">
            <a:avLst>
              <a:gd name="adj" fmla="val 12000"/>
            </a:avLst>
          </a:prstGeom>
          <a:solidFill>
            <a:srgbClr val="FFFFFF"/>
          </a:solidFill>
          <a:ln>
            <a:solidFill>
              <a:srgbClr val="DEE3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43400" y="1874519"/>
            <a:ext cx="64008" cy="1828800"/>
          </a:xfrm>
          <a:prstGeom prst="rect">
            <a:avLst/>
          </a:prstGeom>
          <a:solidFill>
            <a:srgbClr val="2DA6A0"/>
          </a:solidFill>
          <a:ln>
            <a:solidFill>
              <a:srgbClr val="2DA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62856" y="2057400"/>
            <a:ext cx="3063239" cy="320040"/>
          </a:xfrm>
          <a:prstGeom prst="rect">
            <a:avLst/>
          </a:prstGeom>
          <a:noFill/>
        </p:spPr>
        <p:txBody>
          <a:bodyPr wrap="square" anchor="t">
            <a:spAutoFit/>
          </a:bodyPr>
          <a:lstStyle/>
          <a:p>
            <a:pPr algn="l"/>
            <a:r>
              <a:rPr sz="1500" b="1">
                <a:solidFill>
                  <a:srgbClr val="162239"/>
                </a:solidFill>
                <a:latin typeface="Aptos"/>
              </a:rPr>
              <a:t>SCALABILITY</a:t>
            </a:r>
          </a:p>
        </p:txBody>
      </p:sp>
      <p:sp>
        <p:nvSpPr>
          <p:cNvPr id="15" name="TextBox 14"/>
          <p:cNvSpPr txBox="1"/>
          <p:nvPr/>
        </p:nvSpPr>
        <p:spPr>
          <a:xfrm>
            <a:off x="4562856" y="2496312"/>
            <a:ext cx="3063239" cy="1078992"/>
          </a:xfrm>
          <a:prstGeom prst="rect">
            <a:avLst/>
          </a:prstGeom>
          <a:noFill/>
        </p:spPr>
        <p:txBody>
          <a:bodyPr wrap="square" anchor="t">
            <a:spAutoFit/>
          </a:bodyPr>
          <a:lstStyle/>
          <a:p>
            <a:pPr algn="l"/>
            <a:r>
              <a:rPr sz="1300" b="0">
                <a:solidFill>
                  <a:srgbClr val="394252"/>
                </a:solidFill>
                <a:latin typeface="Aptos"/>
              </a:rPr>
              <a:t>Planned: host the API, test AI on a live model, more formats and vocabulary, record-system integration.</a:t>
            </a:r>
          </a:p>
        </p:txBody>
      </p:sp>
      <p:sp>
        <p:nvSpPr>
          <p:cNvPr id="16" name="Rounded Rectangle 15"/>
          <p:cNvSpPr/>
          <p:nvPr/>
        </p:nvSpPr>
        <p:spPr>
          <a:xfrm>
            <a:off x="8046720" y="1874519"/>
            <a:ext cx="3474720" cy="1828800"/>
          </a:xfrm>
          <a:prstGeom prst="roundRect">
            <a:avLst>
              <a:gd name="adj" fmla="val 12000"/>
            </a:avLst>
          </a:prstGeom>
          <a:solidFill>
            <a:srgbClr val="FFFFFF"/>
          </a:solidFill>
          <a:ln>
            <a:solidFill>
              <a:srgbClr val="DEE3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46720" y="1874519"/>
            <a:ext cx="64008" cy="1828800"/>
          </a:xfrm>
          <a:prstGeom prst="rect">
            <a:avLst/>
          </a:prstGeom>
          <a:solidFill>
            <a:srgbClr val="5369DC"/>
          </a:solidFill>
          <a:ln>
            <a:solidFill>
              <a:srgbClr val="5369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66176" y="2057400"/>
            <a:ext cx="3063239" cy="320040"/>
          </a:xfrm>
          <a:prstGeom prst="rect">
            <a:avLst/>
          </a:prstGeom>
          <a:noFill/>
        </p:spPr>
        <p:txBody>
          <a:bodyPr wrap="square" anchor="t">
            <a:spAutoFit/>
          </a:bodyPr>
          <a:lstStyle/>
          <a:p>
            <a:pPr algn="l"/>
            <a:r>
              <a:rPr sz="1500" b="1">
                <a:solidFill>
                  <a:srgbClr val="162239"/>
                </a:solidFill>
                <a:latin typeface="Aptos"/>
              </a:rPr>
              <a:t>EXPECTED IMPACT</a:t>
            </a:r>
          </a:p>
        </p:txBody>
      </p:sp>
      <p:sp>
        <p:nvSpPr>
          <p:cNvPr id="19" name="TextBox 18"/>
          <p:cNvSpPr txBox="1"/>
          <p:nvPr/>
        </p:nvSpPr>
        <p:spPr>
          <a:xfrm>
            <a:off x="8266176" y="2496312"/>
            <a:ext cx="3063239" cy="1078992"/>
          </a:xfrm>
          <a:prstGeom prst="rect">
            <a:avLst/>
          </a:prstGeom>
          <a:noFill/>
        </p:spPr>
        <p:txBody>
          <a:bodyPr wrap="square" anchor="t">
            <a:spAutoFit/>
          </a:bodyPr>
          <a:lstStyle/>
          <a:p>
            <a:pPr algn="l"/>
            <a:r>
              <a:rPr sz="1300" b="0">
                <a:solidFill>
                  <a:srgbClr val="394252"/>
                </a:solidFill>
                <a:latin typeface="Aptos"/>
              </a:rPr>
              <a:t>Aims to reduce manual searching, make investigations traceable and record review decisions consistently.</a:t>
            </a:r>
          </a:p>
        </p:txBody>
      </p:sp>
      <p:sp>
        <p:nvSpPr>
          <p:cNvPr id="20" name="TextBox 19"/>
          <p:cNvSpPr txBox="1"/>
          <p:nvPr/>
        </p:nvSpPr>
        <p:spPr>
          <a:xfrm>
            <a:off x="731520" y="4069080"/>
            <a:ext cx="10698480" cy="320040"/>
          </a:xfrm>
          <a:prstGeom prst="rect">
            <a:avLst/>
          </a:prstGeom>
          <a:noFill/>
        </p:spPr>
        <p:txBody>
          <a:bodyPr wrap="square" anchor="t">
            <a:spAutoFit/>
          </a:bodyPr>
          <a:lstStyle/>
          <a:p>
            <a:pPr algn="l"/>
            <a:r>
              <a:rPr sz="1500" b="1">
                <a:solidFill>
                  <a:srgbClr val="162239"/>
                </a:solidFill>
                <a:latin typeface="Aptos"/>
              </a:rPr>
              <a:t>FUTURE ROADMAP</a:t>
            </a:r>
          </a:p>
        </p:txBody>
      </p:sp>
      <p:sp>
        <p:nvSpPr>
          <p:cNvPr id="21" name="Rectangle 20"/>
          <p:cNvSpPr/>
          <p:nvPr/>
        </p:nvSpPr>
        <p:spPr>
          <a:xfrm>
            <a:off x="914400" y="4773168"/>
            <a:ext cx="9966960" cy="45720"/>
          </a:xfrm>
          <a:prstGeom prst="rect">
            <a:avLst/>
          </a:prstGeom>
          <a:solidFill>
            <a:srgbClr val="DEE3ED"/>
          </a:solidFill>
          <a:ln>
            <a:solidFill>
              <a:srgbClr val="DEE3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960120" y="4590288"/>
            <a:ext cx="384048" cy="384048"/>
          </a:xfrm>
          <a:prstGeom prst="ellipse">
            <a:avLst/>
          </a:prstGeom>
          <a:solidFill>
            <a:srgbClr val="5369DC"/>
          </a:solidFill>
          <a:ln>
            <a:solidFill>
              <a:srgbClr val="5369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4400" y="5102352"/>
            <a:ext cx="1600200" cy="228600"/>
          </a:xfrm>
          <a:prstGeom prst="rect">
            <a:avLst/>
          </a:prstGeom>
          <a:noFill/>
        </p:spPr>
        <p:txBody>
          <a:bodyPr wrap="square" anchor="t">
            <a:spAutoFit/>
          </a:bodyPr>
          <a:lstStyle/>
          <a:p>
            <a:pPr algn="l"/>
            <a:r>
              <a:rPr sz="1100" b="1">
                <a:solidFill>
                  <a:srgbClr val="394252"/>
                </a:solidFill>
                <a:latin typeface="Aptos"/>
              </a:rPr>
              <a:t>01  Prototype</a:t>
            </a:r>
          </a:p>
        </p:txBody>
      </p:sp>
      <p:sp>
        <p:nvSpPr>
          <p:cNvPr id="24" name="Oval 23"/>
          <p:cNvSpPr/>
          <p:nvPr/>
        </p:nvSpPr>
        <p:spPr>
          <a:xfrm>
            <a:off x="3429000" y="4590288"/>
            <a:ext cx="384048" cy="384048"/>
          </a:xfrm>
          <a:prstGeom prst="ellipse">
            <a:avLst/>
          </a:prstGeom>
          <a:solidFill>
            <a:srgbClr val="2DA6A0"/>
          </a:solidFill>
          <a:ln>
            <a:solidFill>
              <a:srgbClr val="2DA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383280" y="5102352"/>
            <a:ext cx="1600200" cy="228600"/>
          </a:xfrm>
          <a:prstGeom prst="rect">
            <a:avLst/>
          </a:prstGeom>
          <a:noFill/>
        </p:spPr>
        <p:txBody>
          <a:bodyPr wrap="square" anchor="t">
            <a:spAutoFit/>
          </a:bodyPr>
          <a:lstStyle/>
          <a:p>
            <a:pPr algn="l"/>
            <a:r>
              <a:rPr sz="1100" b="1">
                <a:solidFill>
                  <a:srgbClr val="394252"/>
                </a:solidFill>
                <a:latin typeface="Aptos"/>
              </a:rPr>
              <a:t>02  Pilot testing</a:t>
            </a:r>
          </a:p>
        </p:txBody>
      </p:sp>
      <p:sp>
        <p:nvSpPr>
          <p:cNvPr id="26" name="Oval 25"/>
          <p:cNvSpPr/>
          <p:nvPr/>
        </p:nvSpPr>
        <p:spPr>
          <a:xfrm>
            <a:off x="5897880" y="4590288"/>
            <a:ext cx="384048" cy="384048"/>
          </a:xfrm>
          <a:prstGeom prst="ellipse">
            <a:avLst/>
          </a:prstGeom>
          <a:solidFill>
            <a:srgbClr val="5369DC"/>
          </a:solidFill>
          <a:ln>
            <a:solidFill>
              <a:srgbClr val="5369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852160" y="5102352"/>
            <a:ext cx="1600200" cy="228600"/>
          </a:xfrm>
          <a:prstGeom prst="rect">
            <a:avLst/>
          </a:prstGeom>
          <a:noFill/>
        </p:spPr>
        <p:txBody>
          <a:bodyPr wrap="square" anchor="t">
            <a:spAutoFit/>
          </a:bodyPr>
          <a:lstStyle/>
          <a:p>
            <a:pPr algn="l"/>
            <a:r>
              <a:rPr sz="1100" b="1">
                <a:solidFill>
                  <a:srgbClr val="394252"/>
                </a:solidFill>
                <a:latin typeface="Aptos"/>
              </a:rPr>
              <a:t>03  Improve</a:t>
            </a:r>
          </a:p>
        </p:txBody>
      </p:sp>
      <p:sp>
        <p:nvSpPr>
          <p:cNvPr id="28" name="Oval 27"/>
          <p:cNvSpPr/>
          <p:nvPr/>
        </p:nvSpPr>
        <p:spPr>
          <a:xfrm>
            <a:off x="8366760" y="4590288"/>
            <a:ext cx="384048" cy="384048"/>
          </a:xfrm>
          <a:prstGeom prst="ellipse">
            <a:avLst/>
          </a:prstGeom>
          <a:solidFill>
            <a:srgbClr val="2DA6A0"/>
          </a:solidFill>
          <a:ln>
            <a:solidFill>
              <a:srgbClr val="2DA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321040" y="5102352"/>
            <a:ext cx="1600200" cy="228600"/>
          </a:xfrm>
          <a:prstGeom prst="rect">
            <a:avLst/>
          </a:prstGeom>
          <a:noFill/>
        </p:spPr>
        <p:txBody>
          <a:bodyPr wrap="square" anchor="t">
            <a:spAutoFit/>
          </a:bodyPr>
          <a:lstStyle/>
          <a:p>
            <a:pPr algn="l"/>
            <a:r>
              <a:rPr sz="1100" b="1">
                <a:solidFill>
                  <a:srgbClr val="394252"/>
                </a:solidFill>
                <a:latin typeface="Aptos"/>
              </a:rPr>
              <a:t>04  Deploy &amp; scale</a:t>
            </a:r>
          </a:p>
        </p:txBody>
      </p:sp>
      <p:sp>
        <p:nvSpPr>
          <p:cNvPr id="30" name="TextBox 29"/>
          <p:cNvSpPr txBox="1"/>
          <p:nvPr/>
        </p:nvSpPr>
        <p:spPr>
          <a:xfrm>
            <a:off x="777240" y="5715000"/>
            <a:ext cx="10698480" cy="320040"/>
          </a:xfrm>
          <a:prstGeom prst="rect">
            <a:avLst/>
          </a:prstGeom>
          <a:noFill/>
        </p:spPr>
        <p:txBody>
          <a:bodyPr wrap="square" anchor="t">
            <a:spAutoFit/>
          </a:bodyPr>
          <a:lstStyle/>
          <a:p>
            <a:pPr algn="l"/>
            <a:r>
              <a:rPr sz="1300" b="1">
                <a:solidFill>
                  <a:srgbClr val="162239"/>
                </a:solidFill>
                <a:latin typeface="Aptos"/>
              </a:rPr>
              <a:t>SUCCESS METRIC:  Precision/recall, OCR error rate on labelled scans, % findings with evidence.</a:t>
            </a:r>
          </a:p>
        </p:txBody>
      </p:sp>
      <p:sp>
        <p:nvSpPr>
          <p:cNvPr id="31" name="TextBox 30"/>
          <p:cNvSpPr txBox="1"/>
          <p:nvPr/>
        </p:nvSpPr>
        <p:spPr>
          <a:xfrm>
            <a:off x="621792" y="6510528"/>
            <a:ext cx="5029200" cy="164592"/>
          </a:xfrm>
          <a:prstGeom prst="rect">
            <a:avLst/>
          </a:prstGeom>
          <a:noFill/>
        </p:spPr>
        <p:txBody>
          <a:bodyPr wrap="square" anchor="t">
            <a:spAutoFit/>
          </a:bodyPr>
          <a:lstStyle/>
          <a:p>
            <a:pPr algn="l"/>
            <a:r>
              <a:rPr sz="800" b="1">
                <a:solidFill>
                  <a:srgbClr val="767F90"/>
                </a:solidFill>
                <a:latin typeface="Aptos"/>
              </a:rPr>
              <a:t>CODE FLAYER 2.0  •  CLINISCOPE  •  PS-11R3</a:t>
            </a:r>
          </a:p>
        </p:txBody>
      </p:sp>
      <p:sp>
        <p:nvSpPr>
          <p:cNvPr id="32" name="TextBox 31"/>
          <p:cNvSpPr txBox="1"/>
          <p:nvPr/>
        </p:nvSpPr>
        <p:spPr>
          <a:xfrm>
            <a:off x="11064240" y="6473952"/>
            <a:ext cx="502920" cy="201168"/>
          </a:xfrm>
          <a:prstGeom prst="rect">
            <a:avLst/>
          </a:prstGeom>
          <a:noFill/>
        </p:spPr>
        <p:txBody>
          <a:bodyPr wrap="square" anchor="t">
            <a:spAutoFit/>
          </a:bodyPr>
          <a:lstStyle/>
          <a:p>
            <a:pPr algn="r"/>
            <a:r>
              <a:rPr sz="900" b="1">
                <a:solidFill>
                  <a:srgbClr val="767F90"/>
                </a:solidFill>
                <a:latin typeface="Aptos"/>
              </a:rPr>
              <a:t>07 / 08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62239"/>
        </a:solidFill>
        <a:effectLst/>
      </p:bgPr>
    </p:bg>
    <p:spTree>
      <p:nvGrpSpPr>
        <p:cNvPr id="1" name=""/>
        <p:cNvGrpSpPr/>
        <p:nvPr/>
      </p:nvGrpSpPr>
      <p:grpSpPr/>
      <p:sp>
        <p:nvSpPr>
          <p:cNvPr id="2" name="Rectangle 1"/>
          <p:cNvSpPr/>
          <p:nvPr/>
        </p:nvSpPr>
        <p:spPr>
          <a:xfrm>
            <a:off x="8823960" y="0"/>
            <a:ext cx="3367735" cy="6858000"/>
          </a:xfrm>
          <a:prstGeom prst="rect">
            <a:avLst/>
          </a:prstGeom>
          <a:solidFill>
            <a:srgbClr val="1C2C4B"/>
          </a:solidFill>
          <a:ln>
            <a:solidFill>
              <a:srgbClr val="1C2C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94360"/>
            <a:ext cx="2926080" cy="274320"/>
          </a:xfrm>
          <a:prstGeom prst="rect">
            <a:avLst/>
          </a:prstGeom>
          <a:noFill/>
        </p:spPr>
        <p:txBody>
          <a:bodyPr wrap="square" anchor="t">
            <a:spAutoFit/>
          </a:bodyPr>
          <a:lstStyle/>
          <a:p>
            <a:pPr algn="l"/>
            <a:r>
              <a:rPr sz="1000" b="1">
                <a:solidFill>
                  <a:srgbClr val="C0CAFF"/>
                </a:solidFill>
                <a:latin typeface="Aptos"/>
              </a:rPr>
              <a:t>CODE FLAYER 2.0  •  08 / 08</a:t>
            </a:r>
          </a:p>
        </p:txBody>
      </p:sp>
      <p:sp>
        <p:nvSpPr>
          <p:cNvPr id="4" name="TextBox 3"/>
          <p:cNvSpPr txBox="1"/>
          <p:nvPr/>
        </p:nvSpPr>
        <p:spPr>
          <a:xfrm>
            <a:off x="731520" y="1234440"/>
            <a:ext cx="7315200" cy="685800"/>
          </a:xfrm>
          <a:prstGeom prst="rect">
            <a:avLst/>
          </a:prstGeom>
          <a:noFill/>
        </p:spPr>
        <p:txBody>
          <a:bodyPr wrap="square" anchor="t">
            <a:spAutoFit/>
          </a:bodyPr>
          <a:lstStyle/>
          <a:p>
            <a:pPr algn="l"/>
            <a:r>
              <a:rPr sz="3400" b="1">
                <a:solidFill>
                  <a:srgbClr val="FFFFFF"/>
                </a:solidFill>
                <a:latin typeface="Aptos"/>
              </a:rPr>
              <a:t>Conclusion</a:t>
            </a:r>
          </a:p>
        </p:txBody>
      </p:sp>
      <p:sp>
        <p:nvSpPr>
          <p:cNvPr id="5" name="TextBox 4"/>
          <p:cNvSpPr txBox="1"/>
          <p:nvPr/>
        </p:nvSpPr>
        <p:spPr>
          <a:xfrm>
            <a:off x="777240" y="2103120"/>
            <a:ext cx="7223760" cy="960120"/>
          </a:xfrm>
          <a:prstGeom prst="rect">
            <a:avLst/>
          </a:prstGeom>
          <a:noFill/>
        </p:spPr>
        <p:txBody>
          <a:bodyPr wrap="square" anchor="t">
            <a:spAutoFit/>
          </a:bodyPr>
          <a:lstStyle/>
          <a:p>
            <a:pPr algn="l"/>
            <a:r>
              <a:rPr sz="1800" b="0">
                <a:solidFill>
                  <a:srgbClr val="D0D7E7"/>
                </a:solidFill>
                <a:latin typeface="Aptos"/>
              </a:rPr>
              <a:t>CLINISCOPE helps reviewers find potential conflicts across digital and scanned healthcare records, trace each one to source evidence, and record decisions with human oversight.</a:t>
            </a:r>
          </a:p>
        </p:txBody>
      </p:sp>
      <p:sp>
        <p:nvSpPr>
          <p:cNvPr id="6" name="Rectangle 5"/>
          <p:cNvSpPr/>
          <p:nvPr/>
        </p:nvSpPr>
        <p:spPr>
          <a:xfrm>
            <a:off x="777240" y="3429000"/>
            <a:ext cx="1097280" cy="64008"/>
          </a:xfrm>
          <a:prstGeom prst="rect">
            <a:avLst/>
          </a:prstGeom>
          <a:solidFill>
            <a:srgbClr val="2DA6A0"/>
          </a:solidFill>
          <a:ln>
            <a:solidFill>
              <a:srgbClr val="2DA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3794760"/>
            <a:ext cx="7132320" cy="594360"/>
          </a:xfrm>
          <a:prstGeom prst="rect">
            <a:avLst/>
          </a:prstGeom>
          <a:noFill/>
        </p:spPr>
        <p:txBody>
          <a:bodyPr wrap="square" anchor="t">
            <a:spAutoFit/>
          </a:bodyPr>
          <a:lstStyle/>
          <a:p>
            <a:pPr algn="l"/>
            <a:r>
              <a:rPr sz="1600" b="1">
                <a:solidFill>
                  <a:srgbClr val="FFFFFF"/>
                </a:solidFill>
                <a:latin typeface="Aptos"/>
              </a:rPr>
              <a:t>Find the conflict. Trace the evidence. Keep humans in control.</a:t>
            </a:r>
          </a:p>
        </p:txBody>
      </p:sp>
      <p:sp>
        <p:nvSpPr>
          <p:cNvPr id="8" name="TextBox 7"/>
          <p:cNvSpPr txBox="1"/>
          <p:nvPr/>
        </p:nvSpPr>
        <p:spPr>
          <a:xfrm>
            <a:off x="777240" y="4983480"/>
            <a:ext cx="6858000" cy="502920"/>
          </a:xfrm>
          <a:prstGeom prst="rect">
            <a:avLst/>
          </a:prstGeom>
          <a:noFill/>
        </p:spPr>
        <p:txBody>
          <a:bodyPr wrap="square" anchor="t">
            <a:spAutoFit/>
          </a:bodyPr>
          <a:lstStyle/>
          <a:p>
            <a:pPr algn="l"/>
            <a:r>
              <a:rPr sz="2400" b="1">
                <a:solidFill>
                  <a:srgbClr val="C0CAFF"/>
                </a:solidFill>
                <a:latin typeface="Aptos"/>
              </a:rPr>
              <a:t>THANK YOU</a:t>
            </a:r>
          </a:p>
        </p:txBody>
      </p:sp>
      <p:sp>
        <p:nvSpPr>
          <p:cNvPr id="9" name="TextBox 8"/>
          <p:cNvSpPr txBox="1"/>
          <p:nvPr/>
        </p:nvSpPr>
        <p:spPr>
          <a:xfrm>
            <a:off x="777240" y="5577840"/>
            <a:ext cx="7132320" cy="411480"/>
          </a:xfrm>
          <a:prstGeom prst="rect">
            <a:avLst/>
          </a:prstGeom>
          <a:noFill/>
        </p:spPr>
        <p:txBody>
          <a:bodyPr wrap="square" anchor="t">
            <a:spAutoFit/>
          </a:bodyPr>
          <a:lstStyle/>
          <a:p>
            <a:pPr algn="l"/>
            <a:r>
              <a:rPr sz="1100" b="0">
                <a:solidFill>
                  <a:srgbClr val="D0D7E7"/>
                </a:solidFill>
                <a:latin typeface="Aptos"/>
              </a:rPr>
              <a:t>[Add team email]  •  github.com/anirudhleetcode-max/cliniscope-healthcare-contradiction-detector</a:t>
            </a:r>
          </a:p>
          <a:p>
            <a:pPr algn="l"/>
            <a:r>
              <a:rPr sz="1100" b="0">
                <a:solidFill>
                  <a:srgbClr val="D0D7E7"/>
                </a:solidFill>
                <a:latin typeface="Aptos"/>
              </a:rPr>
              <a:t>Live demo: anirudhleetcode-max.github.io/cliniscope-healthcare-contradiction-detector  (scan QR)</a:t>
            </a:r>
          </a:p>
        </p:txBody>
      </p:sp>
      <p:sp>
        <p:nvSpPr>
          <p:cNvPr id="10" name="Rounded Rectangle 9"/>
          <p:cNvSpPr/>
          <p:nvPr/>
        </p:nvSpPr>
        <p:spPr>
          <a:xfrm>
            <a:off x="9464040" y="1371600"/>
            <a:ext cx="1600200" cy="1600200"/>
          </a:xfrm>
          <a:prstGeom prst="roundRect">
            <a:avLst>
              <a:gd name="adj" fmla="val 12000"/>
            </a:avLst>
          </a:prstGeom>
          <a:solidFill>
            <a:srgbClr val="5369DC"/>
          </a:solidFill>
          <a:ln>
            <a:solidFill>
              <a:srgbClr val="5369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10195560" y="3246120"/>
            <a:ext cx="1005840" cy="1005840"/>
          </a:xfrm>
          <a:prstGeom prst="roundRect">
            <a:avLst>
              <a:gd name="adj" fmla="val 12000"/>
            </a:avLst>
          </a:prstGeom>
          <a:solidFill>
            <a:srgbClr val="2DA6A0"/>
          </a:solidFill>
          <a:ln>
            <a:solidFill>
              <a:srgbClr val="2DA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0" y="6126480"/>
            <a:ext cx="2651760" cy="228600"/>
          </a:xfrm>
          <a:prstGeom prst="rect">
            <a:avLst/>
          </a:prstGeom>
          <a:noFill/>
        </p:spPr>
        <p:txBody>
          <a:bodyPr wrap="square" anchor="t">
            <a:spAutoFit/>
          </a:bodyPr>
          <a:lstStyle/>
          <a:p>
            <a:pPr algn="r"/>
            <a:r>
              <a:rPr sz="1100" b="1">
                <a:solidFill>
                  <a:srgbClr val="D0D7E7"/>
                </a:solidFill>
                <a:latin typeface="Aptos"/>
              </a:rPr>
              <a:t>CLINISCOPE</a:t>
            </a:r>
          </a:p>
        </p:txBody>
      </p:sp>
      <p:pic>
        <p:nvPicPr>
          <p:cNvPr id="13" name="QR Live Demo" descr="QR code linking to the CLINISCOPE live demo: https://anirudhleetcode-max.github.io/cliniscope-healthcare-contradiction-detector/"/>
          <p:cNvPicPr>
            <a:picLocks noChangeAspect="1"/>
          </p:cNvPicPr>
          <p:nvPr/>
        </p:nvPicPr>
        <p:blipFill>
          <a:blip r:embed="rId2"/>
          <a:stretch>
            <a:fillRect/>
          </a:stretch>
        </p:blipFill>
        <p:spPr>
          <a:xfrm>
            <a:off x="9464040" y="4526280"/>
            <a:ext cx="1371600" cy="13716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