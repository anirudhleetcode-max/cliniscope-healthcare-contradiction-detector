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nirudhleetcode-max.github.io/cliniscope-healthcare-contradiction-detector/" TargetMode="External"/><Relationship Id="rId3" Type="http://schemas.openxmlformats.org/officeDocument/2006/relationships/hyperlink" Target="https://github.com/anirudhleetcode-max/cliniscope-healthcare-contradiction-detector" TargetMode="External"/><Relationship Id="rId4"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239"/>
        </a:solidFill>
        <a:effectLst/>
      </p:bgPr>
    </p:bg>
    <p:spTree>
      <p:nvGrpSpPr>
        <p:cNvPr id="1" name=""/>
        <p:cNvGrpSpPr/>
        <p:nvPr/>
      </p:nvGrpSpPr>
      <p:grpSpPr/>
      <p:sp>
        <p:nvSpPr>
          <p:cNvPr id="2" name="Rectangle 1"/>
          <p:cNvSpPr/>
          <p:nvPr/>
        </p:nvSpPr>
        <p:spPr>
          <a:xfrm>
            <a:off x="8732520" y="0"/>
            <a:ext cx="3456432" cy="6858000"/>
          </a:xfrm>
          <a:prstGeom prst="rect">
            <a:avLst/>
          </a:prstGeom>
          <a:solidFill>
            <a:srgbClr val="1C2C4B"/>
          </a:solidFill>
          <a:ln>
            <a:solidFill>
              <a:srgbClr val="1C2C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464040" y="1051560"/>
            <a:ext cx="1737360" cy="1737360"/>
          </a:xfrm>
          <a:prstGeom prst="roundRect">
            <a:avLst>
              <a:gd name="adj" fmla="val 12000"/>
            </a:avLst>
          </a:prstGeom>
          <a:solidFill>
            <a:srgbClr val="5369DC"/>
          </a:solidFill>
          <a:ln>
            <a:solidFill>
              <a:srgbClr val="536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195560" y="2880360"/>
            <a:ext cx="1097280" cy="1097280"/>
          </a:xfrm>
          <a:prstGeom prst="roundRect">
            <a:avLst>
              <a:gd name="adj" fmla="val 12000"/>
            </a:avLst>
          </a:prstGeom>
          <a:solidFill>
            <a:srgbClr val="2DA6A0"/>
          </a:solidFill>
          <a:ln>
            <a:solidFill>
              <a:srgbClr val="2DA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052560" y="4251960"/>
            <a:ext cx="1828800" cy="109728"/>
          </a:xfrm>
          <a:prstGeom prst="rect">
            <a:avLst/>
          </a:prstGeom>
          <a:solidFill>
            <a:srgbClr val="C0CAFF"/>
          </a:solidFill>
          <a:ln>
            <a:solidFill>
              <a:srgbClr val="C0C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566928"/>
            <a:ext cx="7589520" cy="274320"/>
          </a:xfrm>
          <a:prstGeom prst="rect">
            <a:avLst/>
          </a:prstGeom>
          <a:noFill/>
        </p:spPr>
        <p:txBody>
          <a:bodyPr wrap="square" anchor="t">
            <a:spAutoFit/>
          </a:bodyPr>
          <a:lstStyle/>
          <a:p>
            <a:pPr algn="l"/>
            <a:r>
              <a:rPr sz="1100" b="1">
                <a:solidFill>
                  <a:srgbClr val="C0CAFF"/>
                </a:solidFill>
                <a:latin typeface="Aptos"/>
              </a:rPr>
              <a:t>CODE FLAYER 2.0  •  PROJECT PRESENTATION  •  PS-11R3</a:t>
            </a:r>
          </a:p>
        </p:txBody>
      </p:sp>
      <p:sp>
        <p:nvSpPr>
          <p:cNvPr id="7" name="TextBox 6"/>
          <p:cNvSpPr txBox="1"/>
          <p:nvPr/>
        </p:nvSpPr>
        <p:spPr>
          <a:xfrm>
            <a:off x="731520" y="1325880"/>
            <a:ext cx="7772400" cy="1325880"/>
          </a:xfrm>
          <a:prstGeom prst="rect">
            <a:avLst/>
          </a:prstGeom>
          <a:noFill/>
        </p:spPr>
        <p:txBody>
          <a:bodyPr wrap="square" anchor="t">
            <a:spAutoFit/>
          </a:bodyPr>
          <a:lstStyle/>
          <a:p>
            <a:pPr algn="l"/>
            <a:r>
              <a:rPr sz="4800" b="1">
                <a:solidFill>
                  <a:srgbClr val="FFFFFF"/>
                </a:solidFill>
                <a:latin typeface="Aptos"/>
              </a:rPr>
              <a:t>CLINISCOPE</a:t>
            </a:r>
          </a:p>
          <a:p>
            <a:pPr algn="l"/>
            <a:r>
              <a:rPr sz="2200" b="1">
                <a:solidFill>
                  <a:srgbClr val="C0CAFF"/>
                </a:solidFill>
                <a:latin typeface="Aptos"/>
              </a:rPr>
              <a:t>Healthcare Record Contradiction Detector</a:t>
            </a:r>
          </a:p>
        </p:txBody>
      </p:sp>
      <p:sp>
        <p:nvSpPr>
          <p:cNvPr id="8" name="TextBox 7"/>
          <p:cNvSpPr txBox="1"/>
          <p:nvPr/>
        </p:nvSpPr>
        <p:spPr>
          <a:xfrm>
            <a:off x="768096" y="2788920"/>
            <a:ext cx="7772400" cy="457200"/>
          </a:xfrm>
          <a:prstGeom prst="rect">
            <a:avLst/>
          </a:prstGeom>
          <a:noFill/>
        </p:spPr>
        <p:txBody>
          <a:bodyPr wrap="square" anchor="t">
            <a:spAutoFit/>
          </a:bodyPr>
          <a:lstStyle/>
          <a:p>
            <a:pPr algn="l"/>
            <a:r>
              <a:rPr sz="1800" b="0" i="1">
                <a:solidFill>
                  <a:srgbClr val="D0D7E7"/>
                </a:solidFill>
                <a:latin typeface="Aptos"/>
              </a:rPr>
              <a:t>Find the conflict. Trace the evidence. Keep humans in control.</a:t>
            </a:r>
          </a:p>
        </p:txBody>
      </p:sp>
      <p:sp>
        <p:nvSpPr>
          <p:cNvPr id="9" name="Rectangle 8"/>
          <p:cNvSpPr/>
          <p:nvPr/>
        </p:nvSpPr>
        <p:spPr>
          <a:xfrm>
            <a:off x="777240" y="3429000"/>
            <a:ext cx="1051560" cy="64008"/>
          </a:xfrm>
          <a:prstGeom prst="rect">
            <a:avLst/>
          </a:prstGeom>
          <a:solidFill>
            <a:srgbClr val="2DA6A0"/>
          </a:solidFill>
          <a:ln>
            <a:solidFill>
              <a:srgbClr val="2DA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794760"/>
            <a:ext cx="6949440" cy="347472"/>
          </a:xfrm>
          <a:prstGeom prst="rect">
            <a:avLst/>
          </a:prstGeom>
          <a:noFill/>
        </p:spPr>
        <p:txBody>
          <a:bodyPr wrap="square" anchor="t">
            <a:spAutoFit/>
          </a:bodyPr>
          <a:lstStyle/>
          <a:p>
            <a:pPr algn="l"/>
            <a:r>
              <a:rPr sz="1600" b="1">
                <a:solidFill>
                  <a:srgbClr val="FFFFFF"/>
                </a:solidFill>
                <a:latin typeface="Aptos"/>
              </a:rPr>
              <a:t>TEAM  </a:t>
            </a:r>
            <a:r>
              <a:rPr sz="1600" b="0">
                <a:solidFill>
                  <a:srgbClr val="A0AECC"/>
                </a:solidFill>
                <a:latin typeface="Aptos"/>
              </a:rPr>
              <a:t>[Add official team name]</a:t>
            </a:r>
          </a:p>
        </p:txBody>
      </p:sp>
      <p:sp>
        <p:nvSpPr>
          <p:cNvPr id="11" name="TextBox 10"/>
          <p:cNvSpPr txBox="1"/>
          <p:nvPr/>
        </p:nvSpPr>
        <p:spPr>
          <a:xfrm>
            <a:off x="777240" y="4297680"/>
            <a:ext cx="7132320" cy="777240"/>
          </a:xfrm>
          <a:prstGeom prst="rect">
            <a:avLst/>
          </a:prstGeom>
          <a:noFill/>
        </p:spPr>
        <p:txBody>
          <a:bodyPr wrap="square" anchor="t">
            <a:spAutoFit/>
          </a:bodyPr>
          <a:lstStyle/>
          <a:p>
            <a:pPr algn="l"/>
            <a:r>
              <a:rPr sz="1300" b="0">
                <a:solidFill>
                  <a:srgbClr val="D0D7E7"/>
                </a:solidFill>
                <a:latin typeface="Aptos"/>
              </a:rPr>
              <a:t>Team leader: </a:t>
            </a:r>
            <a:r>
              <a:rPr sz="1300" b="0">
                <a:solidFill>
                  <a:srgbClr val="A0AECC"/>
                </a:solidFill>
                <a:latin typeface="Aptos"/>
              </a:rPr>
              <a:t>[Add team leader]</a:t>
            </a:r>
          </a:p>
          <a:p>
            <a:pPr algn="l"/>
            <a:r>
              <a:rPr sz="1300" b="0">
                <a:solidFill>
                  <a:srgbClr val="D0D7E7"/>
                </a:solidFill>
                <a:latin typeface="Aptos"/>
              </a:rPr>
              <a:t>Team members: </a:t>
            </a:r>
            <a:r>
              <a:rPr sz="1300" b="0">
                <a:solidFill>
                  <a:srgbClr val="A0AECC"/>
                </a:solidFill>
                <a:latin typeface="Aptos"/>
              </a:rPr>
              <a:t>[Add member names]</a:t>
            </a:r>
          </a:p>
        </p:txBody>
      </p:sp>
      <p:sp>
        <p:nvSpPr>
          <p:cNvPr id="12" name="TextBox 11"/>
          <p:cNvSpPr txBox="1"/>
          <p:nvPr/>
        </p:nvSpPr>
        <p:spPr>
          <a:xfrm>
            <a:off x="777240" y="6080760"/>
            <a:ext cx="7680960" cy="228600"/>
          </a:xfrm>
          <a:prstGeom prst="rect">
            <a:avLst/>
          </a:prstGeom>
          <a:noFill/>
        </p:spPr>
        <p:txBody>
          <a:bodyPr wrap="square" anchor="t">
            <a:spAutoFit/>
          </a:bodyPr>
          <a:lstStyle/>
          <a:p>
            <a:pPr algn="l"/>
            <a:r>
              <a:rPr sz="1000" b="0">
                <a:solidFill>
                  <a:srgbClr val="A0AECC"/>
                </a:solidFill>
                <a:latin typeface="Aptos"/>
              </a:rPr>
              <a:t>Domain: Healthcare  |  Problem statement PS-11R3  |  Vishnu Institute of Technology, Bhimavaram</a:t>
            </a:r>
          </a:p>
        </p:txBody>
      </p:sp>
      <p:sp>
        <p:nvSpPr>
          <p:cNvPr id="13" name="TextBox 12"/>
          <p:cNvSpPr txBox="1"/>
          <p:nvPr/>
        </p:nvSpPr>
        <p:spPr>
          <a:xfrm>
            <a:off x="9144000" y="6144768"/>
            <a:ext cx="2560320" cy="228600"/>
          </a:xfrm>
          <a:prstGeom prst="rect">
            <a:avLst/>
          </a:prstGeom>
          <a:noFill/>
        </p:spPr>
        <p:txBody>
          <a:bodyPr wrap="square" anchor="t">
            <a:spAutoFit/>
          </a:bodyPr>
          <a:lstStyle/>
          <a:p>
            <a:pPr algn="r"/>
            <a:r>
              <a:rPr sz="900" b="1">
                <a:solidFill>
                  <a:srgbClr val="D0D7E7"/>
                </a:solidFill>
                <a:latin typeface="Aptos"/>
              </a:rPr>
              <a:t>01  /  INTRODUCTION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C"/>
        </a:solidFill>
        <a:effectLst/>
      </p:bgPr>
    </p:bg>
    <p:spTree>
      <p:nvGrpSpPr>
        <p:cNvPr id="1" name=""/>
        <p:cNvGrpSpPr/>
        <p:nvPr/>
      </p:nvGrpSpPr>
      <p:grpSpPr/>
      <p:sp>
        <p:nvSpPr>
          <p:cNvPr id="2" name="TextBox 1"/>
          <p:cNvSpPr txBox="1"/>
          <p:nvPr/>
        </p:nvSpPr>
        <p:spPr>
          <a:xfrm>
            <a:off x="594360" y="320040"/>
            <a:ext cx="1828800" cy="274320"/>
          </a:xfrm>
          <a:prstGeom prst="rect">
            <a:avLst/>
          </a:prstGeom>
          <a:noFill/>
        </p:spPr>
        <p:txBody>
          <a:bodyPr wrap="square" anchor="t">
            <a:spAutoFit/>
          </a:bodyPr>
          <a:lstStyle/>
          <a:p>
            <a:pPr algn="l"/>
            <a:r>
              <a:rPr sz="1000" b="1">
                <a:solidFill>
                  <a:srgbClr val="5369DC"/>
                </a:solidFill>
                <a:latin typeface="Aptos"/>
              </a:rPr>
              <a:t>PROJECT PITCH  /  02</a:t>
            </a:r>
          </a:p>
        </p:txBody>
      </p:sp>
      <p:sp>
        <p:nvSpPr>
          <p:cNvPr id="3" name="TextBox 2"/>
          <p:cNvSpPr txBox="1"/>
          <p:nvPr/>
        </p:nvSpPr>
        <p:spPr>
          <a:xfrm>
            <a:off x="594360" y="713232"/>
            <a:ext cx="10972800" cy="502920"/>
          </a:xfrm>
          <a:prstGeom prst="rect">
            <a:avLst/>
          </a:prstGeom>
          <a:noFill/>
        </p:spPr>
        <p:txBody>
          <a:bodyPr wrap="square" anchor="t">
            <a:spAutoFit/>
          </a:bodyPr>
          <a:lstStyle/>
          <a:p>
            <a:pPr algn="l"/>
            <a:r>
              <a:rPr sz="2800" b="1">
                <a:solidFill>
                  <a:srgbClr val="162239"/>
                </a:solidFill>
                <a:latin typeface="Aptos"/>
              </a:rPr>
              <a:t>Problem Statement</a:t>
            </a:r>
          </a:p>
        </p:txBody>
      </p:sp>
      <p:sp>
        <p:nvSpPr>
          <p:cNvPr id="4" name="TextBox 3"/>
          <p:cNvSpPr txBox="1"/>
          <p:nvPr/>
        </p:nvSpPr>
        <p:spPr>
          <a:xfrm>
            <a:off x="621792" y="1261872"/>
            <a:ext cx="10881360" cy="320040"/>
          </a:xfrm>
          <a:prstGeom prst="rect">
            <a:avLst/>
          </a:prstGeom>
          <a:noFill/>
        </p:spPr>
        <p:txBody>
          <a:bodyPr wrap="square" anchor="t">
            <a:spAutoFit/>
          </a:bodyPr>
          <a:lstStyle/>
          <a:p>
            <a:pPr algn="l"/>
            <a:r>
              <a:rPr sz="1200" b="0">
                <a:solidFill>
                  <a:srgbClr val="767F90"/>
                </a:solidFill>
                <a:latin typeface="Aptos"/>
              </a:rPr>
              <a:t>PS-11R3 · Healthcare Record Contradiction Detector. The framing below is our own interpretation of the problem.</a:t>
            </a:r>
          </a:p>
        </p:txBody>
      </p:sp>
      <p:sp>
        <p:nvSpPr>
          <p:cNvPr id="5" name="Rectangle 4"/>
          <p:cNvSpPr/>
          <p:nvPr/>
        </p:nvSpPr>
        <p:spPr>
          <a:xfrm>
            <a:off x="10835640" y="384048"/>
            <a:ext cx="320040" cy="73152"/>
          </a:xfrm>
          <a:prstGeom prst="rect">
            <a:avLst/>
          </a:prstGeom>
          <a:solidFill>
            <a:srgbClr val="5369DC"/>
          </a:solidFill>
          <a:ln>
            <a:solidFill>
              <a:srgbClr val="536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228832" y="384048"/>
            <a:ext cx="320040" cy="73152"/>
          </a:xfrm>
          <a:prstGeom prst="rect">
            <a:avLst/>
          </a:prstGeom>
          <a:solidFill>
            <a:srgbClr val="2DA6A0"/>
          </a:solidFill>
          <a:ln>
            <a:solidFill>
              <a:srgbClr val="2DA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622024" y="384048"/>
            <a:ext cx="0" cy="73152"/>
          </a:xfrm>
          <a:prstGeom prst="rect">
            <a:avLst/>
          </a:prstGeom>
          <a:solidFill>
            <a:srgbClr val="162239"/>
          </a:solidFill>
          <a:ln>
            <a:solidFill>
              <a:srgbClr val="162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1737360"/>
            <a:ext cx="5349240" cy="1783080"/>
          </a:xfrm>
          <a:prstGeom prst="roundRect">
            <a:avLst>
              <a:gd name="adj" fmla="val 12000"/>
            </a:avLst>
          </a:prstGeom>
          <a:solidFill>
            <a:srgbClr val="FFFFFF"/>
          </a:solidFill>
          <a:ln>
            <a:solidFill>
              <a:srgbClr val="DE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737360"/>
            <a:ext cx="64008" cy="1783080"/>
          </a:xfrm>
          <a:prstGeom prst="rect">
            <a:avLst/>
          </a:prstGeom>
          <a:solidFill>
            <a:srgbClr val="5369DC"/>
          </a:solidFill>
          <a:ln>
            <a:solidFill>
              <a:srgbClr val="536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01952"/>
            <a:ext cx="4937759" cy="320040"/>
          </a:xfrm>
          <a:prstGeom prst="rect">
            <a:avLst/>
          </a:prstGeom>
          <a:noFill/>
        </p:spPr>
        <p:txBody>
          <a:bodyPr wrap="square" anchor="t">
            <a:spAutoFit/>
          </a:bodyPr>
          <a:lstStyle/>
          <a:p>
            <a:pPr algn="l"/>
            <a:r>
              <a:rPr sz="1500" b="1">
                <a:solidFill>
                  <a:srgbClr val="162239"/>
                </a:solidFill>
                <a:latin typeface="Aptos"/>
              </a:rPr>
              <a:t>01  THE PROBLEM</a:t>
            </a:r>
          </a:p>
        </p:txBody>
      </p:sp>
      <p:sp>
        <p:nvSpPr>
          <p:cNvPr id="11" name="TextBox 10"/>
          <p:cNvSpPr txBox="1"/>
          <p:nvPr/>
        </p:nvSpPr>
        <p:spPr>
          <a:xfrm>
            <a:off x="859536" y="2286000"/>
            <a:ext cx="4937759" cy="1097280"/>
          </a:xfrm>
          <a:prstGeom prst="rect">
            <a:avLst/>
          </a:prstGeom>
          <a:noFill/>
        </p:spPr>
        <p:txBody>
          <a:bodyPr wrap="square" anchor="t">
            <a:spAutoFit/>
          </a:bodyPr>
          <a:lstStyle/>
          <a:p>
            <a:pPr algn="l"/>
            <a:r>
              <a:rPr sz="1300" b="0">
                <a:solidFill>
                  <a:srgbClr val="394252"/>
                </a:solidFill>
                <a:latin typeface="Aptos"/>
              </a:rPr>
              <a:t>Patient information is spread across discharge summaries, intake forms, medication lists and lab reports. Allergies, doses, diagnoses and lab values can differ between records, and finding those differences by hand is slow.</a:t>
            </a:r>
          </a:p>
        </p:txBody>
      </p:sp>
      <p:sp>
        <p:nvSpPr>
          <p:cNvPr id="12" name="Rounded Rectangle 11"/>
          <p:cNvSpPr/>
          <p:nvPr/>
        </p:nvSpPr>
        <p:spPr>
          <a:xfrm>
            <a:off x="6217920" y="1737360"/>
            <a:ext cx="5303520" cy="1783080"/>
          </a:xfrm>
          <a:prstGeom prst="roundRect">
            <a:avLst>
              <a:gd name="adj" fmla="val 12000"/>
            </a:avLst>
          </a:prstGeom>
          <a:solidFill>
            <a:srgbClr val="FFFFFF"/>
          </a:solidFill>
          <a:ln>
            <a:solidFill>
              <a:srgbClr val="DE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737360"/>
            <a:ext cx="64008" cy="1783080"/>
          </a:xfrm>
          <a:prstGeom prst="rect">
            <a:avLst/>
          </a:prstGeom>
          <a:solidFill>
            <a:srgbClr val="2DA6A0"/>
          </a:solidFill>
          <a:ln>
            <a:solidFill>
              <a:srgbClr val="2DA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1901952"/>
            <a:ext cx="4892040" cy="320040"/>
          </a:xfrm>
          <a:prstGeom prst="rect">
            <a:avLst/>
          </a:prstGeom>
          <a:noFill/>
        </p:spPr>
        <p:txBody>
          <a:bodyPr wrap="square" anchor="t">
            <a:spAutoFit/>
          </a:bodyPr>
          <a:lstStyle/>
          <a:p>
            <a:pPr algn="l"/>
            <a:r>
              <a:rPr sz="1500" b="1">
                <a:solidFill>
                  <a:srgbClr val="162239"/>
                </a:solidFill>
                <a:latin typeface="Aptos"/>
              </a:rPr>
              <a:t>02  TARGET USERS </a:t>
            </a:r>
            <a:r>
              <a:rPr sz="1200" b="0">
                <a:solidFill>
                  <a:srgbClr val="767F90"/>
                </a:solidFill>
                <a:latin typeface="Aptos"/>
              </a:rPr>
              <a:t>(INTENDED)</a:t>
            </a:r>
          </a:p>
        </p:txBody>
      </p:sp>
      <p:sp>
        <p:nvSpPr>
          <p:cNvPr id="15" name="TextBox 14"/>
          <p:cNvSpPr txBox="1"/>
          <p:nvPr/>
        </p:nvSpPr>
        <p:spPr>
          <a:xfrm>
            <a:off x="6437376" y="2286000"/>
            <a:ext cx="4892040" cy="1097280"/>
          </a:xfrm>
          <a:prstGeom prst="rect">
            <a:avLst/>
          </a:prstGeom>
          <a:noFill/>
        </p:spPr>
        <p:txBody>
          <a:bodyPr wrap="square" anchor="t">
            <a:spAutoFit/>
          </a:bodyPr>
          <a:lstStyle/>
          <a:p>
            <a:pPr algn="l" marL="228600" indent="-228600">
              <a:spcAft>
                <a:spcPts val="200"/>
              </a:spcAft>
              <a:buClr>
                <a:srgbClr val="2DA6A0"/>
              </a:buClr>
              <a:buFont typeface="Arial"/>
              <a:buChar char="•"/>
            </a:pPr>
            <a:r>
              <a:rPr sz="1300" b="1">
                <a:solidFill>
                  <a:srgbClr val="162239"/>
                </a:solidFill>
                <a:latin typeface="Aptos"/>
              </a:rPr>
              <a:t>Clinicians</a:t>
            </a:r>
            <a:r>
              <a:rPr sz="1300" b="0">
                <a:solidFill>
                  <a:srgbClr val="394252"/>
                </a:solidFill>
                <a:latin typeface="Aptos"/>
              </a:rPr>
              <a:t> reviewing patient records</a:t>
            </a:r>
          </a:p>
          <a:p>
            <a:pPr algn="l" marL="228600" indent="-228600">
              <a:spcAft>
                <a:spcPts val="200"/>
              </a:spcAft>
              <a:buClr>
                <a:srgbClr val="2DA6A0"/>
              </a:buClr>
              <a:buFont typeface="Arial"/>
              <a:buChar char="•"/>
            </a:pPr>
            <a:r>
              <a:rPr sz="1300" b="1">
                <a:solidFill>
                  <a:srgbClr val="162239"/>
                </a:solidFill>
                <a:latin typeface="Aptos"/>
              </a:rPr>
              <a:t>Medical-records / HIM teams</a:t>
            </a:r>
            <a:r>
              <a:rPr sz="1300" b="0">
                <a:solidFill>
                  <a:srgbClr val="394252"/>
                </a:solidFill>
                <a:latin typeface="Aptos"/>
              </a:rPr>
              <a:t/>
            </a:r>
          </a:p>
          <a:p>
            <a:pPr algn="l" marL="228600" indent="-228600">
              <a:spcAft>
                <a:spcPts val="200"/>
              </a:spcAft>
              <a:buClr>
                <a:srgbClr val="2DA6A0"/>
              </a:buClr>
              <a:buFont typeface="Arial"/>
              <a:buChar char="•"/>
            </a:pPr>
            <a:r>
              <a:rPr sz="1300" b="1">
                <a:solidFill>
                  <a:srgbClr val="162239"/>
                </a:solidFill>
                <a:latin typeface="Aptos"/>
              </a:rPr>
              <a:t>Clinical quality &amp; patient-safety</a:t>
            </a:r>
            <a:r>
              <a:rPr sz="1300" b="0">
                <a:solidFill>
                  <a:srgbClr val="394252"/>
                </a:solidFill>
                <a:latin typeface="Aptos"/>
              </a:rPr>
              <a:t> reviewers</a:t>
            </a:r>
          </a:p>
          <a:p>
            <a:pPr algn="l" marL="228600" indent="-228600">
              <a:spcAft>
                <a:spcPts val="200"/>
              </a:spcAft>
              <a:buClr>
                <a:srgbClr val="2DA6A0"/>
              </a:buClr>
              <a:buFont typeface="Arial"/>
              <a:buChar char="•"/>
            </a:pPr>
            <a:r>
              <a:rPr sz="1300" b="1">
                <a:solidFill>
                  <a:srgbClr val="162239"/>
                </a:solidFill>
                <a:latin typeface="Aptos"/>
              </a:rPr>
              <a:t>Authorized staff</a:t>
            </a:r>
            <a:r>
              <a:rPr sz="1300" b="0">
                <a:solidFill>
                  <a:srgbClr val="394252"/>
                </a:solidFill>
                <a:latin typeface="Aptos"/>
              </a:rPr>
              <a:t> reconciling records</a:t>
            </a:r>
          </a:p>
        </p:txBody>
      </p:sp>
      <p:sp>
        <p:nvSpPr>
          <p:cNvPr id="16" name="Rounded Rectangle 15"/>
          <p:cNvSpPr/>
          <p:nvPr/>
        </p:nvSpPr>
        <p:spPr>
          <a:xfrm>
            <a:off x="640080" y="3657600"/>
            <a:ext cx="5349240" cy="1783080"/>
          </a:xfrm>
          <a:prstGeom prst="roundRect">
            <a:avLst>
              <a:gd name="adj" fmla="val 12000"/>
            </a:avLst>
          </a:prstGeom>
          <a:solidFill>
            <a:srgbClr val="FFFFFF"/>
          </a:solidFill>
          <a:ln>
            <a:solidFill>
              <a:srgbClr val="DE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3657600"/>
            <a:ext cx="64008" cy="1783080"/>
          </a:xfrm>
          <a:prstGeom prst="rect">
            <a:avLst/>
          </a:prstGeom>
          <a:solidFill>
            <a:srgbClr val="2DA6A0"/>
          </a:solidFill>
          <a:ln>
            <a:solidFill>
              <a:srgbClr val="2DA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 y="3822191"/>
            <a:ext cx="4937759" cy="320040"/>
          </a:xfrm>
          <a:prstGeom prst="rect">
            <a:avLst/>
          </a:prstGeom>
          <a:noFill/>
        </p:spPr>
        <p:txBody>
          <a:bodyPr wrap="square" anchor="t">
            <a:spAutoFit/>
          </a:bodyPr>
          <a:lstStyle/>
          <a:p>
            <a:pPr algn="l"/>
            <a:r>
              <a:rPr sz="1500" b="1">
                <a:solidFill>
                  <a:srgbClr val="162239"/>
                </a:solidFill>
                <a:latin typeface="Aptos"/>
              </a:rPr>
              <a:t>03  CURRENT CHALLENGES</a:t>
            </a:r>
          </a:p>
        </p:txBody>
      </p:sp>
      <p:sp>
        <p:nvSpPr>
          <p:cNvPr id="19" name="TextBox 18"/>
          <p:cNvSpPr txBox="1"/>
          <p:nvPr/>
        </p:nvSpPr>
        <p:spPr>
          <a:xfrm>
            <a:off x="859536" y="4206240"/>
            <a:ext cx="4937759" cy="1097280"/>
          </a:xfrm>
          <a:prstGeom prst="rect">
            <a:avLst/>
          </a:prstGeom>
          <a:noFill/>
        </p:spPr>
        <p:txBody>
          <a:bodyPr wrap="square" anchor="t">
            <a:spAutoFit/>
          </a:bodyPr>
          <a:lstStyle/>
          <a:p>
            <a:pPr algn="l" marL="228600" indent="-228600">
              <a:spcAft>
                <a:spcPts val="200"/>
              </a:spcAft>
              <a:buClr>
                <a:srgbClr val="2DA6A0"/>
              </a:buClr>
              <a:buFont typeface="Arial"/>
              <a:buChar char="•"/>
            </a:pPr>
            <a:r>
              <a:rPr sz="1300" b="1">
                <a:solidFill>
                  <a:srgbClr val="162239"/>
                </a:solidFill>
                <a:latin typeface="Aptos"/>
              </a:rPr>
              <a:t>Fragmented: </a:t>
            </a:r>
            <a:r>
              <a:rPr sz="1300" b="0">
                <a:solidFill>
                  <a:srgbClr val="394252"/>
                </a:solidFill>
                <a:latin typeface="Aptos"/>
              </a:rPr>
              <a:t>related statements sit in separate documents</a:t>
            </a:r>
          </a:p>
          <a:p>
            <a:pPr algn="l" marL="228600" indent="-228600">
              <a:spcAft>
                <a:spcPts val="200"/>
              </a:spcAft>
              <a:buClr>
                <a:srgbClr val="2DA6A0"/>
              </a:buClr>
              <a:buFont typeface="Arial"/>
              <a:buChar char="•"/>
            </a:pPr>
            <a:r>
              <a:rPr sz="1300" b="1">
                <a:solidFill>
                  <a:srgbClr val="162239"/>
                </a:solidFill>
                <a:latin typeface="Aptos"/>
              </a:rPr>
              <a:t>Context-sensitive: </a:t>
            </a:r>
            <a:r>
              <a:rPr sz="1300" b="0">
                <a:solidFill>
                  <a:srgbClr val="394252"/>
                </a:solidFill>
                <a:latin typeface="Aptos"/>
              </a:rPr>
              <a:t>dates, negation and dose changes blur conflicts</a:t>
            </a:r>
          </a:p>
          <a:p>
            <a:pPr algn="l" marL="228600" indent="-228600">
              <a:spcAft>
                <a:spcPts val="200"/>
              </a:spcAft>
              <a:buClr>
                <a:srgbClr val="2DA6A0"/>
              </a:buClr>
              <a:buFont typeface="Arial"/>
              <a:buChar char="•"/>
            </a:pPr>
            <a:r>
              <a:rPr sz="1300" b="1">
                <a:solidFill>
                  <a:srgbClr val="162239"/>
                </a:solidFill>
                <a:latin typeface="Aptos"/>
              </a:rPr>
              <a:t>Hard to trace: </a:t>
            </a:r>
            <a:r>
              <a:rPr sz="1300" b="0">
                <a:solidFill>
                  <a:srgbClr val="394252"/>
                </a:solidFill>
                <a:latin typeface="Aptos"/>
              </a:rPr>
              <a:t>each discrepancy needs its original source</a:t>
            </a:r>
          </a:p>
        </p:txBody>
      </p:sp>
      <p:sp>
        <p:nvSpPr>
          <p:cNvPr id="20" name="Rounded Rectangle 19"/>
          <p:cNvSpPr/>
          <p:nvPr/>
        </p:nvSpPr>
        <p:spPr>
          <a:xfrm>
            <a:off x="6217920" y="3657600"/>
            <a:ext cx="5303520" cy="1783080"/>
          </a:xfrm>
          <a:prstGeom prst="roundRect">
            <a:avLst>
              <a:gd name="adj" fmla="val 12000"/>
            </a:avLst>
          </a:prstGeom>
          <a:solidFill>
            <a:srgbClr val="FFFFFF"/>
          </a:solidFill>
          <a:ln>
            <a:solidFill>
              <a:srgbClr val="DE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3657600"/>
            <a:ext cx="64008" cy="1783080"/>
          </a:xfrm>
          <a:prstGeom prst="rect">
            <a:avLst/>
          </a:prstGeom>
          <a:solidFill>
            <a:srgbClr val="5369DC"/>
          </a:solidFill>
          <a:ln>
            <a:solidFill>
              <a:srgbClr val="536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7376" y="3822191"/>
            <a:ext cx="4892040" cy="320040"/>
          </a:xfrm>
          <a:prstGeom prst="rect">
            <a:avLst/>
          </a:prstGeom>
          <a:noFill/>
        </p:spPr>
        <p:txBody>
          <a:bodyPr wrap="square" anchor="t">
            <a:spAutoFit/>
          </a:bodyPr>
          <a:lstStyle/>
          <a:p>
            <a:pPr algn="l"/>
            <a:r>
              <a:rPr sz="1500" b="1">
                <a:solidFill>
                  <a:srgbClr val="162239"/>
                </a:solidFill>
                <a:latin typeface="Aptos"/>
              </a:rPr>
              <a:t>04  THE GAP / IMPACT</a:t>
            </a:r>
          </a:p>
        </p:txBody>
      </p:sp>
      <p:sp>
        <p:nvSpPr>
          <p:cNvPr id="23" name="TextBox 22"/>
          <p:cNvSpPr txBox="1"/>
          <p:nvPr/>
        </p:nvSpPr>
        <p:spPr>
          <a:xfrm>
            <a:off x="6437376" y="4206240"/>
            <a:ext cx="4892040" cy="1097280"/>
          </a:xfrm>
          <a:prstGeom prst="rect">
            <a:avLst/>
          </a:prstGeom>
          <a:noFill/>
        </p:spPr>
        <p:txBody>
          <a:bodyPr wrap="square" anchor="t">
            <a:spAutoFit/>
          </a:bodyPr>
          <a:lstStyle/>
          <a:p>
            <a:pPr algn="l"/>
            <a:r>
              <a:rPr sz="1300" b="0">
                <a:solidFill>
                  <a:srgbClr val="394252"/>
                </a:solidFill>
                <a:latin typeface="Aptos"/>
              </a:rPr>
              <a:t>A warning alone is not enough. Reviewers need the original evidence, the context (dates, history) to judge it, and a controlled way to record their final decision.</a:t>
            </a:r>
          </a:p>
        </p:txBody>
      </p:sp>
      <p:sp>
        <p:nvSpPr>
          <p:cNvPr id="24" name="TextBox 23"/>
          <p:cNvSpPr txBox="1"/>
          <p:nvPr/>
        </p:nvSpPr>
        <p:spPr>
          <a:xfrm>
            <a:off x="777240" y="5623560"/>
            <a:ext cx="10698480" cy="594360"/>
          </a:xfrm>
          <a:prstGeom prst="rect">
            <a:avLst/>
          </a:prstGeom>
          <a:noFill/>
        </p:spPr>
        <p:txBody>
          <a:bodyPr wrap="square" anchor="t">
            <a:spAutoFit/>
          </a:bodyPr>
          <a:lstStyle/>
          <a:p>
            <a:pPr algn="l"/>
            <a:r>
              <a:rPr sz="1400" b="1">
                <a:solidFill>
                  <a:srgbClr val="5369DC"/>
                </a:solidFill>
                <a:latin typeface="Aptos"/>
              </a:rPr>
              <a:t>ONE-LINE PROBLEM:  </a:t>
            </a:r>
            <a:r>
              <a:rPr sz="1400" b="0">
                <a:solidFill>
                  <a:srgbClr val="162239"/>
                </a:solidFill>
                <a:latin typeface="Aptos"/>
              </a:rPr>
              <a:t>How might we help healthcare reviewers identify and investigate inconsistencies across medical documents, with clear source evidence and human oversight?</a:t>
            </a:r>
          </a:p>
        </p:txBody>
      </p:sp>
      <p:sp>
        <p:nvSpPr>
          <p:cNvPr id="25" name="TextBox 24"/>
          <p:cNvSpPr txBox="1"/>
          <p:nvPr/>
        </p:nvSpPr>
        <p:spPr>
          <a:xfrm>
            <a:off x="621792" y="6510528"/>
            <a:ext cx="5029200" cy="164592"/>
          </a:xfrm>
          <a:prstGeom prst="rect">
            <a:avLst/>
          </a:prstGeom>
          <a:noFill/>
        </p:spPr>
        <p:txBody>
          <a:bodyPr wrap="square" anchor="t">
            <a:spAutoFit/>
          </a:bodyPr>
          <a:lstStyle/>
          <a:p>
            <a:pPr algn="l"/>
            <a:r>
              <a:rPr sz="800" b="1">
                <a:solidFill>
                  <a:srgbClr val="767F90"/>
                </a:solidFill>
                <a:latin typeface="Aptos"/>
              </a:rPr>
              <a:t>CODE FLAYER 2.0  •  CLINISCOPE  •  PS-11R3</a:t>
            </a:r>
          </a:p>
        </p:txBody>
      </p:sp>
      <p:sp>
        <p:nvSpPr>
          <p:cNvPr id="26" name="TextBox 25"/>
          <p:cNvSpPr txBox="1"/>
          <p:nvPr/>
        </p:nvSpPr>
        <p:spPr>
          <a:xfrm>
            <a:off x="10744200" y="6473952"/>
            <a:ext cx="822960" cy="201168"/>
          </a:xfrm>
          <a:prstGeom prst="rect">
            <a:avLst/>
          </a:prstGeom>
          <a:noFill/>
        </p:spPr>
        <p:txBody>
          <a:bodyPr wrap="square" anchor="t">
            <a:spAutoFit/>
          </a:bodyPr>
          <a:lstStyle/>
          <a:p>
            <a:pPr algn="r"/>
            <a:r>
              <a:rPr sz="900" b="1">
                <a:solidFill>
                  <a:srgbClr val="767F90"/>
                </a:solidFill>
                <a:latin typeface="Aptos"/>
              </a:rPr>
              <a:t>02 / 08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C"/>
        </a:solidFill>
        <a:effectLst/>
      </p:bgPr>
    </p:bg>
    <p:spTree>
      <p:nvGrpSpPr>
        <p:cNvPr id="1" name=""/>
        <p:cNvGrpSpPr/>
        <p:nvPr/>
      </p:nvGrpSpPr>
      <p:grpSpPr/>
      <p:sp>
        <p:nvSpPr>
          <p:cNvPr id="2" name="TextBox 1"/>
          <p:cNvSpPr txBox="1"/>
          <p:nvPr/>
        </p:nvSpPr>
        <p:spPr>
          <a:xfrm>
            <a:off x="594360" y="320040"/>
            <a:ext cx="1828800" cy="274320"/>
          </a:xfrm>
          <a:prstGeom prst="rect">
            <a:avLst/>
          </a:prstGeom>
          <a:noFill/>
        </p:spPr>
        <p:txBody>
          <a:bodyPr wrap="square" anchor="t">
            <a:spAutoFit/>
          </a:bodyPr>
          <a:lstStyle/>
          <a:p>
            <a:pPr algn="l"/>
            <a:r>
              <a:rPr sz="1000" b="1">
                <a:solidFill>
                  <a:srgbClr val="5369DC"/>
                </a:solidFill>
                <a:latin typeface="Aptos"/>
              </a:rPr>
              <a:t>PROJECT PITCH  /  03</a:t>
            </a:r>
          </a:p>
        </p:txBody>
      </p:sp>
      <p:sp>
        <p:nvSpPr>
          <p:cNvPr id="3" name="TextBox 2"/>
          <p:cNvSpPr txBox="1"/>
          <p:nvPr/>
        </p:nvSpPr>
        <p:spPr>
          <a:xfrm>
            <a:off x="594360" y="713232"/>
            <a:ext cx="10972800" cy="502920"/>
          </a:xfrm>
          <a:prstGeom prst="rect">
            <a:avLst/>
          </a:prstGeom>
          <a:noFill/>
        </p:spPr>
        <p:txBody>
          <a:bodyPr wrap="square" anchor="t">
            <a:spAutoFit/>
          </a:bodyPr>
          <a:lstStyle/>
          <a:p>
            <a:pPr algn="l"/>
            <a:r>
              <a:rPr sz="2800" b="1">
                <a:solidFill>
                  <a:srgbClr val="162239"/>
                </a:solidFill>
                <a:latin typeface="Aptos"/>
              </a:rPr>
              <a:t>Proposed Solution</a:t>
            </a:r>
          </a:p>
        </p:txBody>
      </p:sp>
      <p:sp>
        <p:nvSpPr>
          <p:cNvPr id="4" name="TextBox 3"/>
          <p:cNvSpPr txBox="1"/>
          <p:nvPr/>
        </p:nvSpPr>
        <p:spPr>
          <a:xfrm>
            <a:off x="621792" y="1261872"/>
            <a:ext cx="10881360" cy="320040"/>
          </a:xfrm>
          <a:prstGeom prst="rect">
            <a:avLst/>
          </a:prstGeom>
          <a:noFill/>
        </p:spPr>
        <p:txBody>
          <a:bodyPr wrap="square" anchor="t">
            <a:spAutoFit/>
          </a:bodyPr>
          <a:lstStyle/>
          <a:p>
            <a:pPr algn="l"/>
            <a:r>
              <a:rPr sz="1200" b="0">
                <a:solidFill>
                  <a:srgbClr val="767F90"/>
                </a:solidFill>
                <a:latin typeface="Aptos"/>
              </a:rPr>
              <a:t>An evidence-first review prototype: documents in, traceable findings out, decisions made by people.</a:t>
            </a:r>
          </a:p>
        </p:txBody>
      </p:sp>
      <p:sp>
        <p:nvSpPr>
          <p:cNvPr id="5" name="Rectangle 4"/>
          <p:cNvSpPr/>
          <p:nvPr/>
        </p:nvSpPr>
        <p:spPr>
          <a:xfrm>
            <a:off x="10835640" y="384048"/>
            <a:ext cx="320040" cy="73152"/>
          </a:xfrm>
          <a:prstGeom prst="rect">
            <a:avLst/>
          </a:prstGeom>
          <a:solidFill>
            <a:srgbClr val="5369DC"/>
          </a:solidFill>
          <a:ln>
            <a:solidFill>
              <a:srgbClr val="536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228832" y="384048"/>
            <a:ext cx="320040" cy="73152"/>
          </a:xfrm>
          <a:prstGeom prst="rect">
            <a:avLst/>
          </a:prstGeom>
          <a:solidFill>
            <a:srgbClr val="2DA6A0"/>
          </a:solidFill>
          <a:ln>
            <a:solidFill>
              <a:srgbClr val="2DA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622024" y="384048"/>
            <a:ext cx="0" cy="73152"/>
          </a:xfrm>
          <a:prstGeom prst="rect">
            <a:avLst/>
          </a:prstGeom>
          <a:solidFill>
            <a:srgbClr val="162239"/>
          </a:solidFill>
          <a:ln>
            <a:solidFill>
              <a:srgbClr val="162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1737360"/>
            <a:ext cx="6629400" cy="2057400"/>
          </a:xfrm>
          <a:prstGeom prst="roundRect">
            <a:avLst>
              <a:gd name="adj" fmla="val 12000"/>
            </a:avLst>
          </a:prstGeom>
          <a:solidFill>
            <a:srgbClr val="FFFFFF"/>
          </a:solidFill>
          <a:ln>
            <a:solidFill>
              <a:srgbClr val="DE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737360"/>
            <a:ext cx="64008" cy="2057400"/>
          </a:xfrm>
          <a:prstGeom prst="rect">
            <a:avLst/>
          </a:prstGeom>
          <a:solidFill>
            <a:srgbClr val="5369DC"/>
          </a:solidFill>
          <a:ln>
            <a:solidFill>
              <a:srgbClr val="536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01952"/>
            <a:ext cx="6217920" cy="320040"/>
          </a:xfrm>
          <a:prstGeom prst="rect">
            <a:avLst/>
          </a:prstGeom>
          <a:noFill/>
        </p:spPr>
        <p:txBody>
          <a:bodyPr wrap="square" anchor="t">
            <a:spAutoFit/>
          </a:bodyPr>
          <a:lstStyle/>
          <a:p>
            <a:pPr algn="l"/>
            <a:r>
              <a:rPr sz="1500" b="1">
                <a:solidFill>
                  <a:srgbClr val="162239"/>
                </a:solidFill>
                <a:latin typeface="Aptos"/>
              </a:rPr>
              <a:t>SOLUTION OVERVIEW</a:t>
            </a:r>
          </a:p>
        </p:txBody>
      </p:sp>
      <p:sp>
        <p:nvSpPr>
          <p:cNvPr id="11" name="TextBox 10"/>
          <p:cNvSpPr txBox="1"/>
          <p:nvPr/>
        </p:nvSpPr>
        <p:spPr>
          <a:xfrm>
            <a:off x="859536" y="2286000"/>
            <a:ext cx="6217920" cy="1371600"/>
          </a:xfrm>
          <a:prstGeom prst="rect">
            <a:avLst/>
          </a:prstGeom>
          <a:noFill/>
        </p:spPr>
        <p:txBody>
          <a:bodyPr wrap="square" anchor="t">
            <a:spAutoFit/>
          </a:bodyPr>
          <a:lstStyle/>
          <a:p>
            <a:pPr algn="l"/>
            <a:r>
              <a:rPr sz="1400" b="0">
                <a:solidFill>
                  <a:srgbClr val="394252"/>
                </a:solidFill>
                <a:latin typeface="Aptos"/>
              </a:rPr>
              <a:t>CLINISCOPE extracts text from PDF, TXT and DOCX records, identifies allergy, medication, diagnosis, lab, procedure and smoking statements with deterministic rules, compares them across the documents of one case, and flags potential discrepancies with verified source quotations for human review.</a:t>
            </a:r>
          </a:p>
        </p:txBody>
      </p:sp>
      <p:sp>
        <p:nvSpPr>
          <p:cNvPr id="12" name="Rounded Rectangle 11"/>
          <p:cNvSpPr/>
          <p:nvPr/>
        </p:nvSpPr>
        <p:spPr>
          <a:xfrm>
            <a:off x="7498079" y="1737360"/>
            <a:ext cx="4023360" cy="2057400"/>
          </a:xfrm>
          <a:prstGeom prst="roundRect">
            <a:avLst>
              <a:gd name="adj" fmla="val 12000"/>
            </a:avLst>
          </a:prstGeom>
          <a:solidFill>
            <a:srgbClr val="FFFFFF"/>
          </a:solidFill>
          <a:ln>
            <a:solidFill>
              <a:srgbClr val="DE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98079" y="1737360"/>
            <a:ext cx="64008" cy="2057400"/>
          </a:xfrm>
          <a:prstGeom prst="rect">
            <a:avLst/>
          </a:prstGeom>
          <a:solidFill>
            <a:srgbClr val="2DA6A0"/>
          </a:solidFill>
          <a:ln>
            <a:solidFill>
              <a:srgbClr val="2DA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17536" y="1901952"/>
            <a:ext cx="3611880" cy="320040"/>
          </a:xfrm>
          <a:prstGeom prst="rect">
            <a:avLst/>
          </a:prstGeom>
          <a:noFill/>
        </p:spPr>
        <p:txBody>
          <a:bodyPr wrap="square" anchor="t">
            <a:spAutoFit/>
          </a:bodyPr>
          <a:lstStyle/>
          <a:p>
            <a:pPr algn="l"/>
            <a:r>
              <a:rPr sz="1500" b="1">
                <a:solidFill>
                  <a:srgbClr val="162239"/>
                </a:solidFill>
                <a:latin typeface="Aptos"/>
              </a:rPr>
              <a:t>UNIQUE VALUE / USP</a:t>
            </a:r>
          </a:p>
        </p:txBody>
      </p:sp>
      <p:sp>
        <p:nvSpPr>
          <p:cNvPr id="15" name="TextBox 14"/>
          <p:cNvSpPr txBox="1"/>
          <p:nvPr/>
        </p:nvSpPr>
        <p:spPr>
          <a:xfrm>
            <a:off x="7717536" y="2286000"/>
            <a:ext cx="3611880" cy="1371600"/>
          </a:xfrm>
          <a:prstGeom prst="rect">
            <a:avLst/>
          </a:prstGeom>
          <a:noFill/>
        </p:spPr>
        <p:txBody>
          <a:bodyPr wrap="square" anchor="t">
            <a:spAutoFit/>
          </a:bodyPr>
          <a:lstStyle/>
          <a:p>
            <a:pPr algn="l"/>
            <a:r>
              <a:rPr sz="1250" b="0">
                <a:solidFill>
                  <a:srgbClr val="394252"/>
                </a:solidFill>
                <a:latin typeface="Aptos"/>
              </a:rPr>
              <a:t>Every finding is traceable: it is created only if each quote is found again at its exact source offsets. Dated or documented changes are separated from true conflicts, and the final decision stays with the reviewer.</a:t>
            </a:r>
          </a:p>
        </p:txBody>
      </p:sp>
      <p:sp>
        <p:nvSpPr>
          <p:cNvPr id="16" name="Rounded Rectangle 15"/>
          <p:cNvSpPr/>
          <p:nvPr/>
        </p:nvSpPr>
        <p:spPr>
          <a:xfrm>
            <a:off x="640080" y="4023360"/>
            <a:ext cx="3337560" cy="1463040"/>
          </a:xfrm>
          <a:prstGeom prst="roundRect">
            <a:avLst>
              <a:gd name="adj" fmla="val 12000"/>
            </a:avLst>
          </a:prstGeom>
          <a:solidFill>
            <a:srgbClr val="FFFFFF"/>
          </a:solidFill>
          <a:ln>
            <a:solidFill>
              <a:srgbClr val="DE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4023360"/>
            <a:ext cx="64008" cy="1463040"/>
          </a:xfrm>
          <a:prstGeom prst="rect">
            <a:avLst/>
          </a:prstGeom>
          <a:solidFill>
            <a:srgbClr val="2DA6A0"/>
          </a:solidFill>
          <a:ln>
            <a:solidFill>
              <a:srgbClr val="2DA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 y="4187952"/>
            <a:ext cx="2926079" cy="320040"/>
          </a:xfrm>
          <a:prstGeom prst="rect">
            <a:avLst/>
          </a:prstGeom>
          <a:noFill/>
        </p:spPr>
        <p:txBody>
          <a:bodyPr wrap="square" anchor="t">
            <a:spAutoFit/>
          </a:bodyPr>
          <a:lstStyle/>
          <a:p>
            <a:pPr algn="l"/>
            <a:r>
              <a:rPr sz="1500" b="1">
                <a:solidFill>
                  <a:srgbClr val="162239"/>
                </a:solidFill>
                <a:latin typeface="Aptos"/>
              </a:rPr>
              <a:t>01  INGEST DOCUMENTS</a:t>
            </a:r>
          </a:p>
        </p:txBody>
      </p:sp>
      <p:sp>
        <p:nvSpPr>
          <p:cNvPr id="19" name="TextBox 18"/>
          <p:cNvSpPr txBox="1"/>
          <p:nvPr/>
        </p:nvSpPr>
        <p:spPr>
          <a:xfrm>
            <a:off x="859536" y="4572000"/>
            <a:ext cx="2926079" cy="777240"/>
          </a:xfrm>
          <a:prstGeom prst="rect">
            <a:avLst/>
          </a:prstGeom>
          <a:noFill/>
        </p:spPr>
        <p:txBody>
          <a:bodyPr wrap="square" anchor="t">
            <a:spAutoFit/>
          </a:bodyPr>
          <a:lstStyle/>
          <a:p>
            <a:pPr algn="l"/>
            <a:r>
              <a:rPr sz="1250" b="0">
                <a:solidFill>
                  <a:srgbClr val="394252"/>
                </a:solidFill>
                <a:latin typeface="Aptos"/>
              </a:rPr>
              <a:t>PDF (text layer), TXT and DOCX are validated, de-duplicated and extracted in the browser.</a:t>
            </a:r>
          </a:p>
        </p:txBody>
      </p:sp>
      <p:sp>
        <p:nvSpPr>
          <p:cNvPr id="20" name="Rounded Rectangle 19"/>
          <p:cNvSpPr/>
          <p:nvPr/>
        </p:nvSpPr>
        <p:spPr>
          <a:xfrm>
            <a:off x="4389120" y="4023360"/>
            <a:ext cx="3337560" cy="1463040"/>
          </a:xfrm>
          <a:prstGeom prst="roundRect">
            <a:avLst>
              <a:gd name="adj" fmla="val 12000"/>
            </a:avLst>
          </a:prstGeom>
          <a:solidFill>
            <a:srgbClr val="FFFFFF"/>
          </a:solidFill>
          <a:ln>
            <a:solidFill>
              <a:srgbClr val="DE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89120" y="4023360"/>
            <a:ext cx="64008" cy="1463040"/>
          </a:xfrm>
          <a:prstGeom prst="rect">
            <a:avLst/>
          </a:prstGeom>
          <a:solidFill>
            <a:srgbClr val="5369DC"/>
          </a:solidFill>
          <a:ln>
            <a:solidFill>
              <a:srgbClr val="536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08576" y="4187952"/>
            <a:ext cx="2926079" cy="320040"/>
          </a:xfrm>
          <a:prstGeom prst="rect">
            <a:avLst/>
          </a:prstGeom>
          <a:noFill/>
        </p:spPr>
        <p:txBody>
          <a:bodyPr wrap="square" anchor="t">
            <a:spAutoFit/>
          </a:bodyPr>
          <a:lstStyle/>
          <a:p>
            <a:pPr algn="l"/>
            <a:r>
              <a:rPr sz="1500" b="1">
                <a:solidFill>
                  <a:srgbClr val="162239"/>
                </a:solidFill>
                <a:latin typeface="Aptos"/>
              </a:rPr>
              <a:t>02  DETECT WITH EVIDENCE</a:t>
            </a:r>
          </a:p>
        </p:txBody>
      </p:sp>
      <p:sp>
        <p:nvSpPr>
          <p:cNvPr id="23" name="TextBox 22"/>
          <p:cNvSpPr txBox="1"/>
          <p:nvPr/>
        </p:nvSpPr>
        <p:spPr>
          <a:xfrm>
            <a:off x="4608576" y="4572000"/>
            <a:ext cx="2926079" cy="777240"/>
          </a:xfrm>
          <a:prstGeom prst="rect">
            <a:avLst/>
          </a:prstGeom>
          <a:noFill/>
        </p:spPr>
        <p:txBody>
          <a:bodyPr wrap="square" anchor="t">
            <a:spAutoFit/>
          </a:bodyPr>
          <a:lstStyle/>
          <a:p>
            <a:pPr algn="l"/>
            <a:r>
              <a:rPr sz="1250" b="0">
                <a:solidFill>
                  <a:srgbClr val="394252"/>
                </a:solidFill>
                <a:latin typeface="Aptos"/>
              </a:rPr>
              <a:t>Rules compare statements and label each difference by type, backed by quoted evidence.</a:t>
            </a:r>
          </a:p>
        </p:txBody>
      </p:sp>
      <p:sp>
        <p:nvSpPr>
          <p:cNvPr id="24" name="Rounded Rectangle 23"/>
          <p:cNvSpPr/>
          <p:nvPr/>
        </p:nvSpPr>
        <p:spPr>
          <a:xfrm>
            <a:off x="8138160" y="4023360"/>
            <a:ext cx="3337560" cy="1463040"/>
          </a:xfrm>
          <a:prstGeom prst="roundRect">
            <a:avLst>
              <a:gd name="adj" fmla="val 12000"/>
            </a:avLst>
          </a:prstGeom>
          <a:solidFill>
            <a:srgbClr val="FFFFFF"/>
          </a:solidFill>
          <a:ln>
            <a:solidFill>
              <a:srgbClr val="DE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38160" y="4023360"/>
            <a:ext cx="64008" cy="1463040"/>
          </a:xfrm>
          <a:prstGeom prst="rect">
            <a:avLst/>
          </a:prstGeom>
          <a:solidFill>
            <a:srgbClr val="2DA6A0"/>
          </a:solidFill>
          <a:ln>
            <a:solidFill>
              <a:srgbClr val="2DA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57616" y="4187952"/>
            <a:ext cx="2926079" cy="320040"/>
          </a:xfrm>
          <a:prstGeom prst="rect">
            <a:avLst/>
          </a:prstGeom>
          <a:noFill/>
        </p:spPr>
        <p:txBody>
          <a:bodyPr wrap="square" anchor="t">
            <a:spAutoFit/>
          </a:bodyPr>
          <a:lstStyle/>
          <a:p>
            <a:pPr algn="l"/>
            <a:r>
              <a:rPr sz="1500" b="1">
                <a:solidFill>
                  <a:srgbClr val="162239"/>
                </a:solidFill>
                <a:latin typeface="Aptos"/>
              </a:rPr>
              <a:t>03  REVIEW &amp; AUDIT</a:t>
            </a:r>
          </a:p>
        </p:txBody>
      </p:sp>
      <p:sp>
        <p:nvSpPr>
          <p:cNvPr id="27" name="TextBox 26"/>
          <p:cNvSpPr txBox="1"/>
          <p:nvPr/>
        </p:nvSpPr>
        <p:spPr>
          <a:xfrm>
            <a:off x="8357616" y="4572000"/>
            <a:ext cx="2926079" cy="777240"/>
          </a:xfrm>
          <a:prstGeom prst="rect">
            <a:avLst/>
          </a:prstGeom>
          <a:noFill/>
        </p:spPr>
        <p:txBody>
          <a:bodyPr wrap="square" anchor="t">
            <a:spAutoFit/>
          </a:bodyPr>
          <a:lstStyle/>
          <a:p>
            <a:pPr algn="l"/>
            <a:r>
              <a:rPr sz="1250" b="0">
                <a:solidFill>
                  <a:srgbClr val="394252"/>
                </a:solidFill>
                <a:latin typeface="Aptos"/>
              </a:rPr>
              <a:t>Confirm, resolve or dismiss with a required reason; every action lands in an audit log.</a:t>
            </a:r>
          </a:p>
        </p:txBody>
      </p:sp>
      <p:sp>
        <p:nvSpPr>
          <p:cNvPr id="28" name="TextBox 27"/>
          <p:cNvSpPr txBox="1"/>
          <p:nvPr/>
        </p:nvSpPr>
        <p:spPr>
          <a:xfrm>
            <a:off x="777240" y="5669280"/>
            <a:ext cx="10789920" cy="548640"/>
          </a:xfrm>
          <a:prstGeom prst="rect">
            <a:avLst/>
          </a:prstGeom>
          <a:noFill/>
        </p:spPr>
        <p:txBody>
          <a:bodyPr wrap="square" anchor="t">
            <a:spAutoFit/>
          </a:bodyPr>
          <a:lstStyle/>
          <a:p>
            <a:pPr algn="l"/>
            <a:r>
              <a:rPr sz="1400" b="1">
                <a:solidFill>
                  <a:srgbClr val="5369DC"/>
                </a:solidFill>
                <a:latin typeface="Aptos"/>
              </a:rPr>
              <a:t>EXPECTED BENEFIT:  </a:t>
            </a:r>
            <a:r>
              <a:rPr sz="1400" b="0">
                <a:solidFill>
                  <a:srgbClr val="162239"/>
                </a:solidFill>
                <a:latin typeface="Aptos"/>
              </a:rPr>
              <a:t>Potential inconsistencies become easier to locate and investigate, while evidence traceability and human judgment are preserved.</a:t>
            </a:r>
          </a:p>
        </p:txBody>
      </p:sp>
      <p:sp>
        <p:nvSpPr>
          <p:cNvPr id="29" name="TextBox 28"/>
          <p:cNvSpPr txBox="1"/>
          <p:nvPr/>
        </p:nvSpPr>
        <p:spPr>
          <a:xfrm>
            <a:off x="621792" y="6510528"/>
            <a:ext cx="5029200" cy="164592"/>
          </a:xfrm>
          <a:prstGeom prst="rect">
            <a:avLst/>
          </a:prstGeom>
          <a:noFill/>
        </p:spPr>
        <p:txBody>
          <a:bodyPr wrap="square" anchor="t">
            <a:spAutoFit/>
          </a:bodyPr>
          <a:lstStyle/>
          <a:p>
            <a:pPr algn="l"/>
            <a:r>
              <a:rPr sz="800" b="1">
                <a:solidFill>
                  <a:srgbClr val="767F90"/>
                </a:solidFill>
                <a:latin typeface="Aptos"/>
              </a:rPr>
              <a:t>CODE FLAYER 2.0  •  CLINISCOPE  •  PS-11R3</a:t>
            </a:r>
          </a:p>
        </p:txBody>
      </p:sp>
      <p:sp>
        <p:nvSpPr>
          <p:cNvPr id="30" name="TextBox 29"/>
          <p:cNvSpPr txBox="1"/>
          <p:nvPr/>
        </p:nvSpPr>
        <p:spPr>
          <a:xfrm>
            <a:off x="10744200" y="6473952"/>
            <a:ext cx="822960" cy="201168"/>
          </a:xfrm>
          <a:prstGeom prst="rect">
            <a:avLst/>
          </a:prstGeom>
          <a:noFill/>
        </p:spPr>
        <p:txBody>
          <a:bodyPr wrap="square" anchor="t">
            <a:spAutoFit/>
          </a:bodyPr>
          <a:lstStyle/>
          <a:p>
            <a:pPr algn="r"/>
            <a:r>
              <a:rPr sz="900" b="1">
                <a:solidFill>
                  <a:srgbClr val="767F90"/>
                </a:solidFill>
                <a:latin typeface="Aptos"/>
              </a:rPr>
              <a:t>03 / 08</a:t>
            </a:r>
          </a:p>
        </p:txBody>
      </p:sp>
      <p:sp>
        <p:nvSpPr>
          <p:cNvPr id="31" name="Flow Arrow"/>
          <p:cNvSpPr txBox="1"/>
          <p:nvPr/>
        </p:nvSpPr>
        <p:spPr>
          <a:xfrm>
            <a:off x="3995927" y="4526280"/>
            <a:ext cx="411480" cy="365760"/>
          </a:xfrm>
          <a:prstGeom prst="rect">
            <a:avLst/>
          </a:prstGeom>
          <a:noFill/>
        </p:spPr>
        <p:txBody>
          <a:bodyPr wrap="square" anchor="t">
            <a:spAutoFit/>
          </a:bodyPr>
          <a:lstStyle/>
          <a:p>
            <a:pPr algn="ctr"/>
            <a:r>
              <a:rPr sz="2200" b="1">
                <a:solidFill>
                  <a:srgbClr val="767F90"/>
                </a:solidFill>
                <a:latin typeface="Aptos"/>
              </a:rPr>
              <a:t>→</a:t>
            </a:r>
          </a:p>
        </p:txBody>
      </p:sp>
      <p:sp>
        <p:nvSpPr>
          <p:cNvPr id="32" name="Flow Arrow"/>
          <p:cNvSpPr txBox="1"/>
          <p:nvPr/>
        </p:nvSpPr>
        <p:spPr>
          <a:xfrm>
            <a:off x="7744967" y="4526280"/>
            <a:ext cx="411480" cy="365760"/>
          </a:xfrm>
          <a:prstGeom prst="rect">
            <a:avLst/>
          </a:prstGeom>
          <a:noFill/>
        </p:spPr>
        <p:txBody>
          <a:bodyPr wrap="square" anchor="t">
            <a:spAutoFit/>
          </a:bodyPr>
          <a:lstStyle/>
          <a:p>
            <a:pPr algn="ctr"/>
            <a:r>
              <a:rPr sz="2200" b="1">
                <a:solidFill>
                  <a:srgbClr val="767F90"/>
                </a:solidFill>
                <a:latin typeface="Aptos"/>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C"/>
        </a:solidFill>
        <a:effectLst/>
      </p:bgPr>
    </p:bg>
    <p:spTree>
      <p:nvGrpSpPr>
        <p:cNvPr id="1" name=""/>
        <p:cNvGrpSpPr/>
        <p:nvPr/>
      </p:nvGrpSpPr>
      <p:grpSpPr/>
      <p:sp>
        <p:nvSpPr>
          <p:cNvPr id="2" name="TextBox 1"/>
          <p:cNvSpPr txBox="1"/>
          <p:nvPr/>
        </p:nvSpPr>
        <p:spPr>
          <a:xfrm>
            <a:off x="594360" y="320040"/>
            <a:ext cx="1828800" cy="274320"/>
          </a:xfrm>
          <a:prstGeom prst="rect">
            <a:avLst/>
          </a:prstGeom>
          <a:noFill/>
        </p:spPr>
        <p:txBody>
          <a:bodyPr wrap="square" anchor="t">
            <a:spAutoFit/>
          </a:bodyPr>
          <a:lstStyle/>
          <a:p>
            <a:pPr algn="l"/>
            <a:r>
              <a:rPr sz="1000" b="1">
                <a:solidFill>
                  <a:srgbClr val="5369DC"/>
                </a:solidFill>
                <a:latin typeface="Aptos"/>
              </a:rPr>
              <a:t>PROJECT PITCH  /  04</a:t>
            </a:r>
          </a:p>
        </p:txBody>
      </p:sp>
      <p:sp>
        <p:nvSpPr>
          <p:cNvPr id="3" name="TextBox 2"/>
          <p:cNvSpPr txBox="1"/>
          <p:nvPr/>
        </p:nvSpPr>
        <p:spPr>
          <a:xfrm>
            <a:off x="594360" y="713232"/>
            <a:ext cx="10972800" cy="502920"/>
          </a:xfrm>
          <a:prstGeom prst="rect">
            <a:avLst/>
          </a:prstGeom>
          <a:noFill/>
        </p:spPr>
        <p:txBody>
          <a:bodyPr wrap="square" anchor="t">
            <a:spAutoFit/>
          </a:bodyPr>
          <a:lstStyle/>
          <a:p>
            <a:pPr algn="l"/>
            <a:r>
              <a:rPr sz="2800" b="1">
                <a:solidFill>
                  <a:srgbClr val="162239"/>
                </a:solidFill>
                <a:latin typeface="Aptos"/>
              </a:rPr>
              <a:t>Technical Approach &amp; Architecture</a:t>
            </a:r>
          </a:p>
        </p:txBody>
      </p:sp>
      <p:sp>
        <p:nvSpPr>
          <p:cNvPr id="4" name="TextBox 3"/>
          <p:cNvSpPr txBox="1"/>
          <p:nvPr/>
        </p:nvSpPr>
        <p:spPr>
          <a:xfrm>
            <a:off x="621792" y="1261872"/>
            <a:ext cx="10881360" cy="320040"/>
          </a:xfrm>
          <a:prstGeom prst="rect">
            <a:avLst/>
          </a:prstGeom>
          <a:noFill/>
        </p:spPr>
        <p:txBody>
          <a:bodyPr wrap="square" anchor="t">
            <a:spAutoFit/>
          </a:bodyPr>
          <a:lstStyle/>
          <a:p>
            <a:pPr algn="l"/>
            <a:r>
              <a:rPr sz="1200" b="0">
                <a:solidFill>
                  <a:srgbClr val="767F90"/>
                </a:solidFill>
                <a:latin typeface="Aptos"/>
              </a:rPr>
              <a:t>The whole pipeline runs in the reviewer's browser: there is no backend server, no AI/LLM and no OCR in the current build.</a:t>
            </a:r>
          </a:p>
        </p:txBody>
      </p:sp>
      <p:sp>
        <p:nvSpPr>
          <p:cNvPr id="5" name="Rectangle 4"/>
          <p:cNvSpPr/>
          <p:nvPr/>
        </p:nvSpPr>
        <p:spPr>
          <a:xfrm>
            <a:off x="10835640" y="384048"/>
            <a:ext cx="320040" cy="73152"/>
          </a:xfrm>
          <a:prstGeom prst="rect">
            <a:avLst/>
          </a:prstGeom>
          <a:solidFill>
            <a:srgbClr val="5369DC"/>
          </a:solidFill>
          <a:ln>
            <a:solidFill>
              <a:srgbClr val="536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228832" y="384048"/>
            <a:ext cx="320040" cy="73152"/>
          </a:xfrm>
          <a:prstGeom prst="rect">
            <a:avLst/>
          </a:prstGeom>
          <a:solidFill>
            <a:srgbClr val="2DA6A0"/>
          </a:solidFill>
          <a:ln>
            <a:solidFill>
              <a:srgbClr val="2DA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622024" y="384048"/>
            <a:ext cx="0" cy="73152"/>
          </a:xfrm>
          <a:prstGeom prst="rect">
            <a:avLst/>
          </a:prstGeom>
          <a:solidFill>
            <a:srgbClr val="162239"/>
          </a:solidFill>
          <a:ln>
            <a:solidFill>
              <a:srgbClr val="162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783080"/>
            <a:ext cx="1645920" cy="1325880"/>
          </a:xfrm>
          <a:prstGeom prst="roundRect">
            <a:avLst>
              <a:gd name="adj" fmla="val 12000"/>
            </a:avLst>
          </a:prstGeom>
          <a:solidFill>
            <a:srgbClr val="FFFFFF"/>
          </a:solidFill>
          <a:ln>
            <a:solidFill>
              <a:srgbClr val="DE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901952"/>
            <a:ext cx="1517904" cy="256032"/>
          </a:xfrm>
          <a:prstGeom prst="rect">
            <a:avLst/>
          </a:prstGeom>
          <a:noFill/>
        </p:spPr>
        <p:txBody>
          <a:bodyPr wrap="square" anchor="t">
            <a:spAutoFit/>
          </a:bodyPr>
          <a:lstStyle/>
          <a:p>
            <a:pPr algn="ctr"/>
            <a:r>
              <a:rPr sz="1100" b="1">
                <a:solidFill>
                  <a:srgbClr val="5369DC"/>
                </a:solidFill>
                <a:latin typeface="Aptos"/>
              </a:rPr>
              <a:t>USER INPUT</a:t>
            </a:r>
          </a:p>
        </p:txBody>
      </p:sp>
      <p:sp>
        <p:nvSpPr>
          <p:cNvPr id="10" name="TextBox 9"/>
          <p:cNvSpPr txBox="1"/>
          <p:nvPr/>
        </p:nvSpPr>
        <p:spPr>
          <a:xfrm>
            <a:off x="749808" y="2240280"/>
            <a:ext cx="1517904" cy="777240"/>
          </a:xfrm>
          <a:prstGeom prst="rect">
            <a:avLst/>
          </a:prstGeom>
          <a:noFill/>
        </p:spPr>
        <p:txBody>
          <a:bodyPr wrap="square" anchor="t">
            <a:spAutoFit/>
          </a:bodyPr>
          <a:lstStyle/>
          <a:p>
            <a:pPr algn="ctr">
              <a:spcAft>
                <a:spcPts val="100"/>
              </a:spcAft>
            </a:pPr>
            <a:r>
              <a:rPr sz="1050" b="0">
                <a:solidFill>
                  <a:srgbClr val="394252"/>
                </a:solidFill>
                <a:latin typeface="Aptos"/>
              </a:rPr>
              <a:t>PDF (text layer)</a:t>
            </a:r>
          </a:p>
          <a:p>
            <a:pPr algn="ctr">
              <a:spcAft>
                <a:spcPts val="100"/>
              </a:spcAft>
            </a:pPr>
            <a:r>
              <a:rPr sz="1050" b="0">
                <a:solidFill>
                  <a:srgbClr val="394252"/>
                </a:solidFill>
                <a:latin typeface="Aptos"/>
              </a:rPr>
              <a:t>TXT · DOCX</a:t>
            </a:r>
          </a:p>
          <a:p>
            <a:pPr algn="ctr">
              <a:spcAft>
                <a:spcPts val="100"/>
              </a:spcAft>
            </a:pPr>
            <a:r>
              <a:rPr sz="1050" b="0">
                <a:solidFill>
                  <a:srgbClr val="394252"/>
                </a:solidFill>
                <a:latin typeface="Aptos"/>
              </a:rPr>
              <a:t>Synthetic records</a:t>
            </a:r>
          </a:p>
        </p:txBody>
      </p:sp>
      <p:sp>
        <p:nvSpPr>
          <p:cNvPr id="11" name="TextBox 10"/>
          <p:cNvSpPr txBox="1"/>
          <p:nvPr/>
        </p:nvSpPr>
        <p:spPr>
          <a:xfrm>
            <a:off x="2404872" y="2212848"/>
            <a:ext cx="502920" cy="320040"/>
          </a:xfrm>
          <a:prstGeom prst="rect">
            <a:avLst/>
          </a:prstGeom>
          <a:noFill/>
        </p:spPr>
        <p:txBody>
          <a:bodyPr wrap="square" anchor="t">
            <a:spAutoFit/>
          </a:bodyPr>
          <a:lstStyle/>
          <a:p>
            <a:pPr algn="ctr"/>
            <a:r>
              <a:rPr sz="2200" b="1">
                <a:solidFill>
                  <a:srgbClr val="767F90"/>
                </a:solidFill>
                <a:latin typeface="Aptos"/>
              </a:rPr>
              <a:t>→</a:t>
            </a:r>
          </a:p>
        </p:txBody>
      </p:sp>
      <p:sp>
        <p:nvSpPr>
          <p:cNvPr id="12" name="Rounded Rectangle 11"/>
          <p:cNvSpPr/>
          <p:nvPr/>
        </p:nvSpPr>
        <p:spPr>
          <a:xfrm>
            <a:off x="2971800" y="1783080"/>
            <a:ext cx="1645920" cy="1325880"/>
          </a:xfrm>
          <a:prstGeom prst="roundRect">
            <a:avLst>
              <a:gd name="adj" fmla="val 12000"/>
            </a:avLst>
          </a:prstGeom>
          <a:solidFill>
            <a:srgbClr val="FFFFFF"/>
          </a:solidFill>
          <a:ln>
            <a:solidFill>
              <a:srgbClr val="DE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35808" y="1901952"/>
            <a:ext cx="1517904" cy="256032"/>
          </a:xfrm>
          <a:prstGeom prst="rect">
            <a:avLst/>
          </a:prstGeom>
          <a:noFill/>
        </p:spPr>
        <p:txBody>
          <a:bodyPr wrap="square" anchor="t">
            <a:spAutoFit/>
          </a:bodyPr>
          <a:lstStyle/>
          <a:p>
            <a:pPr algn="ctr"/>
            <a:r>
              <a:rPr sz="1100" b="1">
                <a:solidFill>
                  <a:srgbClr val="2DA6A0"/>
                </a:solidFill>
                <a:latin typeface="Aptos"/>
              </a:rPr>
              <a:t>FRONTEND</a:t>
            </a:r>
          </a:p>
        </p:txBody>
      </p:sp>
      <p:sp>
        <p:nvSpPr>
          <p:cNvPr id="14" name="TextBox 13"/>
          <p:cNvSpPr txBox="1"/>
          <p:nvPr/>
        </p:nvSpPr>
        <p:spPr>
          <a:xfrm>
            <a:off x="3035808" y="2240280"/>
            <a:ext cx="1517904" cy="777240"/>
          </a:xfrm>
          <a:prstGeom prst="rect">
            <a:avLst/>
          </a:prstGeom>
          <a:noFill/>
        </p:spPr>
        <p:txBody>
          <a:bodyPr wrap="square" anchor="t">
            <a:spAutoFit/>
          </a:bodyPr>
          <a:lstStyle/>
          <a:p>
            <a:pPr algn="ctr">
              <a:spcAft>
                <a:spcPts val="100"/>
              </a:spcAft>
            </a:pPr>
            <a:r>
              <a:rPr sz="1050" b="0">
                <a:solidFill>
                  <a:srgbClr val="394252"/>
                </a:solidFill>
                <a:latin typeface="Aptos"/>
              </a:rPr>
              <a:t>React + TypeScript</a:t>
            </a:r>
          </a:p>
          <a:p>
            <a:pPr algn="ctr">
              <a:spcAft>
                <a:spcPts val="100"/>
              </a:spcAft>
            </a:pPr>
            <a:r>
              <a:rPr sz="1050" b="0">
                <a:solidFill>
                  <a:srgbClr val="394252"/>
                </a:solidFill>
                <a:latin typeface="Aptos"/>
              </a:rPr>
              <a:t>Library · Queue</a:t>
            </a:r>
          </a:p>
          <a:p>
            <a:pPr algn="ctr">
              <a:spcAft>
                <a:spcPts val="100"/>
              </a:spcAft>
            </a:pPr>
            <a:r>
              <a:rPr sz="1050" b="0">
                <a:solidFill>
                  <a:srgbClr val="394252"/>
                </a:solidFill>
                <a:latin typeface="Aptos"/>
              </a:rPr>
              <a:t>Finding detail</a:t>
            </a:r>
          </a:p>
        </p:txBody>
      </p:sp>
      <p:sp>
        <p:nvSpPr>
          <p:cNvPr id="15" name="TextBox 14"/>
          <p:cNvSpPr txBox="1"/>
          <p:nvPr/>
        </p:nvSpPr>
        <p:spPr>
          <a:xfrm>
            <a:off x="4690872" y="2212848"/>
            <a:ext cx="502920" cy="320040"/>
          </a:xfrm>
          <a:prstGeom prst="rect">
            <a:avLst/>
          </a:prstGeom>
          <a:noFill/>
        </p:spPr>
        <p:txBody>
          <a:bodyPr wrap="square" anchor="t">
            <a:spAutoFit/>
          </a:bodyPr>
          <a:lstStyle/>
          <a:p>
            <a:pPr algn="ctr"/>
            <a:r>
              <a:rPr sz="2200" b="1">
                <a:solidFill>
                  <a:srgbClr val="767F90"/>
                </a:solidFill>
                <a:latin typeface="Aptos"/>
              </a:rPr>
              <a:t>→</a:t>
            </a:r>
          </a:p>
        </p:txBody>
      </p:sp>
      <p:sp>
        <p:nvSpPr>
          <p:cNvPr id="16" name="Rounded Rectangle 15"/>
          <p:cNvSpPr/>
          <p:nvPr/>
        </p:nvSpPr>
        <p:spPr>
          <a:xfrm>
            <a:off x="5257800" y="1783080"/>
            <a:ext cx="1645920" cy="1325880"/>
          </a:xfrm>
          <a:prstGeom prst="roundRect">
            <a:avLst>
              <a:gd name="adj" fmla="val 12000"/>
            </a:avLst>
          </a:prstGeom>
          <a:solidFill>
            <a:srgbClr val="FFFFFF"/>
          </a:solidFill>
          <a:ln>
            <a:solidFill>
              <a:srgbClr val="DE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21808" y="1901952"/>
            <a:ext cx="1517904" cy="256032"/>
          </a:xfrm>
          <a:prstGeom prst="rect">
            <a:avLst/>
          </a:prstGeom>
          <a:noFill/>
        </p:spPr>
        <p:txBody>
          <a:bodyPr wrap="square" anchor="t">
            <a:spAutoFit/>
          </a:bodyPr>
          <a:lstStyle/>
          <a:p>
            <a:pPr algn="ctr"/>
            <a:r>
              <a:rPr sz="1100" b="1">
                <a:solidFill>
                  <a:srgbClr val="5369DC"/>
                </a:solidFill>
                <a:latin typeface="Aptos"/>
              </a:rPr>
              <a:t>CLIENT SERVICES</a:t>
            </a:r>
          </a:p>
        </p:txBody>
      </p:sp>
      <p:sp>
        <p:nvSpPr>
          <p:cNvPr id="18" name="TextBox 17"/>
          <p:cNvSpPr txBox="1"/>
          <p:nvPr/>
        </p:nvSpPr>
        <p:spPr>
          <a:xfrm>
            <a:off x="5321808" y="2240280"/>
            <a:ext cx="1517904" cy="777240"/>
          </a:xfrm>
          <a:prstGeom prst="rect">
            <a:avLst/>
          </a:prstGeom>
          <a:noFill/>
        </p:spPr>
        <p:txBody>
          <a:bodyPr wrap="square" anchor="t">
            <a:spAutoFit/>
          </a:bodyPr>
          <a:lstStyle/>
          <a:p>
            <a:pPr algn="ctr">
              <a:spcAft>
                <a:spcPts val="100"/>
              </a:spcAft>
            </a:pPr>
            <a:r>
              <a:rPr sz="1050" b="0">
                <a:solidFill>
                  <a:srgbClr val="394252"/>
                </a:solidFill>
                <a:latin typeface="Aptos"/>
              </a:rPr>
              <a:t>Validate · dedupe</a:t>
            </a:r>
          </a:p>
          <a:p>
            <a:pPr algn="ctr">
              <a:spcAft>
                <a:spcPts val="100"/>
              </a:spcAft>
            </a:pPr>
            <a:r>
              <a:rPr sz="1050" b="0">
                <a:solidFill>
                  <a:srgbClr val="394252"/>
                </a:solidFill>
                <a:latin typeface="Aptos"/>
              </a:rPr>
              <a:t>Analyze · review</a:t>
            </a:r>
          </a:p>
          <a:p>
            <a:pPr algn="ctr">
              <a:spcAft>
                <a:spcPts val="100"/>
              </a:spcAft>
            </a:pPr>
            <a:r>
              <a:rPr sz="1050" b="0">
                <a:solidFill>
                  <a:srgbClr val="394252"/>
                </a:solidFill>
                <a:latin typeface="Aptos"/>
              </a:rPr>
              <a:t>IndexedDB (Dexie)</a:t>
            </a:r>
          </a:p>
        </p:txBody>
      </p:sp>
      <p:sp>
        <p:nvSpPr>
          <p:cNvPr id="19" name="TextBox 18"/>
          <p:cNvSpPr txBox="1"/>
          <p:nvPr/>
        </p:nvSpPr>
        <p:spPr>
          <a:xfrm>
            <a:off x="6976872" y="2212848"/>
            <a:ext cx="502920" cy="320040"/>
          </a:xfrm>
          <a:prstGeom prst="rect">
            <a:avLst/>
          </a:prstGeom>
          <a:noFill/>
        </p:spPr>
        <p:txBody>
          <a:bodyPr wrap="square" anchor="t">
            <a:spAutoFit/>
          </a:bodyPr>
          <a:lstStyle/>
          <a:p>
            <a:pPr algn="ctr"/>
            <a:r>
              <a:rPr sz="2200" b="1">
                <a:solidFill>
                  <a:srgbClr val="767F90"/>
                </a:solidFill>
                <a:latin typeface="Aptos"/>
              </a:rPr>
              <a:t>→</a:t>
            </a:r>
          </a:p>
        </p:txBody>
      </p:sp>
      <p:sp>
        <p:nvSpPr>
          <p:cNvPr id="20" name="Rounded Rectangle 19"/>
          <p:cNvSpPr/>
          <p:nvPr/>
        </p:nvSpPr>
        <p:spPr>
          <a:xfrm>
            <a:off x="7543800" y="1783080"/>
            <a:ext cx="1645920" cy="1325880"/>
          </a:xfrm>
          <a:prstGeom prst="roundRect">
            <a:avLst>
              <a:gd name="adj" fmla="val 12000"/>
            </a:avLst>
          </a:prstGeom>
          <a:solidFill>
            <a:srgbClr val="FFFFFF"/>
          </a:solidFill>
          <a:ln>
            <a:solidFill>
              <a:srgbClr val="DE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07808" y="1901952"/>
            <a:ext cx="1517904" cy="256032"/>
          </a:xfrm>
          <a:prstGeom prst="rect">
            <a:avLst/>
          </a:prstGeom>
          <a:noFill/>
        </p:spPr>
        <p:txBody>
          <a:bodyPr wrap="square" anchor="t">
            <a:spAutoFit/>
          </a:bodyPr>
          <a:lstStyle/>
          <a:p>
            <a:pPr algn="ctr"/>
            <a:r>
              <a:rPr sz="1100" b="1">
                <a:solidFill>
                  <a:srgbClr val="2DA6A0"/>
                </a:solidFill>
                <a:latin typeface="Aptos"/>
              </a:rPr>
              <a:t>PROCESSING</a:t>
            </a:r>
          </a:p>
        </p:txBody>
      </p:sp>
      <p:sp>
        <p:nvSpPr>
          <p:cNvPr id="22" name="TextBox 21"/>
          <p:cNvSpPr txBox="1"/>
          <p:nvPr/>
        </p:nvSpPr>
        <p:spPr>
          <a:xfrm>
            <a:off x="7607808" y="2240280"/>
            <a:ext cx="1517904" cy="777240"/>
          </a:xfrm>
          <a:prstGeom prst="rect">
            <a:avLst/>
          </a:prstGeom>
          <a:noFill/>
        </p:spPr>
        <p:txBody>
          <a:bodyPr wrap="square" anchor="t">
            <a:spAutoFit/>
          </a:bodyPr>
          <a:lstStyle/>
          <a:p>
            <a:pPr algn="ctr">
              <a:spcAft>
                <a:spcPts val="100"/>
              </a:spcAft>
            </a:pPr>
            <a:r>
              <a:rPr sz="1050" b="0">
                <a:solidFill>
                  <a:srgbClr val="394252"/>
                </a:solidFill>
                <a:latin typeface="Aptos"/>
              </a:rPr>
              <a:t>Statement rules</a:t>
            </a:r>
          </a:p>
          <a:p>
            <a:pPr algn="ctr">
              <a:spcAft>
                <a:spcPts val="100"/>
              </a:spcAft>
            </a:pPr>
            <a:r>
              <a:rPr sz="1050" b="0">
                <a:solidFill>
                  <a:srgbClr val="394252"/>
                </a:solidFill>
                <a:latin typeface="Aptos"/>
              </a:rPr>
              <a:t>Conflict rules</a:t>
            </a:r>
          </a:p>
          <a:p>
            <a:pPr algn="ctr">
              <a:spcAft>
                <a:spcPts val="100"/>
              </a:spcAft>
            </a:pPr>
            <a:r>
              <a:rPr sz="1050" b="0">
                <a:solidFill>
                  <a:srgbClr val="394252"/>
                </a:solidFill>
                <a:latin typeface="Aptos"/>
              </a:rPr>
              <a:t>Evidence check</a:t>
            </a:r>
          </a:p>
        </p:txBody>
      </p:sp>
      <p:sp>
        <p:nvSpPr>
          <p:cNvPr id="23" name="TextBox 22"/>
          <p:cNvSpPr txBox="1"/>
          <p:nvPr/>
        </p:nvSpPr>
        <p:spPr>
          <a:xfrm>
            <a:off x="9262872" y="2212848"/>
            <a:ext cx="502920" cy="320040"/>
          </a:xfrm>
          <a:prstGeom prst="rect">
            <a:avLst/>
          </a:prstGeom>
          <a:noFill/>
        </p:spPr>
        <p:txBody>
          <a:bodyPr wrap="square" anchor="t">
            <a:spAutoFit/>
          </a:bodyPr>
          <a:lstStyle/>
          <a:p>
            <a:pPr algn="ctr"/>
            <a:r>
              <a:rPr sz="2200" b="1">
                <a:solidFill>
                  <a:srgbClr val="767F90"/>
                </a:solidFill>
                <a:latin typeface="Aptos"/>
              </a:rPr>
              <a:t>→</a:t>
            </a:r>
          </a:p>
        </p:txBody>
      </p:sp>
      <p:sp>
        <p:nvSpPr>
          <p:cNvPr id="24" name="Rounded Rectangle 23"/>
          <p:cNvSpPr/>
          <p:nvPr/>
        </p:nvSpPr>
        <p:spPr>
          <a:xfrm>
            <a:off x="9829800" y="1783080"/>
            <a:ext cx="1645920" cy="1325880"/>
          </a:xfrm>
          <a:prstGeom prst="roundRect">
            <a:avLst>
              <a:gd name="adj" fmla="val 12000"/>
            </a:avLst>
          </a:prstGeom>
          <a:solidFill>
            <a:srgbClr val="FFFFFF"/>
          </a:solidFill>
          <a:ln>
            <a:solidFill>
              <a:srgbClr val="DE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93808" y="1901952"/>
            <a:ext cx="1517904" cy="256032"/>
          </a:xfrm>
          <a:prstGeom prst="rect">
            <a:avLst/>
          </a:prstGeom>
          <a:noFill/>
        </p:spPr>
        <p:txBody>
          <a:bodyPr wrap="square" anchor="t">
            <a:spAutoFit/>
          </a:bodyPr>
          <a:lstStyle/>
          <a:p>
            <a:pPr algn="ctr"/>
            <a:r>
              <a:rPr sz="1100" b="1">
                <a:solidFill>
                  <a:srgbClr val="5369DC"/>
                </a:solidFill>
                <a:latin typeface="Aptos"/>
              </a:rPr>
              <a:t>OUTPUT</a:t>
            </a:r>
          </a:p>
        </p:txBody>
      </p:sp>
      <p:sp>
        <p:nvSpPr>
          <p:cNvPr id="26" name="TextBox 25"/>
          <p:cNvSpPr txBox="1"/>
          <p:nvPr/>
        </p:nvSpPr>
        <p:spPr>
          <a:xfrm>
            <a:off x="9893808" y="2240280"/>
            <a:ext cx="1517904" cy="777240"/>
          </a:xfrm>
          <a:prstGeom prst="rect">
            <a:avLst/>
          </a:prstGeom>
          <a:noFill/>
        </p:spPr>
        <p:txBody>
          <a:bodyPr wrap="square" anchor="t">
            <a:spAutoFit/>
          </a:bodyPr>
          <a:lstStyle/>
          <a:p>
            <a:pPr algn="ctr">
              <a:spcAft>
                <a:spcPts val="100"/>
              </a:spcAft>
            </a:pPr>
            <a:r>
              <a:rPr sz="1050" b="0">
                <a:solidFill>
                  <a:srgbClr val="394252"/>
                </a:solidFill>
                <a:latin typeface="Aptos"/>
              </a:rPr>
              <a:t>Classified findings</a:t>
            </a:r>
          </a:p>
          <a:p>
            <a:pPr algn="ctr">
              <a:spcAft>
                <a:spcPts val="100"/>
              </a:spcAft>
            </a:pPr>
            <a:r>
              <a:rPr sz="1050" b="0">
                <a:solidFill>
                  <a:srgbClr val="394252"/>
                </a:solidFill>
                <a:latin typeface="Aptos"/>
              </a:rPr>
              <a:t>Quoted evidence</a:t>
            </a:r>
          </a:p>
          <a:p>
            <a:pPr algn="ctr">
              <a:spcAft>
                <a:spcPts val="100"/>
              </a:spcAft>
            </a:pPr>
            <a:r>
              <a:rPr sz="1050" b="0">
                <a:solidFill>
                  <a:srgbClr val="394252"/>
                </a:solidFill>
                <a:latin typeface="Aptos"/>
              </a:rPr>
              <a:t>Review + audit log</a:t>
            </a:r>
          </a:p>
        </p:txBody>
      </p:sp>
      <p:sp>
        <p:nvSpPr>
          <p:cNvPr id="27" name="Rounded Rectangle 26"/>
          <p:cNvSpPr/>
          <p:nvPr/>
        </p:nvSpPr>
        <p:spPr>
          <a:xfrm>
            <a:off x="685800" y="3383280"/>
            <a:ext cx="5349240" cy="2103120"/>
          </a:xfrm>
          <a:prstGeom prst="roundRect">
            <a:avLst>
              <a:gd name="adj" fmla="val 12000"/>
            </a:avLst>
          </a:prstGeom>
          <a:solidFill>
            <a:srgbClr val="FFFFFF"/>
          </a:solidFill>
          <a:ln>
            <a:solidFill>
              <a:srgbClr val="DE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85800" y="3383280"/>
            <a:ext cx="64008" cy="2103120"/>
          </a:xfrm>
          <a:prstGeom prst="rect">
            <a:avLst/>
          </a:prstGeom>
          <a:solidFill>
            <a:srgbClr val="5369DC"/>
          </a:solidFill>
          <a:ln>
            <a:solidFill>
              <a:srgbClr val="536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5256" y="3547872"/>
            <a:ext cx="4937759" cy="320040"/>
          </a:xfrm>
          <a:prstGeom prst="rect">
            <a:avLst/>
          </a:prstGeom>
          <a:noFill/>
        </p:spPr>
        <p:txBody>
          <a:bodyPr wrap="square" anchor="t">
            <a:spAutoFit/>
          </a:bodyPr>
          <a:lstStyle/>
          <a:p>
            <a:pPr algn="l"/>
            <a:r>
              <a:rPr sz="1500" b="1">
                <a:solidFill>
                  <a:srgbClr val="162239"/>
                </a:solidFill>
                <a:latin typeface="Aptos"/>
              </a:rPr>
              <a:t>SYSTEM COMPONENTS</a:t>
            </a:r>
          </a:p>
        </p:txBody>
      </p:sp>
      <p:sp>
        <p:nvSpPr>
          <p:cNvPr id="30" name="TextBox 29"/>
          <p:cNvSpPr txBox="1"/>
          <p:nvPr/>
        </p:nvSpPr>
        <p:spPr>
          <a:xfrm>
            <a:off x="905256" y="3931920"/>
            <a:ext cx="4937759" cy="1417319"/>
          </a:xfrm>
          <a:prstGeom prst="rect">
            <a:avLst/>
          </a:prstGeom>
          <a:noFill/>
        </p:spPr>
        <p:txBody>
          <a:bodyPr wrap="square" anchor="t">
            <a:spAutoFit/>
          </a:bodyPr>
          <a:lstStyle/>
          <a:p>
            <a:pPr algn="l">
              <a:spcAft>
                <a:spcPts val="200"/>
              </a:spcAft>
            </a:pPr>
            <a:r>
              <a:rPr sz="1250" b="1">
                <a:solidFill>
                  <a:srgbClr val="162239"/>
                </a:solidFill>
                <a:latin typeface="Aptos"/>
              </a:rPr>
              <a:t>1  Extraction: </a:t>
            </a:r>
            <a:r>
              <a:rPr sz="1250" b="0">
                <a:solidFill>
                  <a:srgbClr val="394252"/>
                </a:solidFill>
                <a:latin typeface="Aptos"/>
              </a:rPr>
              <a:t>pdf.js, mammoth, UTF-8 text with offsets</a:t>
            </a:r>
          </a:p>
          <a:p>
            <a:pPr algn="l">
              <a:spcAft>
                <a:spcPts val="200"/>
              </a:spcAft>
            </a:pPr>
            <a:r>
              <a:rPr sz="1250" b="1">
                <a:solidFill>
                  <a:srgbClr val="162239"/>
                </a:solidFill>
                <a:latin typeface="Aptos"/>
              </a:rPr>
              <a:t>2  Statements: </a:t>
            </a:r>
            <a:r>
              <a:rPr sz="1250" b="0">
                <a:solidFill>
                  <a:srgbClr val="394252"/>
                </a:solidFill>
                <a:latin typeface="Aptos"/>
              </a:rPr>
              <a:t>negation, hedging, history, dose changes</a:t>
            </a:r>
          </a:p>
          <a:p>
            <a:pPr algn="l">
              <a:spcAft>
                <a:spcPts val="200"/>
              </a:spcAft>
            </a:pPr>
            <a:r>
              <a:rPr sz="1250" b="1">
                <a:solidFill>
                  <a:srgbClr val="162239"/>
                </a:solidFill>
                <a:latin typeface="Aptos"/>
              </a:rPr>
              <a:t>3  Detection: </a:t>
            </a:r>
            <a:r>
              <a:rPr sz="1250" b="0">
                <a:solidFill>
                  <a:srgbClr val="394252"/>
                </a:solidFill>
                <a:latin typeface="Aptos"/>
              </a:rPr>
              <a:t>per-case comparison, units &amp; dates</a:t>
            </a:r>
          </a:p>
          <a:p>
            <a:pPr algn="l">
              <a:spcAft>
                <a:spcPts val="200"/>
              </a:spcAft>
            </a:pPr>
            <a:r>
              <a:rPr sz="1250" b="1">
                <a:solidFill>
                  <a:srgbClr val="162239"/>
                </a:solidFill>
                <a:latin typeface="Aptos"/>
              </a:rPr>
              <a:t>4  Evidence: </a:t>
            </a:r>
            <a:r>
              <a:rPr sz="1250" b="0">
                <a:solidFill>
                  <a:srgbClr val="394252"/>
                </a:solidFill>
                <a:latin typeface="Aptos"/>
              </a:rPr>
              <a:t>quotes re-verified; View in source</a:t>
            </a:r>
          </a:p>
          <a:p>
            <a:pPr algn="l">
              <a:spcAft>
                <a:spcPts val="200"/>
              </a:spcAft>
            </a:pPr>
            <a:r>
              <a:rPr sz="1250" b="1">
                <a:solidFill>
                  <a:srgbClr val="162239"/>
                </a:solidFill>
                <a:latin typeface="Aptos"/>
              </a:rPr>
              <a:t>5  Review: </a:t>
            </a:r>
            <a:r>
              <a:rPr sz="1250" b="0">
                <a:solidFill>
                  <a:srgbClr val="394252"/>
                </a:solidFill>
                <a:latin typeface="Aptos"/>
              </a:rPr>
              <a:t>state machine, notes, audit log</a:t>
            </a:r>
          </a:p>
        </p:txBody>
      </p:sp>
      <p:sp>
        <p:nvSpPr>
          <p:cNvPr id="31" name="Rounded Rectangle 30"/>
          <p:cNvSpPr/>
          <p:nvPr/>
        </p:nvSpPr>
        <p:spPr>
          <a:xfrm>
            <a:off x="6217920" y="3383280"/>
            <a:ext cx="5303520" cy="2103120"/>
          </a:xfrm>
          <a:prstGeom prst="roundRect">
            <a:avLst>
              <a:gd name="adj" fmla="val 12000"/>
            </a:avLst>
          </a:prstGeom>
          <a:solidFill>
            <a:srgbClr val="FFFFFF"/>
          </a:solidFill>
          <a:ln>
            <a:solidFill>
              <a:srgbClr val="DE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383280"/>
            <a:ext cx="64008" cy="2103120"/>
          </a:xfrm>
          <a:prstGeom prst="rect">
            <a:avLst/>
          </a:prstGeom>
          <a:solidFill>
            <a:srgbClr val="2DA6A0"/>
          </a:solidFill>
          <a:ln>
            <a:solidFill>
              <a:srgbClr val="2DA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3547872"/>
            <a:ext cx="4892040" cy="320040"/>
          </a:xfrm>
          <a:prstGeom prst="rect">
            <a:avLst/>
          </a:prstGeom>
          <a:noFill/>
        </p:spPr>
        <p:txBody>
          <a:bodyPr wrap="square" anchor="t">
            <a:spAutoFit/>
          </a:bodyPr>
          <a:lstStyle/>
          <a:p>
            <a:pPr algn="l"/>
            <a:r>
              <a:rPr sz="1500" b="1">
                <a:solidFill>
                  <a:srgbClr val="162239"/>
                </a:solidFill>
                <a:latin typeface="Aptos"/>
              </a:rPr>
              <a:t>DATA FLOW &amp; VALIDATION</a:t>
            </a:r>
          </a:p>
        </p:txBody>
      </p:sp>
      <p:sp>
        <p:nvSpPr>
          <p:cNvPr id="34" name="TextBox 33"/>
          <p:cNvSpPr txBox="1"/>
          <p:nvPr/>
        </p:nvSpPr>
        <p:spPr>
          <a:xfrm>
            <a:off x="6437376" y="3931920"/>
            <a:ext cx="4892040" cy="1417319"/>
          </a:xfrm>
          <a:prstGeom prst="rect">
            <a:avLst/>
          </a:prstGeom>
          <a:noFill/>
        </p:spPr>
        <p:txBody>
          <a:bodyPr wrap="square" anchor="t">
            <a:spAutoFit/>
          </a:bodyPr>
          <a:lstStyle/>
          <a:p>
            <a:pPr algn="l" marL="228600" indent="-228600">
              <a:spcAft>
                <a:spcPts val="200"/>
              </a:spcAft>
              <a:buClr>
                <a:srgbClr val="2DA6A0"/>
              </a:buClr>
              <a:buFont typeface="Arial"/>
              <a:buChar char="•"/>
            </a:pPr>
            <a:r>
              <a:rPr sz="1250" b="1">
                <a:solidFill>
                  <a:srgbClr val="162239"/>
                </a:solidFill>
                <a:latin typeface="Aptos"/>
              </a:rPr>
              <a:t>Uploads: </a:t>
            </a:r>
            <a:r>
              <a:rPr sz="1250" b="0">
                <a:solidFill>
                  <a:srgbClr val="394252"/>
                </a:solidFill>
                <a:latin typeface="Aptos"/>
              </a:rPr>
              <a:t>type, magic-byte and size checks; dedupe</a:t>
            </a:r>
          </a:p>
          <a:p>
            <a:pPr algn="l" marL="228600" indent="-228600">
              <a:spcAft>
                <a:spcPts val="200"/>
              </a:spcAft>
              <a:buClr>
                <a:srgbClr val="2DA6A0"/>
              </a:buClr>
              <a:buFont typeface="Arial"/>
              <a:buChar char="•"/>
            </a:pPr>
            <a:r>
              <a:rPr sz="1250" b="1">
                <a:solidFill>
                  <a:srgbClr val="162239"/>
                </a:solidFill>
                <a:latin typeface="Aptos"/>
              </a:rPr>
              <a:t>Findings: </a:t>
            </a:r>
            <a:r>
              <a:rPr sz="1250" b="0">
                <a:solidFill>
                  <a:srgbClr val="394252"/>
                </a:solidFill>
                <a:latin typeface="Aptos"/>
              </a:rPr>
              <a:t>only if every quote matches its source</a:t>
            </a:r>
          </a:p>
          <a:p>
            <a:pPr algn="l" marL="228600" indent="-228600">
              <a:spcAft>
                <a:spcPts val="200"/>
              </a:spcAft>
              <a:buClr>
                <a:srgbClr val="2DA6A0"/>
              </a:buClr>
              <a:buFont typeface="Arial"/>
              <a:buChar char="•"/>
            </a:pPr>
            <a:r>
              <a:rPr sz="1250" b="1">
                <a:solidFill>
                  <a:srgbClr val="162239"/>
                </a:solidFill>
                <a:latin typeface="Aptos"/>
              </a:rPr>
              <a:t>Dates: </a:t>
            </a:r>
            <a:r>
              <a:rPr sz="1250" b="0">
                <a:solidFill>
                  <a:srgbClr val="394252"/>
                </a:solidFill>
                <a:latin typeface="Aptos"/>
              </a:rPr>
              <a:t>specimen dates and dose changes reclassify</a:t>
            </a:r>
          </a:p>
          <a:p>
            <a:pPr algn="l" marL="228600" indent="-228600">
              <a:spcAft>
                <a:spcPts val="200"/>
              </a:spcAft>
              <a:buClr>
                <a:srgbClr val="2DA6A0"/>
              </a:buClr>
              <a:buFont typeface="Arial"/>
              <a:buChar char="•"/>
            </a:pPr>
            <a:r>
              <a:rPr sz="1250" b="1">
                <a:solidFill>
                  <a:srgbClr val="162239"/>
                </a:solidFill>
                <a:latin typeface="Aptos"/>
              </a:rPr>
              <a:t>Scanned PDFs: </a:t>
            </a:r>
            <a:r>
              <a:rPr sz="1250" b="0">
                <a:solidFill>
                  <a:srgbClr val="394252"/>
                </a:solidFill>
                <a:latin typeface="Aptos"/>
              </a:rPr>
              <a:t>flagged; every decision needs a reason</a:t>
            </a:r>
          </a:p>
        </p:txBody>
      </p:sp>
      <p:sp>
        <p:nvSpPr>
          <p:cNvPr id="35" name="TextBox 34"/>
          <p:cNvSpPr txBox="1"/>
          <p:nvPr/>
        </p:nvSpPr>
        <p:spPr>
          <a:xfrm>
            <a:off x="777240" y="5669280"/>
            <a:ext cx="10698480" cy="548640"/>
          </a:xfrm>
          <a:prstGeom prst="rect">
            <a:avLst/>
          </a:prstGeom>
          <a:noFill/>
        </p:spPr>
        <p:txBody>
          <a:bodyPr wrap="square" anchor="t">
            <a:spAutoFit/>
          </a:bodyPr>
          <a:lstStyle/>
          <a:p>
            <a:pPr algn="l"/>
            <a:r>
              <a:rPr sz="1400" b="1">
                <a:solidFill>
                  <a:srgbClr val="5369DC"/>
                </a:solidFill>
                <a:latin typeface="Aptos"/>
              </a:rPr>
              <a:t>ARCHITECTURE NOTE:  </a:t>
            </a:r>
            <a:r>
              <a:rPr sz="1400" b="0">
                <a:solidFill>
                  <a:srgbClr val="162239"/>
                </a:solidFill>
                <a:latin typeface="Aptos"/>
              </a:rPr>
              <a:t>Extraction, statement rules, detection and review are separate TypeScript modules with unit tests, so each stage can be tested and replaced independently.</a:t>
            </a:r>
          </a:p>
        </p:txBody>
      </p:sp>
      <p:sp>
        <p:nvSpPr>
          <p:cNvPr id="36" name="TextBox 35"/>
          <p:cNvSpPr txBox="1"/>
          <p:nvPr/>
        </p:nvSpPr>
        <p:spPr>
          <a:xfrm>
            <a:off x="621792" y="6510528"/>
            <a:ext cx="5029200" cy="164592"/>
          </a:xfrm>
          <a:prstGeom prst="rect">
            <a:avLst/>
          </a:prstGeom>
          <a:noFill/>
        </p:spPr>
        <p:txBody>
          <a:bodyPr wrap="square" anchor="t">
            <a:spAutoFit/>
          </a:bodyPr>
          <a:lstStyle/>
          <a:p>
            <a:pPr algn="l"/>
            <a:r>
              <a:rPr sz="800" b="1">
                <a:solidFill>
                  <a:srgbClr val="767F90"/>
                </a:solidFill>
                <a:latin typeface="Aptos"/>
              </a:rPr>
              <a:t>CODE FLAYER 2.0  •  CLINISCOPE  •  PS-11R3</a:t>
            </a:r>
          </a:p>
        </p:txBody>
      </p:sp>
      <p:sp>
        <p:nvSpPr>
          <p:cNvPr id="37" name="TextBox 36"/>
          <p:cNvSpPr txBox="1"/>
          <p:nvPr/>
        </p:nvSpPr>
        <p:spPr>
          <a:xfrm>
            <a:off x="10744200" y="6473952"/>
            <a:ext cx="822960" cy="201168"/>
          </a:xfrm>
          <a:prstGeom prst="rect">
            <a:avLst/>
          </a:prstGeom>
          <a:noFill/>
        </p:spPr>
        <p:txBody>
          <a:bodyPr wrap="square" anchor="t">
            <a:spAutoFit/>
          </a:bodyPr>
          <a:lstStyle/>
          <a:p>
            <a:pPr algn="r"/>
            <a:r>
              <a:rPr sz="900" b="1">
                <a:solidFill>
                  <a:srgbClr val="767F90"/>
                </a:solidFill>
                <a:latin typeface="Aptos"/>
              </a:rPr>
              <a:t>04 / 08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C"/>
        </a:solidFill>
        <a:effectLst/>
      </p:bgPr>
    </p:bg>
    <p:spTree>
      <p:nvGrpSpPr>
        <p:cNvPr id="1" name=""/>
        <p:cNvGrpSpPr/>
        <p:nvPr/>
      </p:nvGrpSpPr>
      <p:grpSpPr/>
      <p:sp>
        <p:nvSpPr>
          <p:cNvPr id="2" name="TextBox 1"/>
          <p:cNvSpPr txBox="1"/>
          <p:nvPr/>
        </p:nvSpPr>
        <p:spPr>
          <a:xfrm>
            <a:off x="594360" y="320040"/>
            <a:ext cx="1828800" cy="274320"/>
          </a:xfrm>
          <a:prstGeom prst="rect">
            <a:avLst/>
          </a:prstGeom>
          <a:noFill/>
        </p:spPr>
        <p:txBody>
          <a:bodyPr wrap="square" anchor="t">
            <a:spAutoFit/>
          </a:bodyPr>
          <a:lstStyle/>
          <a:p>
            <a:pPr algn="l"/>
            <a:r>
              <a:rPr sz="1000" b="1">
                <a:solidFill>
                  <a:srgbClr val="5369DC"/>
                </a:solidFill>
                <a:latin typeface="Aptos"/>
              </a:rPr>
              <a:t>PROJECT PITCH  /  05</a:t>
            </a:r>
          </a:p>
        </p:txBody>
      </p:sp>
      <p:sp>
        <p:nvSpPr>
          <p:cNvPr id="3" name="TextBox 2"/>
          <p:cNvSpPr txBox="1"/>
          <p:nvPr/>
        </p:nvSpPr>
        <p:spPr>
          <a:xfrm>
            <a:off x="594360" y="713232"/>
            <a:ext cx="10972800" cy="502920"/>
          </a:xfrm>
          <a:prstGeom prst="rect">
            <a:avLst/>
          </a:prstGeom>
          <a:noFill/>
        </p:spPr>
        <p:txBody>
          <a:bodyPr wrap="square" anchor="t">
            <a:spAutoFit/>
          </a:bodyPr>
          <a:lstStyle/>
          <a:p>
            <a:pPr algn="l"/>
            <a:r>
              <a:rPr sz="2800" b="1">
                <a:solidFill>
                  <a:srgbClr val="162239"/>
                </a:solidFill>
                <a:latin typeface="Aptos"/>
              </a:rPr>
              <a:t>Technology Stack</a:t>
            </a:r>
          </a:p>
        </p:txBody>
      </p:sp>
      <p:sp>
        <p:nvSpPr>
          <p:cNvPr id="4" name="TextBox 3"/>
          <p:cNvSpPr txBox="1"/>
          <p:nvPr/>
        </p:nvSpPr>
        <p:spPr>
          <a:xfrm>
            <a:off x="621792" y="1261872"/>
            <a:ext cx="10881360" cy="320040"/>
          </a:xfrm>
          <a:prstGeom prst="rect">
            <a:avLst/>
          </a:prstGeom>
          <a:noFill/>
        </p:spPr>
        <p:txBody>
          <a:bodyPr wrap="square" anchor="t">
            <a:spAutoFit/>
          </a:bodyPr>
          <a:lstStyle/>
          <a:p>
            <a:pPr algn="l"/>
            <a:r>
              <a:rPr sz="1200" b="0">
                <a:solidFill>
                  <a:srgbClr val="767F90"/>
                </a:solidFill>
                <a:latin typeface="Aptos"/>
              </a:rPr>
              <a:t>Verified against package.json and the CI workflow. No Python, server framework, cloud database, OCR or LLM provider is used.</a:t>
            </a:r>
          </a:p>
        </p:txBody>
      </p:sp>
      <p:sp>
        <p:nvSpPr>
          <p:cNvPr id="5" name="Rectangle 4"/>
          <p:cNvSpPr/>
          <p:nvPr/>
        </p:nvSpPr>
        <p:spPr>
          <a:xfrm>
            <a:off x="10835640" y="384048"/>
            <a:ext cx="320040" cy="73152"/>
          </a:xfrm>
          <a:prstGeom prst="rect">
            <a:avLst/>
          </a:prstGeom>
          <a:solidFill>
            <a:srgbClr val="5369DC"/>
          </a:solidFill>
          <a:ln>
            <a:solidFill>
              <a:srgbClr val="536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228832" y="384048"/>
            <a:ext cx="320040" cy="73152"/>
          </a:xfrm>
          <a:prstGeom prst="rect">
            <a:avLst/>
          </a:prstGeom>
          <a:solidFill>
            <a:srgbClr val="2DA6A0"/>
          </a:solidFill>
          <a:ln>
            <a:solidFill>
              <a:srgbClr val="2DA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622024" y="384048"/>
            <a:ext cx="0" cy="73152"/>
          </a:xfrm>
          <a:prstGeom prst="rect">
            <a:avLst/>
          </a:prstGeom>
          <a:solidFill>
            <a:srgbClr val="162239"/>
          </a:solidFill>
          <a:ln>
            <a:solidFill>
              <a:srgbClr val="162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1737360"/>
            <a:ext cx="3474720" cy="1463040"/>
          </a:xfrm>
          <a:prstGeom prst="roundRect">
            <a:avLst>
              <a:gd name="adj" fmla="val 12000"/>
            </a:avLst>
          </a:prstGeom>
          <a:solidFill>
            <a:srgbClr val="FFFFFF"/>
          </a:solidFill>
          <a:ln>
            <a:solidFill>
              <a:srgbClr val="DE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737360"/>
            <a:ext cx="64008" cy="1463040"/>
          </a:xfrm>
          <a:prstGeom prst="rect">
            <a:avLst/>
          </a:prstGeom>
          <a:solidFill>
            <a:srgbClr val="5369DC"/>
          </a:solidFill>
          <a:ln>
            <a:solidFill>
              <a:srgbClr val="536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01952"/>
            <a:ext cx="3063239" cy="320040"/>
          </a:xfrm>
          <a:prstGeom prst="rect">
            <a:avLst/>
          </a:prstGeom>
          <a:noFill/>
        </p:spPr>
        <p:txBody>
          <a:bodyPr wrap="square" anchor="t">
            <a:spAutoFit/>
          </a:bodyPr>
          <a:lstStyle/>
          <a:p>
            <a:pPr algn="l"/>
            <a:r>
              <a:rPr sz="1500" b="1">
                <a:solidFill>
                  <a:srgbClr val="162239"/>
                </a:solidFill>
                <a:latin typeface="Aptos"/>
              </a:rPr>
              <a:t>FRONTEND</a:t>
            </a:r>
          </a:p>
        </p:txBody>
      </p:sp>
      <p:sp>
        <p:nvSpPr>
          <p:cNvPr id="11" name="TextBox 10"/>
          <p:cNvSpPr txBox="1"/>
          <p:nvPr/>
        </p:nvSpPr>
        <p:spPr>
          <a:xfrm>
            <a:off x="859536" y="2286000"/>
            <a:ext cx="3063239" cy="777240"/>
          </a:xfrm>
          <a:prstGeom prst="rect">
            <a:avLst/>
          </a:prstGeom>
          <a:noFill/>
        </p:spPr>
        <p:txBody>
          <a:bodyPr wrap="square" anchor="t">
            <a:spAutoFit/>
          </a:bodyPr>
          <a:lstStyle/>
          <a:p>
            <a:pPr algn="l"/>
            <a:r>
              <a:rPr sz="1300" b="0">
                <a:solidFill>
                  <a:srgbClr val="394252"/>
                </a:solidFill>
                <a:latin typeface="Aptos"/>
              </a:rPr>
              <a:t>React 18 + TypeScript, built with Vite and styled with Tailwind CSS.</a:t>
            </a:r>
          </a:p>
        </p:txBody>
      </p:sp>
      <p:sp>
        <p:nvSpPr>
          <p:cNvPr id="12" name="Rounded Rectangle 11"/>
          <p:cNvSpPr/>
          <p:nvPr/>
        </p:nvSpPr>
        <p:spPr>
          <a:xfrm>
            <a:off x="4343400" y="1737360"/>
            <a:ext cx="3474720" cy="1463040"/>
          </a:xfrm>
          <a:prstGeom prst="roundRect">
            <a:avLst>
              <a:gd name="adj" fmla="val 12000"/>
            </a:avLst>
          </a:prstGeom>
          <a:solidFill>
            <a:srgbClr val="FFFFFF"/>
          </a:solidFill>
          <a:ln>
            <a:solidFill>
              <a:srgbClr val="DE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737360"/>
            <a:ext cx="64008" cy="1463040"/>
          </a:xfrm>
          <a:prstGeom prst="rect">
            <a:avLst/>
          </a:prstGeom>
          <a:solidFill>
            <a:srgbClr val="2DA6A0"/>
          </a:solidFill>
          <a:ln>
            <a:solidFill>
              <a:srgbClr val="2DA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62856" y="1901952"/>
            <a:ext cx="3063239" cy="320040"/>
          </a:xfrm>
          <a:prstGeom prst="rect">
            <a:avLst/>
          </a:prstGeom>
          <a:noFill/>
        </p:spPr>
        <p:txBody>
          <a:bodyPr wrap="square" anchor="t">
            <a:spAutoFit/>
          </a:bodyPr>
          <a:lstStyle/>
          <a:p>
            <a:pPr algn="l"/>
            <a:r>
              <a:rPr sz="1500" b="1">
                <a:solidFill>
                  <a:srgbClr val="162239"/>
                </a:solidFill>
                <a:latin typeface="Aptos"/>
              </a:rPr>
              <a:t>BACKEND: NONE</a:t>
            </a:r>
          </a:p>
        </p:txBody>
      </p:sp>
      <p:sp>
        <p:nvSpPr>
          <p:cNvPr id="15" name="TextBox 14"/>
          <p:cNvSpPr txBox="1"/>
          <p:nvPr/>
        </p:nvSpPr>
        <p:spPr>
          <a:xfrm>
            <a:off x="4562856" y="2286000"/>
            <a:ext cx="3063239" cy="777240"/>
          </a:xfrm>
          <a:prstGeom prst="rect">
            <a:avLst/>
          </a:prstGeom>
          <a:noFill/>
        </p:spPr>
        <p:txBody>
          <a:bodyPr wrap="square" anchor="t">
            <a:spAutoFit/>
          </a:bodyPr>
          <a:lstStyle/>
          <a:p>
            <a:pPr algn="l"/>
            <a:r>
              <a:rPr sz="1300" b="0">
                <a:solidFill>
                  <a:srgbClr val="394252"/>
                </a:solidFill>
                <a:latin typeface="Aptos"/>
              </a:rPr>
              <a:t>A TypeScript service layer in the browser runs upload, analysis and review.</a:t>
            </a:r>
          </a:p>
        </p:txBody>
      </p:sp>
      <p:sp>
        <p:nvSpPr>
          <p:cNvPr id="16" name="Rounded Rectangle 15"/>
          <p:cNvSpPr/>
          <p:nvPr/>
        </p:nvSpPr>
        <p:spPr>
          <a:xfrm>
            <a:off x="8046720" y="1737360"/>
            <a:ext cx="3474720" cy="1463040"/>
          </a:xfrm>
          <a:prstGeom prst="roundRect">
            <a:avLst>
              <a:gd name="adj" fmla="val 12000"/>
            </a:avLst>
          </a:prstGeom>
          <a:solidFill>
            <a:srgbClr val="FFFFFF"/>
          </a:solidFill>
          <a:ln>
            <a:solidFill>
              <a:srgbClr val="DE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737360"/>
            <a:ext cx="64008" cy="1463040"/>
          </a:xfrm>
          <a:prstGeom prst="rect">
            <a:avLst/>
          </a:prstGeom>
          <a:solidFill>
            <a:srgbClr val="5369DC"/>
          </a:solidFill>
          <a:ln>
            <a:solidFill>
              <a:srgbClr val="536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6176" y="1901952"/>
            <a:ext cx="3063239" cy="320040"/>
          </a:xfrm>
          <a:prstGeom prst="rect">
            <a:avLst/>
          </a:prstGeom>
          <a:noFill/>
        </p:spPr>
        <p:txBody>
          <a:bodyPr wrap="square" anchor="t">
            <a:spAutoFit/>
          </a:bodyPr>
          <a:lstStyle/>
          <a:p>
            <a:pPr algn="l"/>
            <a:r>
              <a:rPr sz="1500" b="1">
                <a:solidFill>
                  <a:srgbClr val="162239"/>
                </a:solidFill>
                <a:latin typeface="Aptos"/>
              </a:rPr>
              <a:t>STORAGE</a:t>
            </a:r>
          </a:p>
        </p:txBody>
      </p:sp>
      <p:sp>
        <p:nvSpPr>
          <p:cNvPr id="19" name="TextBox 18"/>
          <p:cNvSpPr txBox="1"/>
          <p:nvPr/>
        </p:nvSpPr>
        <p:spPr>
          <a:xfrm>
            <a:off x="8266176" y="2286000"/>
            <a:ext cx="3063239" cy="777240"/>
          </a:xfrm>
          <a:prstGeom prst="rect">
            <a:avLst/>
          </a:prstGeom>
          <a:noFill/>
        </p:spPr>
        <p:txBody>
          <a:bodyPr wrap="square" anchor="t">
            <a:spAutoFit/>
          </a:bodyPr>
          <a:lstStyle/>
          <a:p>
            <a:pPr algn="l"/>
            <a:r>
              <a:rPr sz="1300" b="0">
                <a:solidFill>
                  <a:srgbClr val="394252"/>
                </a:solidFill>
                <a:latin typeface="Aptos"/>
              </a:rPr>
              <a:t>IndexedDB via Dexie: cases, documents, original files, findings and audit events.</a:t>
            </a:r>
          </a:p>
        </p:txBody>
      </p:sp>
      <p:sp>
        <p:nvSpPr>
          <p:cNvPr id="20" name="Rounded Rectangle 19"/>
          <p:cNvSpPr/>
          <p:nvPr/>
        </p:nvSpPr>
        <p:spPr>
          <a:xfrm>
            <a:off x="640080" y="3429000"/>
            <a:ext cx="3474720" cy="1463040"/>
          </a:xfrm>
          <a:prstGeom prst="roundRect">
            <a:avLst>
              <a:gd name="adj" fmla="val 12000"/>
            </a:avLst>
          </a:prstGeom>
          <a:solidFill>
            <a:srgbClr val="FFFFFF"/>
          </a:solidFill>
          <a:ln>
            <a:solidFill>
              <a:srgbClr val="DE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3429000"/>
            <a:ext cx="64008" cy="1463040"/>
          </a:xfrm>
          <a:prstGeom prst="rect">
            <a:avLst/>
          </a:prstGeom>
          <a:solidFill>
            <a:srgbClr val="2DA6A0"/>
          </a:solidFill>
          <a:ln>
            <a:solidFill>
              <a:srgbClr val="2DA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9536" y="3593592"/>
            <a:ext cx="3063239" cy="320040"/>
          </a:xfrm>
          <a:prstGeom prst="rect">
            <a:avLst/>
          </a:prstGeom>
          <a:noFill/>
        </p:spPr>
        <p:txBody>
          <a:bodyPr wrap="square" anchor="t">
            <a:spAutoFit/>
          </a:bodyPr>
          <a:lstStyle/>
          <a:p>
            <a:pPr algn="l"/>
            <a:r>
              <a:rPr sz="1500" b="1">
                <a:solidFill>
                  <a:srgbClr val="162239"/>
                </a:solidFill>
                <a:latin typeface="Aptos"/>
              </a:rPr>
              <a:t>CORE LOGIC (RULES)</a:t>
            </a:r>
          </a:p>
        </p:txBody>
      </p:sp>
      <p:sp>
        <p:nvSpPr>
          <p:cNvPr id="23" name="TextBox 22"/>
          <p:cNvSpPr txBox="1"/>
          <p:nvPr/>
        </p:nvSpPr>
        <p:spPr>
          <a:xfrm>
            <a:off x="859536" y="3977639"/>
            <a:ext cx="3063239" cy="777240"/>
          </a:xfrm>
          <a:prstGeom prst="rect">
            <a:avLst/>
          </a:prstGeom>
          <a:noFill/>
        </p:spPr>
        <p:txBody>
          <a:bodyPr wrap="square" anchor="t">
            <a:spAutoFit/>
          </a:bodyPr>
          <a:lstStyle/>
          <a:p>
            <a:pPr algn="l"/>
            <a:r>
              <a:rPr sz="1300" b="0">
                <a:solidFill>
                  <a:srgbClr val="394252"/>
                </a:solidFill>
                <a:latin typeface="Aptos"/>
              </a:rPr>
              <a:t>Deterministic TypeScript rules: vocabulary, negation, units and date handling.</a:t>
            </a:r>
          </a:p>
        </p:txBody>
      </p:sp>
      <p:sp>
        <p:nvSpPr>
          <p:cNvPr id="24" name="Rounded Rectangle 23"/>
          <p:cNvSpPr/>
          <p:nvPr/>
        </p:nvSpPr>
        <p:spPr>
          <a:xfrm>
            <a:off x="4343400" y="3429000"/>
            <a:ext cx="3474720" cy="1463040"/>
          </a:xfrm>
          <a:prstGeom prst="roundRect">
            <a:avLst>
              <a:gd name="adj" fmla="val 12000"/>
            </a:avLst>
          </a:prstGeom>
          <a:solidFill>
            <a:srgbClr val="FFFFFF"/>
          </a:solidFill>
          <a:ln>
            <a:solidFill>
              <a:srgbClr val="DE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43400" y="3429000"/>
            <a:ext cx="64008" cy="1463040"/>
          </a:xfrm>
          <a:prstGeom prst="rect">
            <a:avLst/>
          </a:prstGeom>
          <a:solidFill>
            <a:srgbClr val="5369DC"/>
          </a:solidFill>
          <a:ln>
            <a:solidFill>
              <a:srgbClr val="536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62856" y="3593592"/>
            <a:ext cx="3063239" cy="320040"/>
          </a:xfrm>
          <a:prstGeom prst="rect">
            <a:avLst/>
          </a:prstGeom>
          <a:noFill/>
        </p:spPr>
        <p:txBody>
          <a:bodyPr wrap="square" anchor="t">
            <a:spAutoFit/>
          </a:bodyPr>
          <a:lstStyle/>
          <a:p>
            <a:pPr algn="l"/>
            <a:r>
              <a:rPr sz="1500" b="1">
                <a:solidFill>
                  <a:srgbClr val="162239"/>
                </a:solidFill>
                <a:latin typeface="Aptos"/>
              </a:rPr>
              <a:t>DOCUMENT PROCESSING</a:t>
            </a:r>
          </a:p>
        </p:txBody>
      </p:sp>
      <p:sp>
        <p:nvSpPr>
          <p:cNvPr id="27" name="TextBox 26"/>
          <p:cNvSpPr txBox="1"/>
          <p:nvPr/>
        </p:nvSpPr>
        <p:spPr>
          <a:xfrm>
            <a:off x="4562856" y="3977639"/>
            <a:ext cx="3063239" cy="777240"/>
          </a:xfrm>
          <a:prstGeom prst="rect">
            <a:avLst/>
          </a:prstGeom>
          <a:noFill/>
        </p:spPr>
        <p:txBody>
          <a:bodyPr wrap="square" anchor="t">
            <a:spAutoFit/>
          </a:bodyPr>
          <a:lstStyle/>
          <a:p>
            <a:pPr algn="l"/>
            <a:r>
              <a:rPr sz="1300" b="0">
                <a:solidFill>
                  <a:srgbClr val="394252"/>
                </a:solidFill>
                <a:latin typeface="Aptos"/>
              </a:rPr>
              <a:t>pdfjs-dist reads PDF text layers, mammoth reads DOCX; TXT read as UTF-8.</a:t>
            </a:r>
          </a:p>
        </p:txBody>
      </p:sp>
      <p:sp>
        <p:nvSpPr>
          <p:cNvPr id="28" name="Rounded Rectangle 27"/>
          <p:cNvSpPr/>
          <p:nvPr/>
        </p:nvSpPr>
        <p:spPr>
          <a:xfrm>
            <a:off x="8046720" y="3429000"/>
            <a:ext cx="3474720" cy="1463040"/>
          </a:xfrm>
          <a:prstGeom prst="roundRect">
            <a:avLst>
              <a:gd name="adj" fmla="val 12000"/>
            </a:avLst>
          </a:prstGeom>
          <a:solidFill>
            <a:srgbClr val="FFFFFF"/>
          </a:solidFill>
          <a:ln>
            <a:solidFill>
              <a:srgbClr val="DE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46720" y="3429000"/>
            <a:ext cx="64008" cy="1463040"/>
          </a:xfrm>
          <a:prstGeom prst="rect">
            <a:avLst/>
          </a:prstGeom>
          <a:solidFill>
            <a:srgbClr val="2DA6A0"/>
          </a:solidFill>
          <a:ln>
            <a:solidFill>
              <a:srgbClr val="2DA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66176" y="3593592"/>
            <a:ext cx="3063239" cy="320040"/>
          </a:xfrm>
          <a:prstGeom prst="rect">
            <a:avLst/>
          </a:prstGeom>
          <a:noFill/>
        </p:spPr>
        <p:txBody>
          <a:bodyPr wrap="square" anchor="t">
            <a:spAutoFit/>
          </a:bodyPr>
          <a:lstStyle/>
          <a:p>
            <a:pPr algn="l"/>
            <a:r>
              <a:rPr sz="1500" b="1">
                <a:solidFill>
                  <a:srgbClr val="162239"/>
                </a:solidFill>
                <a:latin typeface="Aptos"/>
              </a:rPr>
              <a:t>TESTING &amp; DEPLOYMENT</a:t>
            </a:r>
          </a:p>
        </p:txBody>
      </p:sp>
      <p:sp>
        <p:nvSpPr>
          <p:cNvPr id="31" name="TextBox 30"/>
          <p:cNvSpPr txBox="1"/>
          <p:nvPr/>
        </p:nvSpPr>
        <p:spPr>
          <a:xfrm>
            <a:off x="8266176" y="3977639"/>
            <a:ext cx="3063239" cy="777240"/>
          </a:xfrm>
          <a:prstGeom prst="rect">
            <a:avLst/>
          </a:prstGeom>
          <a:noFill/>
        </p:spPr>
        <p:txBody>
          <a:bodyPr wrap="square" anchor="t">
            <a:spAutoFit/>
          </a:bodyPr>
          <a:lstStyle/>
          <a:p>
            <a:pPr algn="l"/>
            <a:r>
              <a:rPr sz="1300" b="0">
                <a:solidFill>
                  <a:srgbClr val="394252"/>
                </a:solidFill>
                <a:latin typeface="Aptos"/>
              </a:rPr>
              <a:t>Vitest + Playwright in GitHub Actions; static build hosted on GitHub Pages.</a:t>
            </a:r>
          </a:p>
        </p:txBody>
      </p:sp>
      <p:sp>
        <p:nvSpPr>
          <p:cNvPr id="32" name="TextBox 31"/>
          <p:cNvSpPr txBox="1"/>
          <p:nvPr/>
        </p:nvSpPr>
        <p:spPr>
          <a:xfrm>
            <a:off x="777240" y="5166360"/>
            <a:ext cx="10607040" cy="822960"/>
          </a:xfrm>
          <a:prstGeom prst="rect">
            <a:avLst/>
          </a:prstGeom>
          <a:noFill/>
        </p:spPr>
        <p:txBody>
          <a:bodyPr wrap="square" anchor="t">
            <a:spAutoFit/>
          </a:bodyPr>
          <a:lstStyle/>
          <a:p>
            <a:pPr algn="l"/>
            <a:r>
              <a:rPr sz="1400" b="1">
                <a:solidFill>
                  <a:srgbClr val="5369DC"/>
                </a:solidFill>
                <a:latin typeface="Aptos"/>
              </a:rPr>
              <a:t>WHY THIS STACK?  </a:t>
            </a:r>
            <a:r>
              <a:rPr sz="1400" b="0">
                <a:solidFill>
                  <a:srgbClr val="162239"/>
                </a:solidFill>
                <a:latin typeface="Aptos"/>
              </a:rPr>
              <a:t>A lightweight, testable static web app: documents are processed and stored in the reviewer's own browser, so no server or credentials are needed. A backend, OCR or AI service would be added only when the implementation requires it.</a:t>
            </a:r>
          </a:p>
        </p:txBody>
      </p:sp>
      <p:sp>
        <p:nvSpPr>
          <p:cNvPr id="33" name="TextBox 32"/>
          <p:cNvSpPr txBox="1"/>
          <p:nvPr/>
        </p:nvSpPr>
        <p:spPr>
          <a:xfrm>
            <a:off x="621792" y="6510528"/>
            <a:ext cx="5029200" cy="164592"/>
          </a:xfrm>
          <a:prstGeom prst="rect">
            <a:avLst/>
          </a:prstGeom>
          <a:noFill/>
        </p:spPr>
        <p:txBody>
          <a:bodyPr wrap="square" anchor="t">
            <a:spAutoFit/>
          </a:bodyPr>
          <a:lstStyle/>
          <a:p>
            <a:pPr algn="l"/>
            <a:r>
              <a:rPr sz="800" b="1">
                <a:solidFill>
                  <a:srgbClr val="767F90"/>
                </a:solidFill>
                <a:latin typeface="Aptos"/>
              </a:rPr>
              <a:t>CODE FLAYER 2.0  •  CLINISCOPE  •  PS-11R3</a:t>
            </a:r>
          </a:p>
        </p:txBody>
      </p:sp>
      <p:sp>
        <p:nvSpPr>
          <p:cNvPr id="34" name="TextBox 33"/>
          <p:cNvSpPr txBox="1"/>
          <p:nvPr/>
        </p:nvSpPr>
        <p:spPr>
          <a:xfrm>
            <a:off x="10744200" y="6473952"/>
            <a:ext cx="822960" cy="201168"/>
          </a:xfrm>
          <a:prstGeom prst="rect">
            <a:avLst/>
          </a:prstGeom>
          <a:noFill/>
        </p:spPr>
        <p:txBody>
          <a:bodyPr wrap="square" anchor="t">
            <a:spAutoFit/>
          </a:bodyPr>
          <a:lstStyle/>
          <a:p>
            <a:pPr algn="r"/>
            <a:r>
              <a:rPr sz="900" b="1">
                <a:solidFill>
                  <a:srgbClr val="767F90"/>
                </a:solidFill>
                <a:latin typeface="Aptos"/>
              </a:rPr>
              <a:t>05 / 08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C"/>
        </a:solidFill>
        <a:effectLst/>
      </p:bgPr>
    </p:bg>
    <p:spTree>
      <p:nvGrpSpPr>
        <p:cNvPr id="1" name=""/>
        <p:cNvGrpSpPr/>
        <p:nvPr/>
      </p:nvGrpSpPr>
      <p:grpSpPr/>
      <p:sp>
        <p:nvSpPr>
          <p:cNvPr id="2" name="TextBox 1"/>
          <p:cNvSpPr txBox="1"/>
          <p:nvPr/>
        </p:nvSpPr>
        <p:spPr>
          <a:xfrm>
            <a:off x="594360" y="320040"/>
            <a:ext cx="1828800" cy="274320"/>
          </a:xfrm>
          <a:prstGeom prst="rect">
            <a:avLst/>
          </a:prstGeom>
          <a:noFill/>
        </p:spPr>
        <p:txBody>
          <a:bodyPr wrap="square" anchor="t">
            <a:spAutoFit/>
          </a:bodyPr>
          <a:lstStyle/>
          <a:p>
            <a:pPr algn="l"/>
            <a:r>
              <a:rPr sz="1000" b="1">
                <a:solidFill>
                  <a:srgbClr val="5369DC"/>
                </a:solidFill>
                <a:latin typeface="Aptos"/>
              </a:rPr>
              <a:t>PROJECT PITCH  /  06</a:t>
            </a:r>
          </a:p>
        </p:txBody>
      </p:sp>
      <p:sp>
        <p:nvSpPr>
          <p:cNvPr id="3" name="TextBox 2"/>
          <p:cNvSpPr txBox="1"/>
          <p:nvPr/>
        </p:nvSpPr>
        <p:spPr>
          <a:xfrm>
            <a:off x="594360" y="713232"/>
            <a:ext cx="10972800" cy="502920"/>
          </a:xfrm>
          <a:prstGeom prst="rect">
            <a:avLst/>
          </a:prstGeom>
          <a:noFill/>
        </p:spPr>
        <p:txBody>
          <a:bodyPr wrap="square" anchor="t">
            <a:spAutoFit/>
          </a:bodyPr>
          <a:lstStyle/>
          <a:p>
            <a:pPr algn="l"/>
            <a:r>
              <a:rPr sz="2800" b="1">
                <a:solidFill>
                  <a:srgbClr val="162239"/>
                </a:solidFill>
                <a:latin typeface="Aptos"/>
              </a:rPr>
              <a:t>Feasibility &amp; Viability</a:t>
            </a:r>
          </a:p>
        </p:txBody>
      </p:sp>
      <p:sp>
        <p:nvSpPr>
          <p:cNvPr id="4" name="TextBox 3"/>
          <p:cNvSpPr txBox="1"/>
          <p:nvPr/>
        </p:nvSpPr>
        <p:spPr>
          <a:xfrm>
            <a:off x="621792" y="1261872"/>
            <a:ext cx="10881360" cy="320040"/>
          </a:xfrm>
          <a:prstGeom prst="rect">
            <a:avLst/>
          </a:prstGeom>
          <a:noFill/>
        </p:spPr>
        <p:txBody>
          <a:bodyPr wrap="square" anchor="t">
            <a:spAutoFit/>
          </a:bodyPr>
          <a:lstStyle/>
          <a:p>
            <a:pPr algn="l"/>
            <a:r>
              <a:rPr sz="1200" b="0">
                <a:solidFill>
                  <a:srgbClr val="767F90"/>
                </a:solidFill>
                <a:latin typeface="Aptos"/>
              </a:rPr>
              <a:t>A working, tested prototype today, with a staged and cautious path toward real-world evaluation.</a:t>
            </a:r>
          </a:p>
        </p:txBody>
      </p:sp>
      <p:sp>
        <p:nvSpPr>
          <p:cNvPr id="5" name="Rectangle 4"/>
          <p:cNvSpPr/>
          <p:nvPr/>
        </p:nvSpPr>
        <p:spPr>
          <a:xfrm>
            <a:off x="10835640" y="384048"/>
            <a:ext cx="320040" cy="73152"/>
          </a:xfrm>
          <a:prstGeom prst="rect">
            <a:avLst/>
          </a:prstGeom>
          <a:solidFill>
            <a:srgbClr val="5369DC"/>
          </a:solidFill>
          <a:ln>
            <a:solidFill>
              <a:srgbClr val="536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228832" y="384048"/>
            <a:ext cx="320040" cy="73152"/>
          </a:xfrm>
          <a:prstGeom prst="rect">
            <a:avLst/>
          </a:prstGeom>
          <a:solidFill>
            <a:srgbClr val="2DA6A0"/>
          </a:solidFill>
          <a:ln>
            <a:solidFill>
              <a:srgbClr val="2DA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622024" y="384048"/>
            <a:ext cx="0" cy="73152"/>
          </a:xfrm>
          <a:prstGeom prst="rect">
            <a:avLst/>
          </a:prstGeom>
          <a:solidFill>
            <a:srgbClr val="162239"/>
          </a:solidFill>
          <a:ln>
            <a:solidFill>
              <a:srgbClr val="162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1737360"/>
            <a:ext cx="5349240" cy="3566160"/>
          </a:xfrm>
          <a:prstGeom prst="roundRect">
            <a:avLst>
              <a:gd name="adj" fmla="val 12000"/>
            </a:avLst>
          </a:prstGeom>
          <a:solidFill>
            <a:srgbClr val="FFFFFF"/>
          </a:solidFill>
          <a:ln>
            <a:solidFill>
              <a:srgbClr val="DE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1737360"/>
            <a:ext cx="5303520" cy="3566160"/>
          </a:xfrm>
          <a:prstGeom prst="roundRect">
            <a:avLst>
              <a:gd name="adj" fmla="val 12000"/>
            </a:avLst>
          </a:prstGeom>
          <a:solidFill>
            <a:srgbClr val="FFFFFF"/>
          </a:solidFill>
          <a:ln>
            <a:solidFill>
              <a:srgbClr val="DE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1737360"/>
            <a:ext cx="5349240" cy="502920"/>
          </a:xfrm>
          <a:prstGeom prst="roundRect">
            <a:avLst>
              <a:gd name="adj" fmla="val 12000"/>
            </a:avLst>
          </a:prstGeom>
          <a:solidFill>
            <a:srgbClr val="5369DC"/>
          </a:solidFill>
          <a:ln>
            <a:solidFill>
              <a:srgbClr val="536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737360"/>
            <a:ext cx="5303520" cy="502920"/>
          </a:xfrm>
          <a:prstGeom prst="roundRect">
            <a:avLst>
              <a:gd name="adj" fmla="val 12000"/>
            </a:avLst>
          </a:prstGeom>
          <a:solidFill>
            <a:srgbClr val="2DA6A0"/>
          </a:solidFill>
          <a:ln>
            <a:solidFill>
              <a:srgbClr val="2DA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837943"/>
            <a:ext cx="4754880" cy="228600"/>
          </a:xfrm>
          <a:prstGeom prst="rect">
            <a:avLst/>
          </a:prstGeom>
          <a:noFill/>
        </p:spPr>
        <p:txBody>
          <a:bodyPr wrap="square" anchor="t">
            <a:spAutoFit/>
          </a:bodyPr>
          <a:lstStyle/>
          <a:p>
            <a:pPr algn="l"/>
            <a:r>
              <a:rPr sz="1500" b="1">
                <a:solidFill>
                  <a:srgbClr val="FFFFFF"/>
                </a:solidFill>
                <a:latin typeface="Aptos"/>
              </a:rPr>
              <a:t>TECHNICAL FEASIBILITY</a:t>
            </a:r>
          </a:p>
        </p:txBody>
      </p:sp>
      <p:sp>
        <p:nvSpPr>
          <p:cNvPr id="13" name="TextBox 12"/>
          <p:cNvSpPr txBox="1"/>
          <p:nvPr/>
        </p:nvSpPr>
        <p:spPr>
          <a:xfrm>
            <a:off x="6446520" y="1837943"/>
            <a:ext cx="4754880" cy="228600"/>
          </a:xfrm>
          <a:prstGeom prst="rect">
            <a:avLst/>
          </a:prstGeom>
          <a:noFill/>
        </p:spPr>
        <p:txBody>
          <a:bodyPr wrap="square" anchor="t">
            <a:spAutoFit/>
          </a:bodyPr>
          <a:lstStyle/>
          <a:p>
            <a:pPr algn="l"/>
            <a:r>
              <a:rPr sz="1400" b="1">
                <a:solidFill>
                  <a:srgbClr val="FFFFFF"/>
                </a:solidFill>
                <a:latin typeface="Aptos"/>
              </a:rPr>
              <a:t>BUSINESS / OPERATIONAL VIABILITY</a:t>
            </a:r>
          </a:p>
        </p:txBody>
      </p:sp>
      <p:sp>
        <p:nvSpPr>
          <p:cNvPr id="14" name="TextBox 13"/>
          <p:cNvSpPr txBox="1"/>
          <p:nvPr/>
        </p:nvSpPr>
        <p:spPr>
          <a:xfrm>
            <a:off x="868680" y="2395728"/>
            <a:ext cx="4937760" cy="2834640"/>
          </a:xfrm>
          <a:prstGeom prst="rect">
            <a:avLst/>
          </a:prstGeom>
          <a:noFill/>
        </p:spPr>
        <p:txBody>
          <a:bodyPr wrap="square" anchor="t">
            <a:spAutoFit/>
          </a:bodyPr>
          <a:lstStyle/>
          <a:p>
            <a:pPr algn="l" marL="228600" indent="-228600">
              <a:spcAft>
                <a:spcPts val="900"/>
              </a:spcAft>
              <a:buClr>
                <a:srgbClr val="2DA6A0"/>
              </a:buClr>
              <a:buFont typeface="Arial"/>
              <a:buChar char="•"/>
            </a:pPr>
            <a:r>
              <a:rPr sz="1350" b="1">
                <a:solidFill>
                  <a:srgbClr val="162239"/>
                </a:solidFill>
                <a:latin typeface="Aptos"/>
              </a:rPr>
              <a:t>Tools &amp; skills: </a:t>
            </a:r>
            <a:r>
              <a:rPr sz="1350" b="0">
                <a:solidFill>
                  <a:srgbClr val="394252"/>
                </a:solidFill>
                <a:latin typeface="Aptos"/>
              </a:rPr>
              <a:t>React, TypeScript, rule design, pdf.js / mammoth, Vitest and Playwright, all in use today.</a:t>
            </a:r>
          </a:p>
          <a:p>
            <a:pPr algn="l" marL="228600" indent="-228600">
              <a:spcAft>
                <a:spcPts val="900"/>
              </a:spcAft>
              <a:buClr>
                <a:srgbClr val="2DA6A0"/>
              </a:buClr>
              <a:buFont typeface="Arial"/>
              <a:buChar char="•"/>
            </a:pPr>
            <a:r>
              <a:rPr sz="1350" b="1">
                <a:solidFill>
                  <a:srgbClr val="162239"/>
                </a:solidFill>
                <a:latin typeface="Aptos"/>
              </a:rPr>
              <a:t>Data &amp; infrastructure: </a:t>
            </a:r>
            <a:r>
              <a:rPr sz="1350" b="0">
                <a:solidFill>
                  <a:srgbClr val="394252"/>
                </a:solidFill>
                <a:latin typeface="Aptos"/>
              </a:rPr>
              <a:t>synthetic demo records and browser storage only; no hospital systems or real patient data.</a:t>
            </a:r>
          </a:p>
          <a:p>
            <a:pPr algn="l" marL="228600" indent="-228600">
              <a:spcAft>
                <a:spcPts val="900"/>
              </a:spcAft>
              <a:buClr>
                <a:srgbClr val="2DA6A0"/>
              </a:buClr>
              <a:buFont typeface="Arial"/>
              <a:buChar char="•"/>
            </a:pPr>
            <a:r>
              <a:rPr sz="1350" b="1">
                <a:solidFill>
                  <a:srgbClr val="162239"/>
                </a:solidFill>
                <a:latin typeface="Aptos"/>
              </a:rPr>
              <a:t>Status &amp; constraints: </a:t>
            </a:r>
            <a:r>
              <a:rPr sz="1350" b="0">
                <a:solidFill>
                  <a:srgbClr val="394252"/>
                </a:solidFill>
                <a:latin typeface="Aptos"/>
              </a:rPr>
              <a:t>deployed prototype; 34 unit + 8 end-to-end tests pass. Limited vocabulary, no OCR, no login.</a:t>
            </a:r>
          </a:p>
          <a:p>
            <a:pPr algn="l" marL="228600" indent="-228600">
              <a:spcAft>
                <a:spcPts val="900"/>
              </a:spcAft>
              <a:buClr>
                <a:srgbClr val="2DA6A0"/>
              </a:buClr>
              <a:buFont typeface="Arial"/>
              <a:buChar char="•"/>
            </a:pPr>
            <a:r>
              <a:rPr sz="1350" b="1">
                <a:solidFill>
                  <a:srgbClr val="162239"/>
                </a:solidFill>
                <a:latin typeface="Aptos"/>
              </a:rPr>
              <a:t>Risk → mitigation: </a:t>
            </a:r>
            <a:r>
              <a:rPr sz="1350" b="0">
                <a:solidFill>
                  <a:srgbClr val="394252"/>
                </a:solidFill>
                <a:latin typeface="Aptos"/>
              </a:rPr>
              <a:t>mis-extraction and context false positives → offset-verified quotes, uncertainty labels, human review, regression tests.</a:t>
            </a:r>
          </a:p>
        </p:txBody>
      </p:sp>
      <p:sp>
        <p:nvSpPr>
          <p:cNvPr id="15" name="TextBox 14"/>
          <p:cNvSpPr txBox="1"/>
          <p:nvPr/>
        </p:nvSpPr>
        <p:spPr>
          <a:xfrm>
            <a:off x="6446520" y="2395728"/>
            <a:ext cx="4892040" cy="2834640"/>
          </a:xfrm>
          <a:prstGeom prst="rect">
            <a:avLst/>
          </a:prstGeom>
          <a:noFill/>
        </p:spPr>
        <p:txBody>
          <a:bodyPr wrap="square" anchor="t">
            <a:spAutoFit/>
          </a:bodyPr>
          <a:lstStyle/>
          <a:p>
            <a:pPr algn="l" marL="228600" indent="-228600">
              <a:spcAft>
                <a:spcPts val="900"/>
              </a:spcAft>
              <a:buClr>
                <a:srgbClr val="2DA6A0"/>
              </a:buClr>
              <a:buFont typeface="Arial"/>
              <a:buChar char="•"/>
            </a:pPr>
            <a:r>
              <a:rPr sz="1350" b="1">
                <a:solidFill>
                  <a:srgbClr val="162239"/>
                </a:solidFill>
                <a:latin typeface="Aptos"/>
              </a:rPr>
              <a:t>Users &amp; value: </a:t>
            </a:r>
            <a:r>
              <a:rPr sz="1350" b="0">
                <a:solidFill>
                  <a:srgbClr val="394252"/>
                </a:solidFill>
                <a:latin typeface="Aptos"/>
              </a:rPr>
              <a:t>authorized reviewers who reconcile records and need evidence, not just alerts.</a:t>
            </a:r>
          </a:p>
          <a:p>
            <a:pPr algn="l" marL="228600" indent="-228600">
              <a:spcAft>
                <a:spcPts val="900"/>
              </a:spcAft>
              <a:buClr>
                <a:srgbClr val="2DA6A0"/>
              </a:buClr>
              <a:buFont typeface="Arial"/>
              <a:buChar char="•"/>
            </a:pPr>
            <a:r>
              <a:rPr sz="1350" b="1">
                <a:solidFill>
                  <a:srgbClr val="162239"/>
                </a:solidFill>
                <a:latin typeface="Aptos"/>
              </a:rPr>
              <a:t>Adoption path: </a:t>
            </a:r>
            <a:r>
              <a:rPr sz="1350" b="0">
                <a:solidFill>
                  <a:srgbClr val="394252"/>
                </a:solidFill>
                <a:latin typeface="Aptos"/>
              </a:rPr>
              <a:t>synthetic prototype → representative test set → clinical reviewer feedback → security &amp; privacy review → approved limited pilot.</a:t>
            </a:r>
          </a:p>
          <a:p>
            <a:pPr algn="l" marL="228600" indent="-228600">
              <a:spcAft>
                <a:spcPts val="900"/>
              </a:spcAft>
              <a:buClr>
                <a:srgbClr val="2DA6A0"/>
              </a:buClr>
              <a:buFont typeface="Arial"/>
              <a:buChar char="•"/>
            </a:pPr>
            <a:r>
              <a:rPr sz="1350" b="1">
                <a:solidFill>
                  <a:srgbClr val="162239"/>
                </a:solidFill>
                <a:latin typeface="Aptos"/>
              </a:rPr>
              <a:t>Cost drivers: </a:t>
            </a:r>
            <a:r>
              <a:rPr sz="1350" b="0">
                <a:solidFill>
                  <a:srgbClr val="394252"/>
                </a:solidFill>
                <a:latin typeface="Aptos"/>
              </a:rPr>
              <a:t>hosting (static today), document processing, future storage or AI APIs, testing and maintenance.</a:t>
            </a:r>
          </a:p>
          <a:p>
            <a:pPr algn="l" marL="228600" indent="-228600">
              <a:spcAft>
                <a:spcPts val="900"/>
              </a:spcAft>
              <a:buClr>
                <a:srgbClr val="2DA6A0"/>
              </a:buClr>
              <a:buFont typeface="Arial"/>
              <a:buChar char="•"/>
            </a:pPr>
            <a:r>
              <a:rPr sz="1350" b="1">
                <a:solidFill>
                  <a:srgbClr val="162239"/>
                </a:solidFill>
                <a:latin typeface="Aptos"/>
              </a:rPr>
              <a:t>Possible model (future): </a:t>
            </a:r>
            <a:r>
              <a:rPr sz="1350" b="0">
                <a:solidFill>
                  <a:srgbClr val="394252"/>
                </a:solidFill>
                <a:latin typeface="Aptos"/>
              </a:rPr>
              <a:t>institutional licensing or record-system integration via pilot partners. No partners or customers today.</a:t>
            </a:r>
          </a:p>
        </p:txBody>
      </p:sp>
      <p:sp>
        <p:nvSpPr>
          <p:cNvPr id="16" name="Rounded Rectangle 15"/>
          <p:cNvSpPr/>
          <p:nvPr/>
        </p:nvSpPr>
        <p:spPr>
          <a:xfrm>
            <a:off x="868680" y="5486400"/>
            <a:ext cx="10424160" cy="777240"/>
          </a:xfrm>
          <a:prstGeom prst="roundRect">
            <a:avLst>
              <a:gd name="adj" fmla="val 12000"/>
            </a:avLst>
          </a:prstGeom>
          <a:solidFill>
            <a:srgbClr val="E8ECFA"/>
          </a:solidFill>
          <a:ln>
            <a:solidFill>
              <a:srgbClr val="E8EC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5559552"/>
            <a:ext cx="10058400" cy="640080"/>
          </a:xfrm>
          <a:prstGeom prst="rect">
            <a:avLst/>
          </a:prstGeom>
          <a:noFill/>
        </p:spPr>
        <p:txBody>
          <a:bodyPr wrap="square" anchor="t">
            <a:spAutoFit/>
          </a:bodyPr>
          <a:lstStyle/>
          <a:p>
            <a:pPr algn="l"/>
            <a:r>
              <a:rPr sz="1300" b="1">
                <a:solidFill>
                  <a:srgbClr val="5369DC"/>
                </a:solidFill>
                <a:latin typeface="Aptos"/>
              </a:rPr>
              <a:t>KEY TAKEAWAY:  </a:t>
            </a:r>
            <a:r>
              <a:rPr sz="1300" b="0">
                <a:solidFill>
                  <a:srgbClr val="162239"/>
                </a:solidFill>
                <a:latin typeface="Aptos"/>
              </a:rPr>
              <a:t>CLINISCOPE builds on a working software prototype and offers a practical path toward evaluated, evidence-based record review, subject to further validation and secure deployment.</a:t>
            </a:r>
          </a:p>
        </p:txBody>
      </p:sp>
      <p:sp>
        <p:nvSpPr>
          <p:cNvPr id="18" name="TextBox 17"/>
          <p:cNvSpPr txBox="1"/>
          <p:nvPr/>
        </p:nvSpPr>
        <p:spPr>
          <a:xfrm>
            <a:off x="621792" y="6510528"/>
            <a:ext cx="5029200" cy="164592"/>
          </a:xfrm>
          <a:prstGeom prst="rect">
            <a:avLst/>
          </a:prstGeom>
          <a:noFill/>
        </p:spPr>
        <p:txBody>
          <a:bodyPr wrap="square" anchor="t">
            <a:spAutoFit/>
          </a:bodyPr>
          <a:lstStyle/>
          <a:p>
            <a:pPr algn="l"/>
            <a:r>
              <a:rPr sz="800" b="1">
                <a:solidFill>
                  <a:srgbClr val="767F90"/>
                </a:solidFill>
                <a:latin typeface="Aptos"/>
              </a:rPr>
              <a:t>CODE FLAYER 2.0  •  CLINISCOPE  •  PS-11R3</a:t>
            </a:r>
          </a:p>
        </p:txBody>
      </p:sp>
      <p:sp>
        <p:nvSpPr>
          <p:cNvPr id="19" name="TextBox 18"/>
          <p:cNvSpPr txBox="1"/>
          <p:nvPr/>
        </p:nvSpPr>
        <p:spPr>
          <a:xfrm>
            <a:off x="10744200" y="6473952"/>
            <a:ext cx="822960" cy="201168"/>
          </a:xfrm>
          <a:prstGeom prst="rect">
            <a:avLst/>
          </a:prstGeom>
          <a:noFill/>
        </p:spPr>
        <p:txBody>
          <a:bodyPr wrap="square" anchor="t">
            <a:spAutoFit/>
          </a:bodyPr>
          <a:lstStyle/>
          <a:p>
            <a:pPr algn="r"/>
            <a:r>
              <a:rPr sz="900" b="1">
                <a:solidFill>
                  <a:srgbClr val="767F90"/>
                </a:solidFill>
                <a:latin typeface="Aptos"/>
              </a:rPr>
              <a:t>06 / 08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C"/>
        </a:solidFill>
        <a:effectLst/>
      </p:bgPr>
    </p:bg>
    <p:spTree>
      <p:nvGrpSpPr>
        <p:cNvPr id="1" name=""/>
        <p:cNvGrpSpPr/>
        <p:nvPr/>
      </p:nvGrpSpPr>
      <p:grpSpPr/>
      <p:sp>
        <p:nvSpPr>
          <p:cNvPr id="2" name="TextBox 1"/>
          <p:cNvSpPr txBox="1"/>
          <p:nvPr/>
        </p:nvSpPr>
        <p:spPr>
          <a:xfrm>
            <a:off x="594360" y="320040"/>
            <a:ext cx="1828800" cy="274320"/>
          </a:xfrm>
          <a:prstGeom prst="rect">
            <a:avLst/>
          </a:prstGeom>
          <a:noFill/>
        </p:spPr>
        <p:txBody>
          <a:bodyPr wrap="square" anchor="t">
            <a:spAutoFit/>
          </a:bodyPr>
          <a:lstStyle/>
          <a:p>
            <a:pPr algn="l"/>
            <a:r>
              <a:rPr sz="1000" b="1">
                <a:solidFill>
                  <a:srgbClr val="5369DC"/>
                </a:solidFill>
                <a:latin typeface="Aptos"/>
              </a:rPr>
              <a:t>PROJECT PITCH  /  07</a:t>
            </a:r>
          </a:p>
        </p:txBody>
      </p:sp>
      <p:sp>
        <p:nvSpPr>
          <p:cNvPr id="3" name="TextBox 2"/>
          <p:cNvSpPr txBox="1"/>
          <p:nvPr/>
        </p:nvSpPr>
        <p:spPr>
          <a:xfrm>
            <a:off x="594360" y="713232"/>
            <a:ext cx="10972800" cy="502920"/>
          </a:xfrm>
          <a:prstGeom prst="rect">
            <a:avLst/>
          </a:prstGeom>
          <a:noFill/>
        </p:spPr>
        <p:txBody>
          <a:bodyPr wrap="square" anchor="t">
            <a:spAutoFit/>
          </a:bodyPr>
          <a:lstStyle/>
          <a:p>
            <a:pPr algn="l"/>
            <a:r>
              <a:rPr sz="2800" b="1">
                <a:solidFill>
                  <a:srgbClr val="162239"/>
                </a:solidFill>
                <a:latin typeface="Aptos"/>
              </a:rPr>
              <a:t>Sustainability, Scalability &amp; Impact</a:t>
            </a:r>
          </a:p>
        </p:txBody>
      </p:sp>
      <p:sp>
        <p:nvSpPr>
          <p:cNvPr id="4" name="TextBox 3"/>
          <p:cNvSpPr txBox="1"/>
          <p:nvPr/>
        </p:nvSpPr>
        <p:spPr>
          <a:xfrm>
            <a:off x="621792" y="1261872"/>
            <a:ext cx="10881360" cy="320040"/>
          </a:xfrm>
          <a:prstGeom prst="rect">
            <a:avLst/>
          </a:prstGeom>
          <a:noFill/>
        </p:spPr>
        <p:txBody>
          <a:bodyPr wrap="square" anchor="t">
            <a:spAutoFit/>
          </a:bodyPr>
          <a:lstStyle/>
          <a:p>
            <a:pPr algn="l"/>
            <a:r>
              <a:rPr sz="1200" b="0">
                <a:solidFill>
                  <a:srgbClr val="767F90"/>
                </a:solidFill>
                <a:latin typeface="Aptos"/>
              </a:rPr>
              <a:t>Scalability items and roadmap stages 02–04 are planned, not built; impact is a goal to be measured in evaluation.</a:t>
            </a:r>
          </a:p>
        </p:txBody>
      </p:sp>
      <p:sp>
        <p:nvSpPr>
          <p:cNvPr id="5" name="Rectangle 4"/>
          <p:cNvSpPr/>
          <p:nvPr/>
        </p:nvSpPr>
        <p:spPr>
          <a:xfrm>
            <a:off x="10835640" y="384048"/>
            <a:ext cx="320040" cy="73152"/>
          </a:xfrm>
          <a:prstGeom prst="rect">
            <a:avLst/>
          </a:prstGeom>
          <a:solidFill>
            <a:srgbClr val="5369DC"/>
          </a:solidFill>
          <a:ln>
            <a:solidFill>
              <a:srgbClr val="536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228832" y="384048"/>
            <a:ext cx="320040" cy="73152"/>
          </a:xfrm>
          <a:prstGeom prst="rect">
            <a:avLst/>
          </a:prstGeom>
          <a:solidFill>
            <a:srgbClr val="2DA6A0"/>
          </a:solidFill>
          <a:ln>
            <a:solidFill>
              <a:srgbClr val="2DA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622024" y="384048"/>
            <a:ext cx="0" cy="73152"/>
          </a:xfrm>
          <a:prstGeom prst="rect">
            <a:avLst/>
          </a:prstGeom>
          <a:solidFill>
            <a:srgbClr val="162239"/>
          </a:solidFill>
          <a:ln>
            <a:solidFill>
              <a:srgbClr val="162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1691640"/>
            <a:ext cx="3474720" cy="2148840"/>
          </a:xfrm>
          <a:prstGeom prst="roundRect">
            <a:avLst>
              <a:gd name="adj" fmla="val 12000"/>
            </a:avLst>
          </a:prstGeom>
          <a:solidFill>
            <a:srgbClr val="FFFFFF"/>
          </a:solidFill>
          <a:ln>
            <a:solidFill>
              <a:srgbClr val="DE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691640"/>
            <a:ext cx="64008" cy="2148840"/>
          </a:xfrm>
          <a:prstGeom prst="rect">
            <a:avLst/>
          </a:prstGeom>
          <a:solidFill>
            <a:srgbClr val="5369DC"/>
          </a:solidFill>
          <a:ln>
            <a:solidFill>
              <a:srgbClr val="536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856232"/>
            <a:ext cx="3063239" cy="320040"/>
          </a:xfrm>
          <a:prstGeom prst="rect">
            <a:avLst/>
          </a:prstGeom>
          <a:noFill/>
        </p:spPr>
        <p:txBody>
          <a:bodyPr wrap="square" anchor="t">
            <a:spAutoFit/>
          </a:bodyPr>
          <a:lstStyle/>
          <a:p>
            <a:pPr algn="l"/>
            <a:r>
              <a:rPr sz="1500" b="1">
                <a:solidFill>
                  <a:srgbClr val="162239"/>
                </a:solidFill>
                <a:latin typeface="Aptos"/>
              </a:rPr>
              <a:t>LONG-TERM SUSTAINABILITY</a:t>
            </a:r>
          </a:p>
        </p:txBody>
      </p:sp>
      <p:sp>
        <p:nvSpPr>
          <p:cNvPr id="11" name="TextBox 10"/>
          <p:cNvSpPr txBox="1"/>
          <p:nvPr/>
        </p:nvSpPr>
        <p:spPr>
          <a:xfrm>
            <a:off x="859536" y="2240280"/>
            <a:ext cx="3063239" cy="1463040"/>
          </a:xfrm>
          <a:prstGeom prst="rect">
            <a:avLst/>
          </a:prstGeom>
          <a:noFill/>
        </p:spPr>
        <p:txBody>
          <a:bodyPr wrap="square" anchor="t">
            <a:spAutoFit/>
          </a:bodyPr>
          <a:lstStyle/>
          <a:p>
            <a:pPr algn="l" marL="228600" indent="-228600">
              <a:spcAft>
                <a:spcPts val="100"/>
              </a:spcAft>
              <a:buClr>
                <a:srgbClr val="2DA6A0"/>
              </a:buClr>
              <a:buFont typeface="Arial"/>
              <a:buChar char="•"/>
            </a:pPr>
            <a:r>
              <a:rPr sz="1200" b="0">
                <a:solidFill>
                  <a:srgbClr val="394252"/>
                </a:solidFill>
                <a:latin typeface="Aptos"/>
              </a:rPr>
              <a:t>Modular engine in src/lib</a:t>
            </a:r>
          </a:p>
          <a:p>
            <a:pPr algn="l" marL="228600" indent="-228600">
              <a:spcAft>
                <a:spcPts val="100"/>
              </a:spcAft>
              <a:buClr>
                <a:srgbClr val="2DA6A0"/>
              </a:buClr>
              <a:buFont typeface="Arial"/>
              <a:buChar char="•"/>
            </a:pPr>
            <a:r>
              <a:rPr sz="1200" b="0">
                <a:solidFill>
                  <a:srgbClr val="394252"/>
                </a:solidFill>
                <a:latin typeface="Aptos"/>
              </a:rPr>
              <a:t>Regression tests run in CI</a:t>
            </a:r>
          </a:p>
          <a:p>
            <a:pPr algn="l" marL="228600" indent="-228600">
              <a:spcAft>
                <a:spcPts val="100"/>
              </a:spcAft>
              <a:buClr>
                <a:srgbClr val="2DA6A0"/>
              </a:buClr>
              <a:buFont typeface="Arial"/>
              <a:buChar char="•"/>
            </a:pPr>
            <a:r>
              <a:rPr sz="1200" b="0">
                <a:solidFill>
                  <a:srgbClr val="394252"/>
                </a:solidFill>
                <a:latin typeface="Aptos"/>
              </a:rPr>
              <a:t>Versioned DB schema</a:t>
            </a:r>
          </a:p>
          <a:p>
            <a:pPr algn="l" marL="228600" indent="-228600">
              <a:spcAft>
                <a:spcPts val="100"/>
              </a:spcAft>
              <a:buClr>
                <a:srgbClr val="2DA6A0"/>
              </a:buClr>
              <a:buFont typeface="Arial"/>
              <a:buChar char="•"/>
            </a:pPr>
            <a:r>
              <a:rPr sz="1200" b="0">
                <a:solidFill>
                  <a:srgbClr val="394252"/>
                </a:solidFill>
                <a:latin typeface="Aptos"/>
              </a:rPr>
              <a:t>Unsupported files flagged openly</a:t>
            </a:r>
          </a:p>
          <a:p>
            <a:pPr algn="l" marL="228600" indent="-228600">
              <a:spcAft>
                <a:spcPts val="100"/>
              </a:spcAft>
              <a:buClr>
                <a:srgbClr val="2DA6A0"/>
              </a:buClr>
              <a:buFont typeface="Arial"/>
              <a:buChar char="•"/>
            </a:pPr>
            <a:r>
              <a:rPr sz="1200" b="0">
                <a:solidFill>
                  <a:srgbClr val="394252"/>
                </a:solidFill>
                <a:latin typeface="Aptos"/>
              </a:rPr>
              <a:t>Synthetic, governed test data</a:t>
            </a:r>
          </a:p>
        </p:txBody>
      </p:sp>
      <p:sp>
        <p:nvSpPr>
          <p:cNvPr id="12" name="Rounded Rectangle 11"/>
          <p:cNvSpPr/>
          <p:nvPr/>
        </p:nvSpPr>
        <p:spPr>
          <a:xfrm>
            <a:off x="4343400" y="1691640"/>
            <a:ext cx="3474720" cy="2148840"/>
          </a:xfrm>
          <a:prstGeom prst="roundRect">
            <a:avLst>
              <a:gd name="adj" fmla="val 12000"/>
            </a:avLst>
          </a:prstGeom>
          <a:solidFill>
            <a:srgbClr val="FFFFFF"/>
          </a:solidFill>
          <a:ln>
            <a:solidFill>
              <a:srgbClr val="DE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691640"/>
            <a:ext cx="64008" cy="2148840"/>
          </a:xfrm>
          <a:prstGeom prst="rect">
            <a:avLst/>
          </a:prstGeom>
          <a:solidFill>
            <a:srgbClr val="2DA6A0"/>
          </a:solidFill>
          <a:ln>
            <a:solidFill>
              <a:srgbClr val="2DA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62856" y="1856232"/>
            <a:ext cx="3063239" cy="320040"/>
          </a:xfrm>
          <a:prstGeom prst="rect">
            <a:avLst/>
          </a:prstGeom>
          <a:noFill/>
        </p:spPr>
        <p:txBody>
          <a:bodyPr wrap="square" anchor="t">
            <a:spAutoFit/>
          </a:bodyPr>
          <a:lstStyle/>
          <a:p>
            <a:pPr algn="l"/>
            <a:r>
              <a:rPr sz="1500" b="1">
                <a:solidFill>
                  <a:srgbClr val="162239"/>
                </a:solidFill>
                <a:latin typeface="Aptos"/>
              </a:rPr>
              <a:t>SCALABILITY </a:t>
            </a:r>
            <a:r>
              <a:rPr sz="1200" b="0">
                <a:solidFill>
                  <a:srgbClr val="767F90"/>
                </a:solidFill>
                <a:latin typeface="Aptos"/>
              </a:rPr>
              <a:t>(PLANNED)</a:t>
            </a:r>
          </a:p>
        </p:txBody>
      </p:sp>
      <p:sp>
        <p:nvSpPr>
          <p:cNvPr id="15" name="TextBox 14"/>
          <p:cNvSpPr txBox="1"/>
          <p:nvPr/>
        </p:nvSpPr>
        <p:spPr>
          <a:xfrm>
            <a:off x="4562856" y="2240280"/>
            <a:ext cx="3063239" cy="1463040"/>
          </a:xfrm>
          <a:prstGeom prst="rect">
            <a:avLst/>
          </a:prstGeom>
          <a:noFill/>
        </p:spPr>
        <p:txBody>
          <a:bodyPr wrap="square" anchor="t">
            <a:spAutoFit/>
          </a:bodyPr>
          <a:lstStyle/>
          <a:p>
            <a:pPr algn="l" marL="228600" indent="-228600">
              <a:spcAft>
                <a:spcPts val="100"/>
              </a:spcAft>
              <a:buClr>
                <a:srgbClr val="2DA6A0"/>
              </a:buClr>
              <a:buFont typeface="Arial"/>
              <a:buChar char="•"/>
            </a:pPr>
            <a:r>
              <a:rPr sz="1200" b="0">
                <a:solidFill>
                  <a:srgbClr val="394252"/>
                </a:solidFill>
                <a:latin typeface="Aptos"/>
              </a:rPr>
              <a:t>OCR for scanned records</a:t>
            </a:r>
          </a:p>
          <a:p>
            <a:pPr algn="l" marL="228600" indent="-228600">
              <a:spcAft>
                <a:spcPts val="100"/>
              </a:spcAft>
              <a:buClr>
                <a:srgbClr val="2DA6A0"/>
              </a:buClr>
              <a:buFont typeface="Arial"/>
              <a:buChar char="•"/>
            </a:pPr>
            <a:r>
              <a:rPr sz="1200" b="0">
                <a:solidFill>
                  <a:srgbClr val="394252"/>
                </a:solidFill>
                <a:latin typeface="Aptos"/>
              </a:rPr>
              <a:t>More formats and vocabulary</a:t>
            </a:r>
          </a:p>
          <a:p>
            <a:pPr algn="l" marL="228600" indent="-228600">
              <a:spcAft>
                <a:spcPts val="100"/>
              </a:spcAft>
              <a:buClr>
                <a:srgbClr val="2DA6A0"/>
              </a:buClr>
              <a:buFont typeface="Arial"/>
              <a:buChar char="•"/>
            </a:pPr>
            <a:r>
              <a:rPr sz="1200" b="0">
                <a:solidFill>
                  <a:srgbClr val="394252"/>
                </a:solidFill>
                <a:latin typeface="Aptos"/>
              </a:rPr>
              <a:t>Evidence-checked AI assistance</a:t>
            </a:r>
          </a:p>
          <a:p>
            <a:pPr algn="l" marL="228600" indent="-228600">
              <a:spcAft>
                <a:spcPts val="100"/>
              </a:spcAft>
              <a:buClr>
                <a:srgbClr val="2DA6A0"/>
              </a:buClr>
              <a:buFont typeface="Arial"/>
              <a:buChar char="•"/>
            </a:pPr>
            <a:r>
              <a:rPr sz="1200" b="0">
                <a:solidFill>
                  <a:srgbClr val="394252"/>
                </a:solidFill>
                <a:latin typeface="Aptos"/>
              </a:rPr>
              <a:t>Secure backend, login, multi-user</a:t>
            </a:r>
          </a:p>
          <a:p>
            <a:pPr algn="l" marL="228600" indent="-228600">
              <a:spcAft>
                <a:spcPts val="100"/>
              </a:spcAft>
              <a:buClr>
                <a:srgbClr val="2DA6A0"/>
              </a:buClr>
              <a:buFont typeface="Arial"/>
              <a:buChar char="•"/>
            </a:pPr>
            <a:r>
              <a:rPr sz="1200" b="0">
                <a:solidFill>
                  <a:srgbClr val="394252"/>
                </a:solidFill>
                <a:latin typeface="Aptos"/>
              </a:rPr>
              <a:t>Record-system integration</a:t>
            </a:r>
          </a:p>
        </p:txBody>
      </p:sp>
      <p:sp>
        <p:nvSpPr>
          <p:cNvPr id="16" name="Rounded Rectangle 15"/>
          <p:cNvSpPr/>
          <p:nvPr/>
        </p:nvSpPr>
        <p:spPr>
          <a:xfrm>
            <a:off x="8046720" y="1691640"/>
            <a:ext cx="3474720" cy="2148840"/>
          </a:xfrm>
          <a:prstGeom prst="roundRect">
            <a:avLst>
              <a:gd name="adj" fmla="val 12000"/>
            </a:avLst>
          </a:prstGeom>
          <a:solidFill>
            <a:srgbClr val="FFFFFF"/>
          </a:solidFill>
          <a:ln>
            <a:solidFill>
              <a:srgbClr val="DE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691640"/>
            <a:ext cx="64008" cy="2148840"/>
          </a:xfrm>
          <a:prstGeom prst="rect">
            <a:avLst/>
          </a:prstGeom>
          <a:solidFill>
            <a:srgbClr val="5369DC"/>
          </a:solidFill>
          <a:ln>
            <a:solidFill>
              <a:srgbClr val="536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6176" y="1856232"/>
            <a:ext cx="3063239" cy="320040"/>
          </a:xfrm>
          <a:prstGeom prst="rect">
            <a:avLst/>
          </a:prstGeom>
          <a:noFill/>
        </p:spPr>
        <p:txBody>
          <a:bodyPr wrap="square" anchor="t">
            <a:spAutoFit/>
          </a:bodyPr>
          <a:lstStyle/>
          <a:p>
            <a:pPr algn="l"/>
            <a:r>
              <a:rPr sz="1500" b="1">
                <a:solidFill>
                  <a:srgbClr val="162239"/>
                </a:solidFill>
                <a:latin typeface="Aptos"/>
              </a:rPr>
              <a:t>EXPECTED IMPACT </a:t>
            </a:r>
            <a:r>
              <a:rPr sz="1200" b="0">
                <a:solidFill>
                  <a:srgbClr val="767F90"/>
                </a:solidFill>
                <a:latin typeface="Aptos"/>
              </a:rPr>
              <a:t>(GOALS)</a:t>
            </a:r>
          </a:p>
        </p:txBody>
      </p:sp>
      <p:sp>
        <p:nvSpPr>
          <p:cNvPr id="19" name="TextBox 18"/>
          <p:cNvSpPr txBox="1"/>
          <p:nvPr/>
        </p:nvSpPr>
        <p:spPr>
          <a:xfrm>
            <a:off x="8266176" y="2240280"/>
            <a:ext cx="3063239" cy="1463040"/>
          </a:xfrm>
          <a:prstGeom prst="rect">
            <a:avLst/>
          </a:prstGeom>
          <a:noFill/>
        </p:spPr>
        <p:txBody>
          <a:bodyPr wrap="square" anchor="t">
            <a:spAutoFit/>
          </a:bodyPr>
          <a:lstStyle/>
          <a:p>
            <a:pPr algn="l" marL="228600" indent="-228600">
              <a:spcAft>
                <a:spcPts val="100"/>
              </a:spcAft>
              <a:buClr>
                <a:srgbClr val="2DA6A0"/>
              </a:buClr>
              <a:buFont typeface="Arial"/>
              <a:buChar char="•"/>
            </a:pPr>
            <a:r>
              <a:rPr sz="1200" b="0">
                <a:solidFill>
                  <a:srgbClr val="394252"/>
                </a:solidFill>
                <a:latin typeface="Aptos"/>
              </a:rPr>
              <a:t>Aims to cut manual searching</a:t>
            </a:r>
          </a:p>
          <a:p>
            <a:pPr algn="l" marL="228600" indent="-228600">
              <a:spcAft>
                <a:spcPts val="100"/>
              </a:spcAft>
              <a:buClr>
                <a:srgbClr val="2DA6A0"/>
              </a:buClr>
              <a:buFont typeface="Arial"/>
              <a:buChar char="•"/>
            </a:pPr>
            <a:r>
              <a:rPr sz="1200" b="0">
                <a:solidFill>
                  <a:srgbClr val="394252"/>
                </a:solidFill>
                <a:latin typeface="Aptos"/>
              </a:rPr>
              <a:t>More traceable investigations</a:t>
            </a:r>
          </a:p>
          <a:p>
            <a:pPr algn="l" marL="228600" indent="-228600">
              <a:spcAft>
                <a:spcPts val="100"/>
              </a:spcAft>
              <a:buClr>
                <a:srgbClr val="2DA6A0"/>
              </a:buClr>
              <a:buFont typeface="Arial"/>
              <a:buChar char="•"/>
            </a:pPr>
            <a:r>
              <a:rPr sz="1200" b="0">
                <a:solidFill>
                  <a:srgbClr val="394252"/>
                </a:solidFill>
                <a:latin typeface="Aptos"/>
              </a:rPr>
              <a:t>Clearer view of source evidence</a:t>
            </a:r>
          </a:p>
          <a:p>
            <a:pPr algn="l" marL="228600" indent="-228600">
              <a:spcAft>
                <a:spcPts val="100"/>
              </a:spcAft>
              <a:buClr>
                <a:srgbClr val="2DA6A0"/>
              </a:buClr>
              <a:buFont typeface="Arial"/>
              <a:buChar char="•"/>
            </a:pPr>
            <a:r>
              <a:rPr sz="1200" b="0">
                <a:solidFill>
                  <a:srgbClr val="394252"/>
                </a:solidFill>
                <a:latin typeface="Aptos"/>
              </a:rPr>
              <a:t>Structured review records</a:t>
            </a:r>
          </a:p>
          <a:p>
            <a:pPr algn="l" marL="228600" indent="-228600">
              <a:spcAft>
                <a:spcPts val="100"/>
              </a:spcAft>
              <a:buClr>
                <a:srgbClr val="2DA6A0"/>
              </a:buClr>
              <a:buFont typeface="Arial"/>
              <a:buChar char="•"/>
            </a:pPr>
            <a:r>
              <a:rPr sz="1200" b="0">
                <a:solidFill>
                  <a:srgbClr val="394252"/>
                </a:solidFill>
                <a:latin typeface="Aptos"/>
              </a:rPr>
              <a:t>Better awareness of uncertainty</a:t>
            </a:r>
          </a:p>
        </p:txBody>
      </p:sp>
      <p:sp>
        <p:nvSpPr>
          <p:cNvPr id="20" name="TextBox 19"/>
          <p:cNvSpPr txBox="1"/>
          <p:nvPr/>
        </p:nvSpPr>
        <p:spPr>
          <a:xfrm>
            <a:off x="731520" y="3977639"/>
            <a:ext cx="10698480" cy="320040"/>
          </a:xfrm>
          <a:prstGeom prst="rect">
            <a:avLst/>
          </a:prstGeom>
          <a:noFill/>
        </p:spPr>
        <p:txBody>
          <a:bodyPr wrap="square" anchor="t">
            <a:spAutoFit/>
          </a:bodyPr>
          <a:lstStyle/>
          <a:p>
            <a:pPr algn="l"/>
            <a:r>
              <a:rPr sz="1500" b="1">
                <a:solidFill>
                  <a:srgbClr val="162239"/>
                </a:solidFill>
                <a:latin typeface="Aptos"/>
              </a:rPr>
              <a:t>FUTURE ROADMAP</a:t>
            </a:r>
          </a:p>
        </p:txBody>
      </p:sp>
      <p:sp>
        <p:nvSpPr>
          <p:cNvPr id="21" name="Rectangle 20"/>
          <p:cNvSpPr/>
          <p:nvPr/>
        </p:nvSpPr>
        <p:spPr>
          <a:xfrm>
            <a:off x="914400" y="4572000"/>
            <a:ext cx="8961120" cy="45720"/>
          </a:xfrm>
          <a:prstGeom prst="rect">
            <a:avLst/>
          </a:prstGeom>
          <a:solidFill>
            <a:srgbClr val="DEE3ED"/>
          </a:solidFill>
          <a:ln>
            <a:solidFill>
              <a:srgbClr val="DE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60120" y="4398264"/>
            <a:ext cx="384048" cy="384048"/>
          </a:xfrm>
          <a:prstGeom prst="ellipse">
            <a:avLst/>
          </a:prstGeom>
          <a:solidFill>
            <a:srgbClr val="5369DC"/>
          </a:solidFill>
          <a:ln>
            <a:solidFill>
              <a:srgbClr val="536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873752"/>
            <a:ext cx="2423160" cy="594360"/>
          </a:xfrm>
          <a:prstGeom prst="rect">
            <a:avLst/>
          </a:prstGeom>
          <a:noFill/>
        </p:spPr>
        <p:txBody>
          <a:bodyPr wrap="square" anchor="t">
            <a:spAutoFit/>
          </a:bodyPr>
          <a:lstStyle/>
          <a:p>
            <a:pPr algn="l"/>
            <a:r>
              <a:rPr sz="1100" b="1">
                <a:solidFill>
                  <a:srgbClr val="394252"/>
                </a:solidFill>
                <a:latin typeface="Aptos"/>
              </a:rPr>
              <a:t>01  Prototype (now)</a:t>
            </a:r>
          </a:p>
          <a:p>
            <a:pPr algn="l"/>
            <a:r>
              <a:rPr sz="1050" b="0">
                <a:solidFill>
                  <a:srgbClr val="394252"/>
                </a:solidFill>
                <a:latin typeface="Aptos"/>
              </a:rPr>
              <a:t>Synthetic records: ingestion, evidence, review</a:t>
            </a:r>
          </a:p>
        </p:txBody>
      </p:sp>
      <p:sp>
        <p:nvSpPr>
          <p:cNvPr id="24" name="Oval 23"/>
          <p:cNvSpPr/>
          <p:nvPr/>
        </p:nvSpPr>
        <p:spPr>
          <a:xfrm>
            <a:off x="3566160" y="4398264"/>
            <a:ext cx="384048" cy="384048"/>
          </a:xfrm>
          <a:prstGeom prst="ellipse">
            <a:avLst/>
          </a:prstGeom>
          <a:solidFill>
            <a:srgbClr val="2DA6A0"/>
          </a:solidFill>
          <a:ln>
            <a:solidFill>
              <a:srgbClr val="2DA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20440" y="4873752"/>
            <a:ext cx="2423160" cy="594360"/>
          </a:xfrm>
          <a:prstGeom prst="rect">
            <a:avLst/>
          </a:prstGeom>
          <a:noFill/>
        </p:spPr>
        <p:txBody>
          <a:bodyPr wrap="square" anchor="t">
            <a:spAutoFit/>
          </a:bodyPr>
          <a:lstStyle/>
          <a:p>
            <a:pPr algn="l"/>
            <a:r>
              <a:rPr sz="1100" b="1">
                <a:solidFill>
                  <a:srgbClr val="394252"/>
                </a:solidFill>
                <a:latin typeface="Aptos"/>
              </a:rPr>
              <a:t>02  Pilot testing</a:t>
            </a:r>
          </a:p>
          <a:p>
            <a:pPr algn="l"/>
            <a:r>
              <a:rPr sz="1050" b="0">
                <a:solidFill>
                  <a:srgbClr val="394252"/>
                </a:solidFill>
                <a:latin typeface="Aptos"/>
              </a:rPr>
              <a:t>Measure extraction, accuracy and usability</a:t>
            </a:r>
          </a:p>
        </p:txBody>
      </p:sp>
      <p:sp>
        <p:nvSpPr>
          <p:cNvPr id="26" name="Oval 25"/>
          <p:cNvSpPr/>
          <p:nvPr/>
        </p:nvSpPr>
        <p:spPr>
          <a:xfrm>
            <a:off x="6172200" y="4398264"/>
            <a:ext cx="384048" cy="384048"/>
          </a:xfrm>
          <a:prstGeom prst="ellipse">
            <a:avLst/>
          </a:prstGeom>
          <a:solidFill>
            <a:srgbClr val="5369DC"/>
          </a:solidFill>
          <a:ln>
            <a:solidFill>
              <a:srgbClr val="536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4873752"/>
            <a:ext cx="2423160" cy="594360"/>
          </a:xfrm>
          <a:prstGeom prst="rect">
            <a:avLst/>
          </a:prstGeom>
          <a:noFill/>
        </p:spPr>
        <p:txBody>
          <a:bodyPr wrap="square" anchor="t">
            <a:spAutoFit/>
          </a:bodyPr>
          <a:lstStyle/>
          <a:p>
            <a:pPr algn="l"/>
            <a:r>
              <a:rPr sz="1100" b="1">
                <a:solidFill>
                  <a:srgbClr val="394252"/>
                </a:solidFill>
                <a:latin typeface="Aptos"/>
              </a:rPr>
              <a:t>03  Improve</a:t>
            </a:r>
          </a:p>
          <a:p>
            <a:pPr algn="l"/>
            <a:r>
              <a:rPr sz="1050" b="0">
                <a:solidFill>
                  <a:srgbClr val="394252"/>
                </a:solidFill>
                <a:latin typeface="Aptos"/>
              </a:rPr>
              <a:t>OCR, context, evidence checks, security</a:t>
            </a:r>
          </a:p>
        </p:txBody>
      </p:sp>
      <p:sp>
        <p:nvSpPr>
          <p:cNvPr id="28" name="Oval 27"/>
          <p:cNvSpPr/>
          <p:nvPr/>
        </p:nvSpPr>
        <p:spPr>
          <a:xfrm>
            <a:off x="8778240" y="4398264"/>
            <a:ext cx="384048" cy="384048"/>
          </a:xfrm>
          <a:prstGeom prst="ellipse">
            <a:avLst/>
          </a:prstGeom>
          <a:solidFill>
            <a:srgbClr val="2DA6A0"/>
          </a:solidFill>
          <a:ln>
            <a:solidFill>
              <a:srgbClr val="2DA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32520" y="4873752"/>
            <a:ext cx="2423160" cy="594360"/>
          </a:xfrm>
          <a:prstGeom prst="rect">
            <a:avLst/>
          </a:prstGeom>
          <a:noFill/>
        </p:spPr>
        <p:txBody>
          <a:bodyPr wrap="square" anchor="t">
            <a:spAutoFit/>
          </a:bodyPr>
          <a:lstStyle/>
          <a:p>
            <a:pPr algn="l"/>
            <a:r>
              <a:rPr sz="1100" b="1">
                <a:solidFill>
                  <a:srgbClr val="394252"/>
                </a:solidFill>
                <a:latin typeface="Aptos"/>
              </a:rPr>
              <a:t>04  Deploy &amp; scale</a:t>
            </a:r>
          </a:p>
          <a:p>
            <a:pPr algn="l"/>
            <a:r>
              <a:rPr sz="1050" b="0">
                <a:solidFill>
                  <a:srgbClr val="394252"/>
                </a:solidFill>
                <a:latin typeface="Aptos"/>
              </a:rPr>
              <a:t>Only after accuracy, privacy and approvals</a:t>
            </a:r>
          </a:p>
        </p:txBody>
      </p:sp>
      <p:sp>
        <p:nvSpPr>
          <p:cNvPr id="30" name="TextBox 29"/>
          <p:cNvSpPr txBox="1"/>
          <p:nvPr/>
        </p:nvSpPr>
        <p:spPr>
          <a:xfrm>
            <a:off x="777240" y="5577840"/>
            <a:ext cx="10698480" cy="685800"/>
          </a:xfrm>
          <a:prstGeom prst="rect">
            <a:avLst/>
          </a:prstGeom>
          <a:noFill/>
        </p:spPr>
        <p:txBody>
          <a:bodyPr wrap="square" anchor="t">
            <a:spAutoFit/>
          </a:bodyPr>
          <a:lstStyle/>
          <a:p>
            <a:pPr algn="l"/>
            <a:r>
              <a:rPr sz="1200" b="1">
                <a:solidFill>
                  <a:srgbClr val="5369DC"/>
                </a:solidFill>
                <a:latin typeface="Aptos"/>
              </a:rPr>
              <a:t>SUCCESS METRICS (to be measured):  </a:t>
            </a:r>
            <a:r>
              <a:rPr sz="1200" b="0">
                <a:solidFill>
                  <a:srgbClr val="162239"/>
                </a:solidFill>
                <a:latin typeface="Aptos"/>
              </a:rPr>
              <a:t>detection precision &amp; recall on a labelled set  •  % of findings with verifiable evidence  •  false-positive rate  •  reviewer agreement  •  median time per finding  •  extraction success rate</a:t>
            </a:r>
          </a:p>
        </p:txBody>
      </p:sp>
      <p:sp>
        <p:nvSpPr>
          <p:cNvPr id="31" name="TextBox 30"/>
          <p:cNvSpPr txBox="1"/>
          <p:nvPr/>
        </p:nvSpPr>
        <p:spPr>
          <a:xfrm>
            <a:off x="621792" y="6510528"/>
            <a:ext cx="5029200" cy="164592"/>
          </a:xfrm>
          <a:prstGeom prst="rect">
            <a:avLst/>
          </a:prstGeom>
          <a:noFill/>
        </p:spPr>
        <p:txBody>
          <a:bodyPr wrap="square" anchor="t">
            <a:spAutoFit/>
          </a:bodyPr>
          <a:lstStyle/>
          <a:p>
            <a:pPr algn="l"/>
            <a:r>
              <a:rPr sz="800" b="1">
                <a:solidFill>
                  <a:srgbClr val="767F90"/>
                </a:solidFill>
                <a:latin typeface="Aptos"/>
              </a:rPr>
              <a:t>CODE FLAYER 2.0  •  CLINISCOPE  •  PS-11R3</a:t>
            </a:r>
          </a:p>
        </p:txBody>
      </p:sp>
      <p:sp>
        <p:nvSpPr>
          <p:cNvPr id="32" name="TextBox 31"/>
          <p:cNvSpPr txBox="1"/>
          <p:nvPr/>
        </p:nvSpPr>
        <p:spPr>
          <a:xfrm>
            <a:off x="10744200" y="6473952"/>
            <a:ext cx="822960" cy="201168"/>
          </a:xfrm>
          <a:prstGeom prst="rect">
            <a:avLst/>
          </a:prstGeom>
          <a:noFill/>
        </p:spPr>
        <p:txBody>
          <a:bodyPr wrap="square" anchor="t">
            <a:spAutoFit/>
          </a:bodyPr>
          <a:lstStyle/>
          <a:p>
            <a:pPr algn="r"/>
            <a:r>
              <a:rPr sz="900" b="1">
                <a:solidFill>
                  <a:srgbClr val="767F90"/>
                </a:solidFill>
                <a:latin typeface="Aptos"/>
              </a:rPr>
              <a:t>07 / 08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62239"/>
        </a:solidFill>
        <a:effectLst/>
      </p:bgPr>
    </p:bg>
    <p:spTree>
      <p:nvGrpSpPr>
        <p:cNvPr id="1" name=""/>
        <p:cNvGrpSpPr/>
        <p:nvPr/>
      </p:nvGrpSpPr>
      <p:grpSpPr/>
      <p:sp>
        <p:nvSpPr>
          <p:cNvPr id="2" name="Rectangle 1"/>
          <p:cNvSpPr/>
          <p:nvPr/>
        </p:nvSpPr>
        <p:spPr>
          <a:xfrm>
            <a:off x="8823960" y="0"/>
            <a:ext cx="3367735" cy="6858000"/>
          </a:xfrm>
          <a:prstGeom prst="rect">
            <a:avLst/>
          </a:prstGeom>
          <a:solidFill>
            <a:srgbClr val="1C2C4B"/>
          </a:solidFill>
          <a:ln>
            <a:solidFill>
              <a:srgbClr val="1C2C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94360"/>
            <a:ext cx="2926080" cy="274320"/>
          </a:xfrm>
          <a:prstGeom prst="rect">
            <a:avLst/>
          </a:prstGeom>
          <a:noFill/>
        </p:spPr>
        <p:txBody>
          <a:bodyPr wrap="square" anchor="t">
            <a:spAutoFit/>
          </a:bodyPr>
          <a:lstStyle/>
          <a:p>
            <a:pPr algn="l"/>
            <a:r>
              <a:rPr sz="1000" b="1">
                <a:solidFill>
                  <a:srgbClr val="C0CAFF"/>
                </a:solidFill>
                <a:latin typeface="Aptos"/>
              </a:rPr>
              <a:t>CODE FLAYER 2.0  •  08 / 08</a:t>
            </a:r>
          </a:p>
        </p:txBody>
      </p:sp>
      <p:sp>
        <p:nvSpPr>
          <p:cNvPr id="4" name="TextBox 3"/>
          <p:cNvSpPr txBox="1"/>
          <p:nvPr/>
        </p:nvSpPr>
        <p:spPr>
          <a:xfrm>
            <a:off x="731520" y="1234440"/>
            <a:ext cx="7315200" cy="685800"/>
          </a:xfrm>
          <a:prstGeom prst="rect">
            <a:avLst/>
          </a:prstGeom>
          <a:noFill/>
        </p:spPr>
        <p:txBody>
          <a:bodyPr wrap="square" anchor="t">
            <a:spAutoFit/>
          </a:bodyPr>
          <a:lstStyle/>
          <a:p>
            <a:pPr algn="l"/>
            <a:r>
              <a:rPr sz="3400" b="1">
                <a:solidFill>
                  <a:srgbClr val="FFFFFF"/>
                </a:solidFill>
                <a:latin typeface="Aptos"/>
              </a:rPr>
              <a:t>Conclusion</a:t>
            </a:r>
          </a:p>
        </p:txBody>
      </p:sp>
      <p:sp>
        <p:nvSpPr>
          <p:cNvPr id="5" name="TextBox 4"/>
          <p:cNvSpPr txBox="1"/>
          <p:nvPr/>
        </p:nvSpPr>
        <p:spPr>
          <a:xfrm>
            <a:off x="777240" y="2057400"/>
            <a:ext cx="7589520" cy="1188720"/>
          </a:xfrm>
          <a:prstGeom prst="rect">
            <a:avLst/>
          </a:prstGeom>
          <a:noFill/>
        </p:spPr>
        <p:txBody>
          <a:bodyPr wrap="square" anchor="t">
            <a:spAutoFit/>
          </a:bodyPr>
          <a:lstStyle/>
          <a:p>
            <a:pPr algn="l"/>
            <a:r>
              <a:rPr sz="1800" b="0">
                <a:solidFill>
                  <a:srgbClr val="D0D7E7"/>
                </a:solidFill>
                <a:latin typeface="Aptos"/>
              </a:rPr>
              <a:t>CLINISCOPE helps reviewers identify potential inconsistencies across healthcare documents, trace every finding to verified source evidence, and record decisions with human oversight.</a:t>
            </a:r>
          </a:p>
        </p:txBody>
      </p:sp>
      <p:sp>
        <p:nvSpPr>
          <p:cNvPr id="6" name="Rectangle 5"/>
          <p:cNvSpPr/>
          <p:nvPr/>
        </p:nvSpPr>
        <p:spPr>
          <a:xfrm>
            <a:off x="777240" y="3429000"/>
            <a:ext cx="1097280" cy="64008"/>
          </a:xfrm>
          <a:prstGeom prst="rect">
            <a:avLst/>
          </a:prstGeom>
          <a:solidFill>
            <a:srgbClr val="2DA6A0"/>
          </a:solidFill>
          <a:ln>
            <a:solidFill>
              <a:srgbClr val="2DA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3794760"/>
            <a:ext cx="7589520" cy="594360"/>
          </a:xfrm>
          <a:prstGeom prst="rect">
            <a:avLst/>
          </a:prstGeom>
          <a:noFill/>
        </p:spPr>
        <p:txBody>
          <a:bodyPr wrap="square" anchor="t">
            <a:spAutoFit/>
          </a:bodyPr>
          <a:lstStyle/>
          <a:p>
            <a:pPr algn="l"/>
            <a:r>
              <a:rPr sz="1800" b="1">
                <a:solidFill>
                  <a:srgbClr val="FFFFFF"/>
                </a:solidFill>
                <a:latin typeface="Aptos"/>
              </a:rPr>
              <a:t>Find the conflict. Trace the evidence. Keep humans in control.</a:t>
            </a:r>
          </a:p>
        </p:txBody>
      </p:sp>
      <p:sp>
        <p:nvSpPr>
          <p:cNvPr id="8" name="TextBox 7"/>
          <p:cNvSpPr txBox="1"/>
          <p:nvPr/>
        </p:nvSpPr>
        <p:spPr>
          <a:xfrm>
            <a:off x="777240" y="4526280"/>
            <a:ext cx="6858000" cy="502920"/>
          </a:xfrm>
          <a:prstGeom prst="rect">
            <a:avLst/>
          </a:prstGeom>
          <a:noFill/>
        </p:spPr>
        <p:txBody>
          <a:bodyPr wrap="square" anchor="t">
            <a:spAutoFit/>
          </a:bodyPr>
          <a:lstStyle/>
          <a:p>
            <a:pPr algn="l"/>
            <a:r>
              <a:rPr sz="2400" b="1">
                <a:solidFill>
                  <a:srgbClr val="C0CAFF"/>
                </a:solidFill>
                <a:latin typeface="Aptos"/>
              </a:rPr>
              <a:t>THANK YOU</a:t>
            </a:r>
          </a:p>
        </p:txBody>
      </p:sp>
      <p:sp>
        <p:nvSpPr>
          <p:cNvPr id="9" name="TextBox 8"/>
          <p:cNvSpPr txBox="1"/>
          <p:nvPr/>
        </p:nvSpPr>
        <p:spPr>
          <a:xfrm>
            <a:off x="777240" y="5074920"/>
            <a:ext cx="7772400" cy="1097280"/>
          </a:xfrm>
          <a:prstGeom prst="rect">
            <a:avLst/>
          </a:prstGeom>
          <a:noFill/>
        </p:spPr>
        <p:txBody>
          <a:bodyPr wrap="square" anchor="t">
            <a:spAutoFit/>
          </a:bodyPr>
          <a:lstStyle/>
          <a:p>
            <a:pPr algn="l">
              <a:spcAft>
                <a:spcPts val="300"/>
              </a:spcAft>
            </a:pPr>
            <a:r>
              <a:rPr sz="1100" b="1">
                <a:solidFill>
                  <a:srgbClr val="C0CAFF"/>
                </a:solidFill>
                <a:latin typeface="Aptos"/>
              </a:rPr>
              <a:t>PS-11R3  </a:t>
            </a:r>
            <a:r>
              <a:rPr sz="1100" b="0">
                <a:solidFill>
                  <a:srgbClr val="DEE3ED"/>
                </a:solidFill>
                <a:latin typeface="Aptos"/>
              </a:rPr>
              <a:t>Healthcare Record Contradiction Detector</a:t>
            </a:r>
          </a:p>
          <a:p>
            <a:pPr algn="l">
              <a:spcAft>
                <a:spcPts val="300"/>
              </a:spcAft>
            </a:pPr>
            <a:r>
              <a:rPr sz="1100" b="1">
                <a:solidFill>
                  <a:srgbClr val="C0CAFF"/>
                </a:solidFill>
                <a:latin typeface="Aptos"/>
              </a:rPr>
              <a:t>Live demo:  </a:t>
            </a:r>
            <a:r>
              <a:rPr sz="1100" b="0">
                <a:solidFill>
                  <a:srgbClr val="DEE3ED"/>
                </a:solidFill>
                <a:latin typeface="Aptos"/>
                <a:hlinkClick r:id="rId2"/>
              </a:rPr>
              <a:t>anirudhleetcode-max.github.io/cliniscope-healthcare-contradiction-detector</a:t>
            </a:r>
          </a:p>
          <a:p>
            <a:pPr algn="l">
              <a:spcAft>
                <a:spcPts val="300"/>
              </a:spcAft>
            </a:pPr>
            <a:r>
              <a:rPr sz="1100" b="1">
                <a:solidFill>
                  <a:srgbClr val="C0CAFF"/>
                </a:solidFill>
                <a:latin typeface="Aptos"/>
              </a:rPr>
              <a:t>Code:  </a:t>
            </a:r>
            <a:r>
              <a:rPr sz="1100" b="0">
                <a:solidFill>
                  <a:srgbClr val="DEE3ED"/>
                </a:solidFill>
                <a:latin typeface="Aptos"/>
                <a:hlinkClick r:id="rId3"/>
              </a:rPr>
              <a:t>github.com/anirudhleetcode-max/cliniscope-healthcare-contradiction-detector</a:t>
            </a:r>
          </a:p>
          <a:p>
            <a:pPr algn="l">
              <a:spcAft>
                <a:spcPts val="300"/>
              </a:spcAft>
            </a:pPr>
            <a:r>
              <a:rPr sz="1100" b="1">
                <a:solidFill>
                  <a:srgbClr val="C0CAFF"/>
                </a:solidFill>
                <a:latin typeface="Aptos"/>
              </a:rPr>
              <a:t>Contact:  </a:t>
            </a:r>
            <a:r>
              <a:rPr sz="1100" b="0">
                <a:solidFill>
                  <a:srgbClr val="A0AECC"/>
                </a:solidFill>
                <a:latin typeface="Aptos"/>
              </a:rPr>
              <a:t>[Add team email]</a:t>
            </a:r>
          </a:p>
        </p:txBody>
      </p:sp>
      <p:sp>
        <p:nvSpPr>
          <p:cNvPr id="10" name="Rounded Rectangle 9"/>
          <p:cNvSpPr/>
          <p:nvPr/>
        </p:nvSpPr>
        <p:spPr>
          <a:xfrm>
            <a:off x="9464040" y="914400"/>
            <a:ext cx="1600200" cy="1600200"/>
          </a:xfrm>
          <a:prstGeom prst="roundRect">
            <a:avLst>
              <a:gd name="adj" fmla="val 12000"/>
            </a:avLst>
          </a:prstGeom>
          <a:solidFill>
            <a:srgbClr val="5369DC"/>
          </a:solidFill>
          <a:ln>
            <a:solidFill>
              <a:srgbClr val="536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195560" y="2743200"/>
            <a:ext cx="1005840" cy="1005840"/>
          </a:xfrm>
          <a:prstGeom prst="roundRect">
            <a:avLst>
              <a:gd name="adj" fmla="val 12000"/>
            </a:avLst>
          </a:prstGeom>
          <a:solidFill>
            <a:srgbClr val="2DA6A0"/>
          </a:solidFill>
          <a:ln>
            <a:solidFill>
              <a:srgbClr val="2DA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0" y="6263640"/>
            <a:ext cx="2926080" cy="274320"/>
          </a:xfrm>
          <a:prstGeom prst="rect">
            <a:avLst/>
          </a:prstGeom>
          <a:noFill/>
        </p:spPr>
        <p:txBody>
          <a:bodyPr wrap="square" anchor="t">
            <a:spAutoFit/>
          </a:bodyPr>
          <a:lstStyle/>
          <a:p>
            <a:pPr algn="r"/>
            <a:r>
              <a:rPr sz="1100" b="1">
                <a:solidFill>
                  <a:srgbClr val="D0D7E7"/>
                </a:solidFill>
                <a:latin typeface="Aptos"/>
              </a:rPr>
              <a:t>CLINISCOPE</a:t>
            </a:r>
          </a:p>
        </p:txBody>
      </p:sp>
      <p:pic>
        <p:nvPicPr>
          <p:cNvPr id="13" name="QR Live Demo" descr="QR code linking to the CLINISCOPE live demo: https://anirudhleetcode-max.github.io/cliniscope-healthcare-contradiction-detector/"/>
          <p:cNvPicPr>
            <a:picLocks noChangeAspect="1"/>
          </p:cNvPicPr>
          <p:nvPr/>
        </p:nvPicPr>
        <p:blipFill>
          <a:blip r:embed="rId4"/>
          <a:stretch>
            <a:fillRect/>
          </a:stretch>
        </p:blipFill>
        <p:spPr>
          <a:xfrm>
            <a:off x="10378440" y="4389120"/>
            <a:ext cx="1371600" cy="1371600"/>
          </a:xfrm>
          <a:prstGeom prst="rect">
            <a:avLst/>
          </a:prstGeom>
        </p:spPr>
      </p:pic>
      <p:sp>
        <p:nvSpPr>
          <p:cNvPr id="14" name="QR Caption"/>
          <p:cNvSpPr txBox="1"/>
          <p:nvPr/>
        </p:nvSpPr>
        <p:spPr>
          <a:xfrm>
            <a:off x="9052560" y="5870448"/>
            <a:ext cx="2926080" cy="228600"/>
          </a:xfrm>
          <a:prstGeom prst="rect">
            <a:avLst/>
          </a:prstGeom>
          <a:noFill/>
        </p:spPr>
        <p:txBody>
          <a:bodyPr wrap="square" anchor="t">
            <a:spAutoFit/>
          </a:bodyPr>
          <a:lstStyle/>
          <a:p>
            <a:pPr algn="r"/>
            <a:r>
              <a:rPr sz="900" b="1">
                <a:solidFill>
                  <a:srgbClr val="C0CAFF"/>
                </a:solidFill>
                <a:latin typeface="Aptos"/>
              </a:rPr>
              <a:t>SCAN FOR LIVE DEMO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C0CAFF"/>
      </a:hlink>
      <a:folHlink>
        <a:srgbClr val="A0AEC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