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23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732520" y="0"/>
            <a:ext cx="3456432" cy="6858000"/>
          </a:xfrm>
          <a:prstGeom prst="rect">
            <a:avLst/>
          </a:prstGeom>
          <a:solidFill>
            <a:srgbClr val="1C2C4B"/>
          </a:solidFill>
          <a:ln>
            <a:solidFill>
              <a:srgbClr val="1C2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464040" y="1051560"/>
            <a:ext cx="1737360" cy="1737360"/>
          </a:xfrm>
          <a:prstGeom prst="roundRect">
            <a:avLst>
              <a:gd name="adj" fmla="val 12000"/>
            </a:avLst>
          </a:prstGeom>
          <a:solidFill>
            <a:srgbClr val="5369DC"/>
          </a:solidFill>
          <a:ln>
            <a:solidFill>
              <a:srgbClr val="53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195560" y="2880360"/>
            <a:ext cx="1097280" cy="1097280"/>
          </a:xfrm>
          <a:prstGeom prst="roundRect">
            <a:avLst>
              <a:gd name="adj" fmla="val 12000"/>
            </a:avLst>
          </a:prstGeom>
          <a:solidFill>
            <a:srgbClr val="2DA6A0"/>
          </a:solidFill>
          <a:ln>
            <a:solidFill>
              <a:srgbClr val="2DA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052560" y="4251960"/>
            <a:ext cx="1828800" cy="109728"/>
          </a:xfrm>
          <a:prstGeom prst="rect">
            <a:avLst/>
          </a:prstGeom>
          <a:solidFill>
            <a:srgbClr val="C0CAFF"/>
          </a:solidFill>
          <a:ln>
            <a:solidFill>
              <a:srgbClr val="C0C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C0CAFF"/>
                </a:solidFill>
                <a:latin typeface="Aptos"/>
              </a:rPr>
              <a:t>CODE FLAYER 2.0  •  PROJECT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7498079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CLINISCOPE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697480"/>
            <a:ext cx="7132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0D7E7"/>
                </a:solidFill>
                <a:latin typeface="Aptos"/>
              </a:rPr>
              <a:t>Healthcare Record Contradiction Detector</a:t>
            </a:r>
          </a:p>
          <a:p>
            <a:pPr algn="l"/>
            <a:r>
              <a:rPr sz="1800" b="0">
                <a:solidFill>
                  <a:srgbClr val="D0D7E7"/>
                </a:solidFill>
                <a:latin typeface="Aptos"/>
              </a:rPr>
              <a:t>Find the conflict. Trace the evidence. Keep humans in control.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520440"/>
            <a:ext cx="1051560" cy="64008"/>
          </a:xfrm>
          <a:prstGeom prst="rect">
            <a:avLst/>
          </a:prstGeom>
          <a:solidFill>
            <a:srgbClr val="2DA6A0"/>
          </a:solidFill>
          <a:ln>
            <a:solidFill>
              <a:srgbClr val="2DA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86200"/>
            <a:ext cx="69494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TEAM  [Add official team name]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89120"/>
            <a:ext cx="7132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0D7E7"/>
                </a:solidFill>
                <a:latin typeface="Aptos"/>
              </a:rPr>
              <a:t>Team leader: [Add team leader]</a:t>
            </a:r>
          </a:p>
          <a:p>
            <a:pPr algn="l"/>
            <a:r>
              <a:rPr sz="1300" b="0">
                <a:solidFill>
                  <a:srgbClr val="D0D7E7"/>
                </a:solidFill>
                <a:latin typeface="Aptos"/>
              </a:rPr>
              <a:t>Team members: [Add member names]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080760"/>
            <a:ext cx="685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0AECC"/>
                </a:solidFill>
                <a:latin typeface="Aptos"/>
              </a:rPr>
              <a:t>Healthcare  •  PS-11R3     |     Vishnu Institute of Technology, Bhimavaram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6144768"/>
            <a:ext cx="2560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D0D7E7"/>
                </a:solidFill>
                <a:latin typeface="Aptos"/>
              </a:rPr>
              <a:t>01  /  INTRODUCTION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5369DC"/>
                </a:solidFill>
                <a:latin typeface="Aptos"/>
              </a:rPr>
              <a:t>PROJECT PITCH  / 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62239"/>
                </a:solidFill>
                <a:latin typeface="Aptos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67F90"/>
                </a:solidFill>
                <a:latin typeface="Aptos"/>
              </a:rPr>
              <a:t>PS-11R3: Healthcare Record Contradiction Detector. The framing below is the team's interpretation.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35640" y="384048"/>
            <a:ext cx="320040" cy="73152"/>
          </a:xfrm>
          <a:prstGeom prst="rect">
            <a:avLst/>
          </a:prstGeom>
          <a:solidFill>
            <a:srgbClr val="5369DC"/>
          </a:solidFill>
          <a:ln>
            <a:solidFill>
              <a:srgbClr val="53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28832" y="384048"/>
            <a:ext cx="320040" cy="73152"/>
          </a:xfrm>
          <a:prstGeom prst="rect">
            <a:avLst/>
          </a:prstGeom>
          <a:solidFill>
            <a:srgbClr val="2DA6A0"/>
          </a:solidFill>
          <a:ln>
            <a:solidFill>
              <a:srgbClr val="2DA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22024" y="384048"/>
            <a:ext cx="0" cy="73152"/>
          </a:xfrm>
          <a:prstGeom prst="rect">
            <a:avLst/>
          </a:prstGeom>
          <a:solidFill>
            <a:srgbClr val="162239"/>
          </a:solidFill>
          <a:ln>
            <a:solidFill>
              <a:srgbClr val="1622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534924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64008" cy="1508760"/>
          </a:xfrm>
          <a:prstGeom prst="rect">
            <a:avLst/>
          </a:prstGeom>
          <a:solidFill>
            <a:srgbClr val="5369DC"/>
          </a:solidFill>
          <a:ln>
            <a:solidFill>
              <a:srgbClr val="53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57400"/>
            <a:ext cx="493775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62239"/>
                </a:solidFill>
                <a:latin typeface="Aptos"/>
              </a:rPr>
              <a:t>01  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496312"/>
            <a:ext cx="4937759" cy="7589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94252"/>
                </a:solidFill>
                <a:latin typeface="Aptos"/>
              </a:rPr>
              <a:t>Patient information is spread across many documents. Allergies, doses, diagnoses and lab results can differ, and spotting that by hand is slow.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0352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874519"/>
            <a:ext cx="64008" cy="1508760"/>
          </a:xfrm>
          <a:prstGeom prst="rect">
            <a:avLst/>
          </a:prstGeom>
          <a:solidFill>
            <a:srgbClr val="2DA6A0"/>
          </a:solidFill>
          <a:ln>
            <a:solidFill>
              <a:srgbClr val="2DA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376" y="2057400"/>
            <a:ext cx="4892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62239"/>
                </a:solidFill>
                <a:latin typeface="Aptos"/>
              </a:rPr>
              <a:t>02  TARGET USERS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496312"/>
            <a:ext cx="4892040" cy="7589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94252"/>
                </a:solidFill>
                <a:latin typeface="Aptos"/>
              </a:rPr>
              <a:t>Intended users: clinicians reviewing records, medical-records (HIM) teams, clinical quality and patient-safety reviewers, and authorized staff reconciling records.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611880"/>
            <a:ext cx="534924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611880"/>
            <a:ext cx="64008" cy="1508760"/>
          </a:xfrm>
          <a:prstGeom prst="rect">
            <a:avLst/>
          </a:prstGeom>
          <a:solidFill>
            <a:srgbClr val="2DA6A0"/>
          </a:solidFill>
          <a:ln>
            <a:solidFill>
              <a:srgbClr val="2DA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3794760"/>
            <a:ext cx="493775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62239"/>
                </a:solidFill>
                <a:latin typeface="Aptos"/>
              </a:rPr>
              <a:t>03  CURRENT CHALLENGES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4233672"/>
            <a:ext cx="4937759" cy="7589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94252"/>
                </a:solidFill>
                <a:latin typeface="Aptos"/>
              </a:rPr>
              <a:t>• Fragmented: statements sit in separate files</a:t>
            </a:r>
          </a:p>
          <a:p>
            <a:pPr algn="l"/>
            <a:r>
              <a:rPr sz="1400" b="0">
                <a:solidFill>
                  <a:srgbClr val="394252"/>
                </a:solidFill>
                <a:latin typeface="Aptos"/>
              </a:rPr>
              <a:t>• Context: dates, negation, dose changes</a:t>
            </a:r>
          </a:p>
          <a:p>
            <a:pPr algn="l"/>
            <a:r>
              <a:rPr sz="1400" b="0">
                <a:solidFill>
                  <a:srgbClr val="394252"/>
                </a:solidFill>
                <a:latin typeface="Aptos"/>
              </a:rPr>
              <a:t>• Traceability: each conflict needs its source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611880"/>
            <a:ext cx="530352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611880"/>
            <a:ext cx="64008" cy="1508760"/>
          </a:xfrm>
          <a:prstGeom prst="rect">
            <a:avLst/>
          </a:prstGeom>
          <a:solidFill>
            <a:srgbClr val="5369DC"/>
          </a:solidFill>
          <a:ln>
            <a:solidFill>
              <a:srgbClr val="53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37376" y="3794760"/>
            <a:ext cx="4892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62239"/>
                </a:solidFill>
                <a:latin typeface="Aptos"/>
              </a:rPr>
              <a:t>04  THE GAP / IMPACT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7376" y="4233672"/>
            <a:ext cx="4892040" cy="7589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94252"/>
                </a:solidFill>
                <a:latin typeface="Aptos"/>
              </a:rPr>
              <a:t>A warning is not enough. Reviewers need the original evidence, its context (dates, history) and a controlled way to record their decision.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577840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62239"/>
                </a:solidFill>
                <a:latin typeface="Aptos"/>
              </a:rPr>
              <a:t>ONE-LINE PROBLEM:  How can reviewers find and investigate conflicts across medical records with clear source evidence and human oversight?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6510528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767F90"/>
                </a:solidFill>
                <a:latin typeface="Aptos"/>
              </a:rPr>
              <a:t>CODE FLAYER 2.0  •  CLINISCOPE  •  PS-11R3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767F90"/>
                </a:solidFill>
                <a:latin typeface="Aptos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5369DC"/>
                </a:solidFill>
                <a:latin typeface="Aptos"/>
              </a:rPr>
              <a:t>PROJECT PITCH  / 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62239"/>
                </a:solidFill>
                <a:latin typeface="Aptos"/>
              </a:rPr>
              <a:t>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67F90"/>
                </a:solidFill>
                <a:latin typeface="Aptos"/>
              </a:rPr>
              <a:t>An evidence-first review prototype: documents in, traceable findings out, decisions made by people.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35640" y="384048"/>
            <a:ext cx="320040" cy="73152"/>
          </a:xfrm>
          <a:prstGeom prst="rect">
            <a:avLst/>
          </a:prstGeom>
          <a:solidFill>
            <a:srgbClr val="5369DC"/>
          </a:solidFill>
          <a:ln>
            <a:solidFill>
              <a:srgbClr val="53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28832" y="384048"/>
            <a:ext cx="320040" cy="73152"/>
          </a:xfrm>
          <a:prstGeom prst="rect">
            <a:avLst/>
          </a:prstGeom>
          <a:solidFill>
            <a:srgbClr val="2DA6A0"/>
          </a:solidFill>
          <a:ln>
            <a:solidFill>
              <a:srgbClr val="2DA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22024" y="384048"/>
            <a:ext cx="0" cy="73152"/>
          </a:xfrm>
          <a:prstGeom prst="rect">
            <a:avLst/>
          </a:prstGeom>
          <a:solidFill>
            <a:srgbClr val="162239"/>
          </a:solidFill>
          <a:ln>
            <a:solidFill>
              <a:srgbClr val="1622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6629400" cy="187451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64008" cy="1874519"/>
          </a:xfrm>
          <a:prstGeom prst="rect">
            <a:avLst/>
          </a:prstGeom>
          <a:solidFill>
            <a:srgbClr val="5369DC"/>
          </a:solidFill>
          <a:ln>
            <a:solidFill>
              <a:srgbClr val="53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57400"/>
            <a:ext cx="6217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62239"/>
                </a:solidFill>
                <a:latin typeface="Aptos"/>
              </a:rPr>
              <a:t>SOLUTION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496312"/>
            <a:ext cx="6217920" cy="1124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94252"/>
                </a:solidFill>
                <a:latin typeface="Aptos"/>
              </a:rPr>
              <a:t>CLINISCOPE extracts text from PDF, TXT and DOCX records, finds allergy, medication, diagnosis and lab statements with rules, compares them across a case and flags potential conflicts with verified source quotes for human review.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874519"/>
            <a:ext cx="4023360" cy="187451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1874519"/>
            <a:ext cx="64008" cy="1874519"/>
          </a:xfrm>
          <a:prstGeom prst="rect">
            <a:avLst/>
          </a:prstGeom>
          <a:solidFill>
            <a:srgbClr val="2DA6A0"/>
          </a:solidFill>
          <a:ln>
            <a:solidFill>
              <a:srgbClr val="2DA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17536" y="2057400"/>
            <a:ext cx="361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62239"/>
                </a:solidFill>
                <a:latin typeface="Aptos"/>
              </a:rPr>
              <a:t>UNIQUE VALUE / USP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17536" y="2496312"/>
            <a:ext cx="3611880" cy="1124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94252"/>
                </a:solidFill>
                <a:latin typeface="Aptos"/>
              </a:rPr>
              <a:t>Every finding is traceable to an exact source quote. Dated or documented changes are separated from true conflicts, and people make the final call.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77639"/>
            <a:ext cx="347472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977639"/>
            <a:ext cx="64008" cy="1417320"/>
          </a:xfrm>
          <a:prstGeom prst="rect">
            <a:avLst/>
          </a:prstGeom>
          <a:solidFill>
            <a:srgbClr val="2DA6A0"/>
          </a:solidFill>
          <a:ln>
            <a:solidFill>
              <a:srgbClr val="2DA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160520"/>
            <a:ext cx="30632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62239"/>
                </a:solidFill>
                <a:latin typeface="Aptos"/>
              </a:rPr>
              <a:t>01  DOCUMENT INGESTION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4599431"/>
            <a:ext cx="3063239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94252"/>
                </a:solidFill>
                <a:latin typeface="Aptos"/>
              </a:rPr>
              <a:t>PDF (text layer), TXT and DOCX are validated and extracted in the browser.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977639"/>
            <a:ext cx="347472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3977639"/>
            <a:ext cx="64008" cy="1417320"/>
          </a:xfrm>
          <a:prstGeom prst="rect">
            <a:avLst/>
          </a:prstGeom>
          <a:solidFill>
            <a:srgbClr val="5369DC"/>
          </a:solidFill>
          <a:ln>
            <a:solidFill>
              <a:srgbClr val="53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62856" y="4160520"/>
            <a:ext cx="30632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62239"/>
                </a:solidFill>
                <a:latin typeface="Aptos"/>
              </a:rPr>
              <a:t>02  EVIDENCE DETECTION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2856" y="4599431"/>
            <a:ext cx="3063239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94252"/>
                </a:solidFill>
                <a:latin typeface="Aptos"/>
              </a:rPr>
              <a:t>Rule-based comparison flags potential conflicts with source quotes.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3977639"/>
            <a:ext cx="347472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46720" y="3977639"/>
            <a:ext cx="64008" cy="1417320"/>
          </a:xfrm>
          <a:prstGeom prst="rect">
            <a:avLst/>
          </a:prstGeom>
          <a:solidFill>
            <a:srgbClr val="2DA6A0"/>
          </a:solidFill>
          <a:ln>
            <a:solidFill>
              <a:srgbClr val="2DA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66176" y="4160520"/>
            <a:ext cx="30632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62239"/>
                </a:solidFill>
                <a:latin typeface="Aptos"/>
              </a:rPr>
              <a:t>03  REVIEW &amp; AUDIT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6" y="4599431"/>
            <a:ext cx="3063239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94252"/>
                </a:solidFill>
                <a:latin typeface="Aptos"/>
              </a:rPr>
              <a:t>Decisions need a reason; every action is kept in an audit log.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68756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62239"/>
                </a:solidFill>
                <a:latin typeface="Aptos"/>
              </a:rPr>
              <a:t>EXPECTED BENEFIT:  Conflicts become easier to find and investigate, with evidence and human judgment kept.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" y="6510528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767F90"/>
                </a:solidFill>
                <a:latin typeface="Aptos"/>
              </a:rPr>
              <a:t>CODE FLAYER 2.0  •  CLINISCOPE  •  PS-11R3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767F90"/>
                </a:solidFill>
                <a:latin typeface="Aptos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5369DC"/>
                </a:solidFill>
                <a:latin typeface="Aptos"/>
              </a:rPr>
              <a:t>PROJECT PITCH  / 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62239"/>
                </a:solidFill>
                <a:latin typeface="Aptos"/>
              </a:rPr>
              <a:t>Technical Approach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67F90"/>
                </a:solidFill>
                <a:latin typeface="Aptos"/>
              </a:rPr>
              <a:t>Everything runs in the reviewer's browser: no backend server, no AI/LLM and no OCR in the current build.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35640" y="384048"/>
            <a:ext cx="320040" cy="73152"/>
          </a:xfrm>
          <a:prstGeom prst="rect">
            <a:avLst/>
          </a:prstGeom>
          <a:solidFill>
            <a:srgbClr val="5369DC"/>
          </a:solidFill>
          <a:ln>
            <a:solidFill>
              <a:srgbClr val="53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28832" y="384048"/>
            <a:ext cx="320040" cy="73152"/>
          </a:xfrm>
          <a:prstGeom prst="rect">
            <a:avLst/>
          </a:prstGeom>
          <a:solidFill>
            <a:srgbClr val="2DA6A0"/>
          </a:solidFill>
          <a:ln>
            <a:solidFill>
              <a:srgbClr val="2DA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22024" y="384048"/>
            <a:ext cx="0" cy="73152"/>
          </a:xfrm>
          <a:prstGeom prst="rect">
            <a:avLst/>
          </a:prstGeom>
          <a:solidFill>
            <a:srgbClr val="162239"/>
          </a:solidFill>
          <a:ln>
            <a:solidFill>
              <a:srgbClr val="1622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057400"/>
            <a:ext cx="164592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2267712"/>
            <a:ext cx="142646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5369DC"/>
                </a:solidFill>
                <a:latin typeface="Aptos"/>
              </a:rPr>
              <a:t>USER 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633472"/>
            <a:ext cx="1426464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394252"/>
                </a:solidFill>
                <a:latin typeface="Aptos"/>
              </a:rPr>
              <a:t>PDF · TXT · DOCX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4872" y="2359152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767F90"/>
                </a:solidFill>
                <a:latin typeface="Apto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71800" y="2057400"/>
            <a:ext cx="164592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81528" y="2267712"/>
            <a:ext cx="142646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2DA6A0"/>
                </a:solidFill>
                <a:latin typeface="Aptos"/>
              </a:rPr>
              <a:t>FRONTEND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81528" y="2633472"/>
            <a:ext cx="1426464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394252"/>
                </a:solidFill>
                <a:latin typeface="Aptos"/>
              </a:rPr>
              <a:t>React + TypeScript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2359152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767F90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2057400"/>
            <a:ext cx="164592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67528" y="2267712"/>
            <a:ext cx="142646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5369DC"/>
                </a:solidFill>
                <a:latin typeface="Aptos"/>
              </a:rPr>
              <a:t>CLIENT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67528" y="2633472"/>
            <a:ext cx="1426464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394252"/>
                </a:solidFill>
                <a:latin typeface="Aptos"/>
              </a:rPr>
              <a:t>IndexedDB (Dexie)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6872" y="2359152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767F90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43800" y="2057400"/>
            <a:ext cx="164592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53527" y="2267712"/>
            <a:ext cx="142646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2DA6A0"/>
                </a:solidFill>
                <a:latin typeface="Aptos"/>
              </a:rPr>
              <a:t>PROCESSING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53527" y="2633472"/>
            <a:ext cx="1426464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394252"/>
                </a:solidFill>
                <a:latin typeface="Aptos"/>
              </a:rPr>
              <a:t>Rule-based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2872" y="2359152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767F90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29800" y="2057400"/>
            <a:ext cx="164592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39528" y="2267712"/>
            <a:ext cx="142646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5369DC"/>
                </a:solidFill>
                <a:latin typeface="Aptos"/>
              </a:rPr>
              <a:t>OUTPUT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39528" y="2633472"/>
            <a:ext cx="1426464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394252"/>
                </a:solidFill>
                <a:latin typeface="Aptos"/>
              </a:rPr>
              <a:t>Evidence findings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703320"/>
            <a:ext cx="5349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5800" y="3703320"/>
            <a:ext cx="64008" cy="1463040"/>
          </a:xfrm>
          <a:prstGeom prst="rect">
            <a:avLst/>
          </a:prstGeom>
          <a:solidFill>
            <a:srgbClr val="5369DC"/>
          </a:solidFill>
          <a:ln>
            <a:solidFill>
              <a:srgbClr val="53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" y="3886200"/>
            <a:ext cx="493775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62239"/>
                </a:solidFill>
                <a:latin typeface="Aptos"/>
              </a:rPr>
              <a:t>SYSTEM COMPONENTS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" y="4325112"/>
            <a:ext cx="4937759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94252"/>
                </a:solidFill>
                <a:latin typeface="Aptos"/>
              </a:rPr>
              <a:t>Extraction (pdf.js, mammoth) → statement rules → contradiction detection → evidence check → review workflow, stored with Dexie.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03320"/>
            <a:ext cx="530352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0" y="3703320"/>
            <a:ext cx="64008" cy="1463040"/>
          </a:xfrm>
          <a:prstGeom prst="rect">
            <a:avLst/>
          </a:prstGeom>
          <a:solidFill>
            <a:srgbClr val="2DA6A0"/>
          </a:solidFill>
          <a:ln>
            <a:solidFill>
              <a:srgbClr val="2DA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37376" y="3886200"/>
            <a:ext cx="4892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62239"/>
                </a:solidFill>
                <a:latin typeface="Aptos"/>
              </a:rPr>
              <a:t>DATA FLOW &amp; VALIDATION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7376" y="4325112"/>
            <a:ext cx="48920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94252"/>
                </a:solidFill>
                <a:latin typeface="Aptos"/>
              </a:rPr>
              <a:t>Uploads are type- and size-checked. A finding is kept only if its quotes match the source text; dates can reclassify it.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532120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62239"/>
                </a:solidFill>
                <a:latin typeface="Aptos"/>
              </a:rPr>
              <a:t>ARCHITECTURE NOTE:  Extraction, detection and review are separate, unit-tested modules.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6510528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767F90"/>
                </a:solidFill>
                <a:latin typeface="Aptos"/>
              </a:rPr>
              <a:t>CODE FLAYER 2.0  •  CLINISCOPE  •  PS-11R3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767F90"/>
                </a:solidFill>
                <a:latin typeface="Aptos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5369DC"/>
                </a:solidFill>
                <a:latin typeface="Aptos"/>
              </a:rPr>
              <a:t>PROJECT PITCH  / 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62239"/>
                </a:solidFill>
                <a:latin typeface="Aptos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67F90"/>
                </a:solidFill>
                <a:latin typeface="Aptos"/>
              </a:rPr>
              <a:t>Technologies verified in package.json and the CI workflow, and the role each one plays.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35640" y="384048"/>
            <a:ext cx="320040" cy="73152"/>
          </a:xfrm>
          <a:prstGeom prst="rect">
            <a:avLst/>
          </a:prstGeom>
          <a:solidFill>
            <a:srgbClr val="5369DC"/>
          </a:solidFill>
          <a:ln>
            <a:solidFill>
              <a:srgbClr val="53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28832" y="384048"/>
            <a:ext cx="320040" cy="73152"/>
          </a:xfrm>
          <a:prstGeom prst="rect">
            <a:avLst/>
          </a:prstGeom>
          <a:solidFill>
            <a:srgbClr val="2DA6A0"/>
          </a:solidFill>
          <a:ln>
            <a:solidFill>
              <a:srgbClr val="2DA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22024" y="384048"/>
            <a:ext cx="0" cy="73152"/>
          </a:xfrm>
          <a:prstGeom prst="rect">
            <a:avLst/>
          </a:prstGeom>
          <a:solidFill>
            <a:srgbClr val="162239"/>
          </a:solidFill>
          <a:ln>
            <a:solidFill>
              <a:srgbClr val="1622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64008" cy="1371600"/>
          </a:xfrm>
          <a:prstGeom prst="rect">
            <a:avLst/>
          </a:prstGeom>
          <a:solidFill>
            <a:srgbClr val="5369DC"/>
          </a:solidFill>
          <a:ln>
            <a:solidFill>
              <a:srgbClr val="53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57400"/>
            <a:ext cx="30632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62239"/>
                </a:solidFill>
                <a:latin typeface="Aptos"/>
              </a:rPr>
              <a:t>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496312"/>
            <a:ext cx="3063239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94252"/>
                </a:solidFill>
                <a:latin typeface="Aptos"/>
              </a:rPr>
              <a:t>React 18, TypeScript, Vite and Tailwind CSS for the review UI.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874519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874519"/>
            <a:ext cx="64008" cy="1371600"/>
          </a:xfrm>
          <a:prstGeom prst="rect">
            <a:avLst/>
          </a:prstGeom>
          <a:solidFill>
            <a:srgbClr val="2DA6A0"/>
          </a:solidFill>
          <a:ln>
            <a:solidFill>
              <a:srgbClr val="2DA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2856" y="2057400"/>
            <a:ext cx="30632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62239"/>
                </a:solidFill>
                <a:latin typeface="Aptos"/>
              </a:rPr>
              <a:t>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2856" y="2496312"/>
            <a:ext cx="3063239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94252"/>
                </a:solidFill>
                <a:latin typeface="Aptos"/>
              </a:rPr>
              <a:t>None: a browser-side TypeScript service layer runs the workflow.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874519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874519"/>
            <a:ext cx="64008" cy="1371600"/>
          </a:xfrm>
          <a:prstGeom prst="rect">
            <a:avLst/>
          </a:prstGeom>
          <a:solidFill>
            <a:srgbClr val="5369DC"/>
          </a:solidFill>
          <a:ln>
            <a:solidFill>
              <a:srgbClr val="53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6176" y="2057400"/>
            <a:ext cx="30632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62239"/>
                </a:solidFill>
                <a:latin typeface="Aptos"/>
              </a:rPr>
              <a:t>DATABASE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6" y="2496312"/>
            <a:ext cx="3063239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94252"/>
                </a:solidFill>
                <a:latin typeface="Aptos"/>
              </a:rPr>
              <a:t>IndexedDB via Dexie: cases, files, findings and audit events.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3566160"/>
            <a:ext cx="64008" cy="1371600"/>
          </a:xfrm>
          <a:prstGeom prst="rect">
            <a:avLst/>
          </a:prstGeom>
          <a:solidFill>
            <a:srgbClr val="2DA6A0"/>
          </a:solidFill>
          <a:ln>
            <a:solidFill>
              <a:srgbClr val="2DA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749039"/>
            <a:ext cx="30632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62239"/>
                </a:solidFill>
                <a:latin typeface="Aptos"/>
              </a:rPr>
              <a:t>AI / CORE LOGIC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4187952"/>
            <a:ext cx="3063239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94252"/>
                </a:solidFill>
                <a:latin typeface="Aptos"/>
              </a:rPr>
              <a:t>No AI/LLM: deterministic TypeScript rules for detection.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3566160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3566160"/>
            <a:ext cx="64008" cy="1371600"/>
          </a:xfrm>
          <a:prstGeom prst="rect">
            <a:avLst/>
          </a:prstGeom>
          <a:solidFill>
            <a:srgbClr val="5369DC"/>
          </a:solidFill>
          <a:ln>
            <a:solidFill>
              <a:srgbClr val="53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62856" y="3749039"/>
            <a:ext cx="30632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62239"/>
                </a:solidFill>
                <a:latin typeface="Aptos"/>
              </a:rPr>
              <a:t>INTEGRATIONS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2856" y="4187952"/>
            <a:ext cx="3063239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94252"/>
                </a:solidFill>
                <a:latin typeface="Aptos"/>
              </a:rPr>
              <a:t>No external APIs. pdfjs-dist (PDF) and mammoth (DOCX) run locally.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566160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566160"/>
            <a:ext cx="64008" cy="1371600"/>
          </a:xfrm>
          <a:prstGeom prst="rect">
            <a:avLst/>
          </a:prstGeom>
          <a:solidFill>
            <a:srgbClr val="2DA6A0"/>
          </a:solidFill>
          <a:ln>
            <a:solidFill>
              <a:srgbClr val="2DA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66176" y="3749039"/>
            <a:ext cx="30632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62239"/>
                </a:solidFill>
                <a:latin typeface="Aptos"/>
              </a:rPr>
              <a:t>DEPLOYMENT &amp; TOOLS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6176" y="4187952"/>
            <a:ext cx="3063239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94252"/>
                </a:solidFill>
                <a:latin typeface="Aptos"/>
              </a:rPr>
              <a:t>Git, GitHub Actions (Vitest, Playwright) and GitHub Pages.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321808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62239"/>
                </a:solidFill>
                <a:latin typeface="Aptos"/>
              </a:rPr>
              <a:t>WHY THIS STACK?  A light, testable static web app: records are processed and stored in the browser, so no server is needed. OCR, AI or a backend would be added only when required.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" y="6510528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767F90"/>
                </a:solidFill>
                <a:latin typeface="Aptos"/>
              </a:rPr>
              <a:t>CODE FLAYER 2.0  •  CLINISCOPE  •  PS-11R3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767F90"/>
                </a:solidFill>
                <a:latin typeface="Aptos"/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5369DC"/>
                </a:solidFill>
                <a:latin typeface="Aptos"/>
              </a:rPr>
              <a:t>PROJECT PITCH  / 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62239"/>
                </a:solidFill>
                <a:latin typeface="Aptos"/>
              </a:rPr>
              <a:t>Feasibility &amp; Viability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67F90"/>
                </a:solidFill>
                <a:latin typeface="Aptos"/>
              </a:rPr>
              <a:t>A working, tested prototype today, with a staged and cautious path toward real-world use.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35640" y="384048"/>
            <a:ext cx="320040" cy="73152"/>
          </a:xfrm>
          <a:prstGeom prst="rect">
            <a:avLst/>
          </a:prstGeom>
          <a:solidFill>
            <a:srgbClr val="5369DC"/>
          </a:solidFill>
          <a:ln>
            <a:solidFill>
              <a:srgbClr val="53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28832" y="384048"/>
            <a:ext cx="320040" cy="73152"/>
          </a:xfrm>
          <a:prstGeom prst="rect">
            <a:avLst/>
          </a:prstGeom>
          <a:solidFill>
            <a:srgbClr val="2DA6A0"/>
          </a:solidFill>
          <a:ln>
            <a:solidFill>
              <a:srgbClr val="2DA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22024" y="384048"/>
            <a:ext cx="0" cy="73152"/>
          </a:xfrm>
          <a:prstGeom prst="rect">
            <a:avLst/>
          </a:prstGeom>
          <a:solidFill>
            <a:srgbClr val="162239"/>
          </a:solidFill>
          <a:ln>
            <a:solidFill>
              <a:srgbClr val="1622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5349240" cy="3429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874519"/>
            <a:ext cx="5303520" cy="3429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874519"/>
            <a:ext cx="5349240" cy="502920"/>
          </a:xfrm>
          <a:prstGeom prst="roundRect">
            <a:avLst>
              <a:gd name="adj" fmla="val 12000"/>
            </a:avLst>
          </a:prstGeom>
          <a:solidFill>
            <a:srgbClr val="5369DC"/>
          </a:solidFill>
          <a:ln>
            <a:solidFill>
              <a:srgbClr val="53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874519"/>
            <a:ext cx="5303520" cy="502920"/>
          </a:xfrm>
          <a:prstGeom prst="roundRect">
            <a:avLst>
              <a:gd name="adj" fmla="val 12000"/>
            </a:avLst>
          </a:prstGeom>
          <a:solidFill>
            <a:srgbClr val="2DA6A0"/>
          </a:solidFill>
          <a:ln>
            <a:solidFill>
              <a:srgbClr val="2DA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975104"/>
            <a:ext cx="4754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TECHNICAL FEASIBILITY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975104"/>
            <a:ext cx="4754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BUSINESS / OPERATIONAL VIABILITY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33472"/>
            <a:ext cx="47548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94252"/>
                </a:solidFill>
                <a:latin typeface="Aptos"/>
              </a:rPr>
              <a:t>• Required tools and skills: React, TypeScript, rule design, pdf.js, mammoth, Vitest, Playwright.</a:t>
            </a:r>
          </a:p>
          <a:p>
            <a:pPr algn="l"/>
            <a:r>
              <a:rPr sz="1400" b="0">
                <a:solidFill>
                  <a:srgbClr val="394252"/>
                </a:solidFill>
                <a:latin typeface="Aptos"/>
              </a:rPr>
              <a:t/>
            </a:r>
          </a:p>
          <a:p>
            <a:pPr algn="l"/>
            <a:r>
              <a:rPr sz="1400" b="0">
                <a:solidFill>
                  <a:srgbClr val="394252"/>
                </a:solidFill>
                <a:latin typeface="Aptos"/>
              </a:rPr>
              <a:t>• Data / infrastructure: synthetic records and browser storage only; no real patient data.</a:t>
            </a:r>
          </a:p>
          <a:p>
            <a:pPr algn="l"/>
            <a:r>
              <a:rPr sz="1400" b="0">
                <a:solidFill>
                  <a:srgbClr val="394252"/>
                </a:solidFill>
                <a:latin typeface="Aptos"/>
              </a:rPr>
              <a:t/>
            </a:r>
          </a:p>
          <a:p>
            <a:pPr algn="l"/>
            <a:r>
              <a:rPr sz="1400" b="0">
                <a:solidFill>
                  <a:srgbClr val="394252"/>
                </a:solidFill>
                <a:latin typeface="Aptos"/>
              </a:rPr>
              <a:t>• Prototype status: deployed; 34 unit and 8 end-to-end tests pass. No OCR or login yet.</a:t>
            </a:r>
          </a:p>
          <a:p>
            <a:pPr algn="l"/>
            <a:r>
              <a:rPr sz="1400" b="0">
                <a:solidFill>
                  <a:srgbClr val="394252"/>
                </a:solidFill>
                <a:latin typeface="Aptos"/>
              </a:rPr>
              <a:t/>
            </a:r>
          </a:p>
          <a:p>
            <a:pPr algn="l"/>
            <a:r>
              <a:rPr sz="1400" b="0">
                <a:solidFill>
                  <a:srgbClr val="394252"/>
                </a:solidFill>
                <a:latin typeface="Aptos"/>
              </a:rPr>
              <a:t>• Risk + mitigation: false positives → verified quotes, uncertainty labels, human review.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33472"/>
            <a:ext cx="46634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94252"/>
                </a:solidFill>
                <a:latin typeface="Aptos"/>
              </a:rPr>
              <a:t>• Target users and value: authorized reviewers who need evidence, not just alerts.</a:t>
            </a:r>
          </a:p>
          <a:p>
            <a:pPr algn="l"/>
            <a:r>
              <a:rPr sz="1400" b="0">
                <a:solidFill>
                  <a:srgbClr val="394252"/>
                </a:solidFill>
                <a:latin typeface="Aptos"/>
              </a:rPr>
              <a:t/>
            </a:r>
          </a:p>
          <a:p>
            <a:pPr algn="l"/>
            <a:r>
              <a:rPr sz="1400" b="0">
                <a:solidFill>
                  <a:srgbClr val="394252"/>
                </a:solidFill>
                <a:latin typeface="Aptos"/>
              </a:rPr>
              <a:t>• Adoption plan: synthetic prototype → test set → clinician feedback → approved pilot.</a:t>
            </a:r>
          </a:p>
          <a:p>
            <a:pPr algn="l"/>
            <a:r>
              <a:rPr sz="1400" b="0">
                <a:solidFill>
                  <a:srgbClr val="394252"/>
                </a:solidFill>
                <a:latin typeface="Aptos"/>
              </a:rPr>
              <a:t/>
            </a:r>
          </a:p>
          <a:p>
            <a:pPr algn="l"/>
            <a:r>
              <a:rPr sz="1400" b="0">
                <a:solidFill>
                  <a:srgbClr val="394252"/>
                </a:solidFill>
                <a:latin typeface="Aptos"/>
              </a:rPr>
              <a:t>• Cost and maintenance: hosting, processing, future storage or AI APIs, testing.</a:t>
            </a:r>
          </a:p>
          <a:p>
            <a:pPr algn="l"/>
            <a:r>
              <a:rPr sz="1400" b="0">
                <a:solidFill>
                  <a:srgbClr val="394252"/>
                </a:solidFill>
                <a:latin typeface="Aptos"/>
              </a:rPr>
              <a:t/>
            </a:r>
          </a:p>
          <a:p>
            <a:pPr algn="l"/>
            <a:r>
              <a:rPr sz="1400" b="0">
                <a:solidFill>
                  <a:srgbClr val="394252"/>
                </a:solidFill>
                <a:latin typeface="Aptos"/>
              </a:rPr>
              <a:t>• Revenue (future only): institutional licensing or integration. No partners today.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5532120"/>
            <a:ext cx="10424160" cy="502920"/>
          </a:xfrm>
          <a:prstGeom prst="roundRect">
            <a:avLst>
              <a:gd name="adj" fmla="val 12000"/>
            </a:avLst>
          </a:prstGeom>
          <a:solidFill>
            <a:srgbClr val="E8ECFA"/>
          </a:solidFill>
          <a:ln>
            <a:solidFill>
              <a:srgbClr val="E8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641848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62239"/>
                </a:solidFill>
                <a:latin typeface="Aptos"/>
              </a:rPr>
              <a:t>KEY TAKEAWAY:  A working prototype with a practical, validation-first path to evidence-based review.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6510528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767F90"/>
                </a:solidFill>
                <a:latin typeface="Aptos"/>
              </a:rPr>
              <a:t>CODE FLAYER 2.0  •  CLINISCOPE  •  PS-11R3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767F90"/>
                </a:solidFill>
                <a:latin typeface="Aptos"/>
              </a:rP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5369DC"/>
                </a:solidFill>
                <a:latin typeface="Aptos"/>
              </a:rPr>
              <a:t>PROJECT PITCH  / 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62239"/>
                </a:solidFill>
                <a:latin typeface="Aptos"/>
              </a:rPr>
              <a:t>Sustainability, Scalability &amp;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67F90"/>
                </a:solidFill>
                <a:latin typeface="Aptos"/>
              </a:rPr>
              <a:t>Scalability items are planned, not built. Impact is a goal to be measured in evaluation.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35640" y="384048"/>
            <a:ext cx="320040" cy="73152"/>
          </a:xfrm>
          <a:prstGeom prst="rect">
            <a:avLst/>
          </a:prstGeom>
          <a:solidFill>
            <a:srgbClr val="5369DC"/>
          </a:solidFill>
          <a:ln>
            <a:solidFill>
              <a:srgbClr val="53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28832" y="384048"/>
            <a:ext cx="320040" cy="73152"/>
          </a:xfrm>
          <a:prstGeom prst="rect">
            <a:avLst/>
          </a:prstGeom>
          <a:solidFill>
            <a:srgbClr val="2DA6A0"/>
          </a:solidFill>
          <a:ln>
            <a:solidFill>
              <a:srgbClr val="2DA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22024" y="384048"/>
            <a:ext cx="0" cy="73152"/>
          </a:xfrm>
          <a:prstGeom prst="rect">
            <a:avLst/>
          </a:prstGeom>
          <a:solidFill>
            <a:srgbClr val="162239"/>
          </a:solidFill>
          <a:ln>
            <a:solidFill>
              <a:srgbClr val="1622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347472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64008" cy="1828800"/>
          </a:xfrm>
          <a:prstGeom prst="rect">
            <a:avLst/>
          </a:prstGeom>
          <a:solidFill>
            <a:srgbClr val="5369DC"/>
          </a:solidFill>
          <a:ln>
            <a:solidFill>
              <a:srgbClr val="53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57400"/>
            <a:ext cx="30632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62239"/>
                </a:solidFill>
                <a:latin typeface="Aptos"/>
              </a:rPr>
              <a:t>LONG-TERM SUSTAINABILITY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496312"/>
            <a:ext cx="3063239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94252"/>
                </a:solidFill>
                <a:latin typeface="Aptos"/>
              </a:rPr>
              <a:t>Modular engine, regression tests in CI, versioned schema, and unsupported files flagged openly rather than guessed.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874519"/>
            <a:ext cx="347472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874519"/>
            <a:ext cx="64008" cy="1828800"/>
          </a:xfrm>
          <a:prstGeom prst="rect">
            <a:avLst/>
          </a:prstGeom>
          <a:solidFill>
            <a:srgbClr val="2DA6A0"/>
          </a:solidFill>
          <a:ln>
            <a:solidFill>
              <a:srgbClr val="2DA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2856" y="2057400"/>
            <a:ext cx="30632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62239"/>
                </a:solidFill>
                <a:latin typeface="Aptos"/>
              </a:rPr>
              <a:t>SCALABILITY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2856" y="2496312"/>
            <a:ext cx="3063239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94252"/>
                </a:solidFill>
                <a:latin typeface="Aptos"/>
              </a:rPr>
              <a:t>Planned: OCR for scans, more formats, evidence-checked AI help, secure backend with login and multi-user review.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874519"/>
            <a:ext cx="347472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874519"/>
            <a:ext cx="64008" cy="1828800"/>
          </a:xfrm>
          <a:prstGeom prst="rect">
            <a:avLst/>
          </a:prstGeom>
          <a:solidFill>
            <a:srgbClr val="5369DC"/>
          </a:solidFill>
          <a:ln>
            <a:solidFill>
              <a:srgbClr val="53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6176" y="2057400"/>
            <a:ext cx="30632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62239"/>
                </a:solidFill>
                <a:latin typeface="Aptos"/>
              </a:rPr>
              <a:t>EXPECTED IMPACT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6" y="2496312"/>
            <a:ext cx="3063239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94252"/>
                </a:solidFill>
                <a:latin typeface="Aptos"/>
              </a:rPr>
              <a:t>Aims to reduce manual searching, make investigations traceable and record review decisions consistently.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06908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62239"/>
                </a:solidFill>
                <a:latin typeface="Aptos"/>
              </a:rPr>
              <a:t>FUTURE ROADMAP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4773168"/>
            <a:ext cx="9966960" cy="45720"/>
          </a:xfrm>
          <a:prstGeom prst="rect">
            <a:avLst/>
          </a:prstGeom>
          <a:solidFill>
            <a:srgbClr val="DEE3ED"/>
          </a:solidFill>
          <a:ln>
            <a:solidFill>
              <a:srgbClr val="DE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590288"/>
            <a:ext cx="384048" cy="384048"/>
          </a:xfrm>
          <a:prstGeom prst="ellipse">
            <a:avLst/>
          </a:prstGeom>
          <a:solidFill>
            <a:srgbClr val="5369DC"/>
          </a:solidFill>
          <a:ln>
            <a:solidFill>
              <a:srgbClr val="53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102352"/>
            <a:ext cx="1600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94252"/>
                </a:solidFill>
                <a:latin typeface="Aptos"/>
              </a:rPr>
              <a:t>01  Prototype</a:t>
            </a:r>
          </a:p>
        </p:txBody>
      </p:sp>
      <p:sp>
        <p:nvSpPr>
          <p:cNvPr id="24" name="Oval 23"/>
          <p:cNvSpPr/>
          <p:nvPr/>
        </p:nvSpPr>
        <p:spPr>
          <a:xfrm>
            <a:off x="3429000" y="4590288"/>
            <a:ext cx="384048" cy="384048"/>
          </a:xfrm>
          <a:prstGeom prst="ellipse">
            <a:avLst/>
          </a:prstGeom>
          <a:solidFill>
            <a:srgbClr val="2DA6A0"/>
          </a:solidFill>
          <a:ln>
            <a:solidFill>
              <a:srgbClr val="2DA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0" y="5102352"/>
            <a:ext cx="1600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94252"/>
                </a:solidFill>
                <a:latin typeface="Aptos"/>
              </a:rPr>
              <a:t>02  Pilot testing</a:t>
            </a:r>
          </a:p>
        </p:txBody>
      </p:sp>
      <p:sp>
        <p:nvSpPr>
          <p:cNvPr id="26" name="Oval 25"/>
          <p:cNvSpPr/>
          <p:nvPr/>
        </p:nvSpPr>
        <p:spPr>
          <a:xfrm>
            <a:off x="5897880" y="4590288"/>
            <a:ext cx="384048" cy="384048"/>
          </a:xfrm>
          <a:prstGeom prst="ellipse">
            <a:avLst/>
          </a:prstGeom>
          <a:solidFill>
            <a:srgbClr val="5369DC"/>
          </a:solidFill>
          <a:ln>
            <a:solidFill>
              <a:srgbClr val="53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0" y="5102352"/>
            <a:ext cx="1600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94252"/>
                </a:solidFill>
                <a:latin typeface="Aptos"/>
              </a:rPr>
              <a:t>03  Improve</a:t>
            </a:r>
          </a:p>
        </p:txBody>
      </p:sp>
      <p:sp>
        <p:nvSpPr>
          <p:cNvPr id="28" name="Oval 27"/>
          <p:cNvSpPr/>
          <p:nvPr/>
        </p:nvSpPr>
        <p:spPr>
          <a:xfrm>
            <a:off x="8366760" y="4590288"/>
            <a:ext cx="384048" cy="384048"/>
          </a:xfrm>
          <a:prstGeom prst="ellipse">
            <a:avLst/>
          </a:prstGeom>
          <a:solidFill>
            <a:srgbClr val="2DA6A0"/>
          </a:solidFill>
          <a:ln>
            <a:solidFill>
              <a:srgbClr val="2DA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5102352"/>
            <a:ext cx="1600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94252"/>
                </a:solidFill>
                <a:latin typeface="Aptos"/>
              </a:rPr>
              <a:t>04  Deploy &amp; scale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71500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62239"/>
                </a:solidFill>
                <a:latin typeface="Aptos"/>
              </a:rPr>
              <a:t>SUCCESS METRIC:  Precision/recall on labelled records, % findings with evidence, reviewer agreement.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6510528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767F90"/>
                </a:solidFill>
                <a:latin typeface="Aptos"/>
              </a:rPr>
              <a:t>CODE FLAYER 2.0  •  CLINISCOPE  •  PS-11R3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767F90"/>
                </a:solidFill>
                <a:latin typeface="Aptos"/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23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823960" y="0"/>
            <a:ext cx="3367735" cy="6858000"/>
          </a:xfrm>
          <a:prstGeom prst="rect">
            <a:avLst/>
          </a:prstGeom>
          <a:solidFill>
            <a:srgbClr val="1C2C4B"/>
          </a:solidFill>
          <a:ln>
            <a:solidFill>
              <a:srgbClr val="1C2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0CAFF"/>
                </a:solidFill>
                <a:latin typeface="Aptos"/>
              </a:rPr>
              <a:t>CODE FLAYER 2.0  •  08 /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7315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72237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0D7E7"/>
                </a:solidFill>
                <a:latin typeface="Aptos"/>
              </a:rPr>
              <a:t>CLINISCOPE helps reviewers find potential conflicts across healthcare records, trace each one to source evidence, and record decisions with human oversight.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429000"/>
            <a:ext cx="1097280" cy="64008"/>
          </a:xfrm>
          <a:prstGeom prst="rect">
            <a:avLst/>
          </a:prstGeom>
          <a:solidFill>
            <a:srgbClr val="2DA6A0"/>
          </a:solidFill>
          <a:ln>
            <a:solidFill>
              <a:srgbClr val="2DA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794760"/>
            <a:ext cx="71323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Find the conflict. Trace the evidence. Keep humans in control.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983480"/>
            <a:ext cx="6858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C0CAFF"/>
                </a:solidFill>
                <a:latin typeface="Aptos"/>
              </a:rPr>
              <a:t>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77840"/>
            <a:ext cx="7132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0D7E7"/>
                </a:solidFill>
                <a:latin typeface="Aptos"/>
              </a:rPr>
              <a:t>[Add team email]  •  github.com/anirudhleetcode-max/cliniscope-healthcare-contradiction-detector</a:t>
            </a:r>
          </a:p>
          <a:p>
            <a:pPr algn="l"/>
            <a:r>
              <a:rPr sz="1100" b="0">
                <a:solidFill>
                  <a:srgbClr val="D0D7E7"/>
                </a:solidFill>
                <a:latin typeface="Aptos"/>
              </a:rPr>
              <a:t>Live demo: anirudhleetcode-max.github.io/cliniscope-healthcare-contradiction-detector  (scan QR)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64040" y="1371600"/>
            <a:ext cx="1600200" cy="1600200"/>
          </a:xfrm>
          <a:prstGeom prst="roundRect">
            <a:avLst>
              <a:gd name="adj" fmla="val 12000"/>
            </a:avLst>
          </a:prstGeom>
          <a:solidFill>
            <a:srgbClr val="5369DC"/>
          </a:solidFill>
          <a:ln>
            <a:solidFill>
              <a:srgbClr val="53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195560" y="3246120"/>
            <a:ext cx="1005840" cy="1005840"/>
          </a:xfrm>
          <a:prstGeom prst="roundRect">
            <a:avLst>
              <a:gd name="adj" fmla="val 12000"/>
            </a:avLst>
          </a:prstGeom>
          <a:solidFill>
            <a:srgbClr val="2DA6A0"/>
          </a:solidFill>
          <a:ln>
            <a:solidFill>
              <a:srgbClr val="2DA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6126480"/>
            <a:ext cx="2651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D0D7E7"/>
                </a:solidFill>
                <a:latin typeface="Aptos"/>
              </a:rPr>
              <a:t>CLINISCOPE</a:t>
            </a:r>
          </a:p>
        </p:txBody>
      </p:sp>
      <p:pic>
        <p:nvPicPr>
          <p:cNvPr id="13" name="QR Live Demo" descr="QR code linking to the CLINISCOPE live demo: https://anirudhleetcode-max.github.io/cliniscope-healthcare-contradiction-detector/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45262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